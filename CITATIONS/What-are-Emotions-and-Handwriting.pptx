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amma.app" TargetMode="External"/><Relationship Id="rId1" Type="http://schemas.openxmlformats.org/officeDocument/2006/relationships/image" Target="../media/image-1-1.png"/><Relationship Id="rId2"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hyperlink" Target="https://gamma.app" TargetMode="External"/><Relationship Id="rId1" Type="http://schemas.openxmlformats.org/officeDocument/2006/relationships/image" Target="../media/image-2-1.png"/><Relationship Id="rId2" Type="http://schemas.openxmlformats.org/officeDocument/2006/relationships/image" Target="../media/image-2-2.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6" Type="http://schemas.openxmlformats.org/officeDocument/2006/relationships/hyperlink" Target="https://gamma.app" TargetMode="External"/><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hyperlink" Target="https://gamma.app" TargetMode="External"/><Relationship Id="rId1" Type="http://schemas.openxmlformats.org/officeDocument/2006/relationships/image" Target="../media/image-4-1.png"/><Relationship Id="rId2" Type="http://schemas.openxmlformats.org/officeDocument/2006/relationships/image" Target="../media/image-4-2.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hyperlink" Target="https://gamma.app" TargetMode="External"/><Relationship Id="rId1" Type="http://schemas.openxmlformats.org/officeDocument/2006/relationships/image" Target="../media/image-5-1.png"/><Relationship Id="rId2" Type="http://schemas.openxmlformats.org/officeDocument/2006/relationships/image" Target="../media/image-5-2.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4" Type="http://schemas.openxmlformats.org/officeDocument/2006/relationships/hyperlink" Target="https://gamma.app" TargetMode="External"/><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hyperlink" Target="https://gamma.app" TargetMode="External"/><Relationship Id="rId1"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hyperlink" Target="https://gamma.app" TargetMode="External"/><Relationship Id="rId1"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hyperlink" Target="https://gamma.app" TargetMode="External"/><Relationship Id="rId1"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hyperlink" Target="https://gamma.app" TargetMode="External"/><Relationship Id="rId1"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hyperlink" Target="https://gamma.app" TargetMode="External"/><Relationship Id="rId1" Type="http://schemas.openxmlformats.org/officeDocument/2006/relationships/image" Target="../media/image-11-1.png"/><Relationship Id="rId2" Type="http://schemas.openxmlformats.org/officeDocument/2006/relationships/image" Target="../media/image-11-2.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p:cNvPr>
          <p:cNvPicPr>
            <a:picLocks noChangeAspect="1"/>
          </p:cNvPicPr>
          <p:nvPr/>
        </p:nvPicPr>
        <p:blipFill>
          <a:blip r:embed="rId1"/>
          <a:stretch>
            <a:fillRect/>
          </a:stretch>
        </p:blipFill>
        <p:spPr>
          <a:xfrm>
            <a:off x="9151620" y="0"/>
            <a:ext cx="5486400" cy="8229600"/>
          </a:xfrm>
          <a:prstGeom prst="rect">
            <a:avLst/>
          </a:prstGeom>
        </p:spPr>
      </p:pic>
      <p:sp>
        <p:nvSpPr>
          <p:cNvPr id="5" name="Text 2"/>
          <p:cNvSpPr/>
          <p:nvPr/>
        </p:nvSpPr>
        <p:spPr>
          <a:xfrm>
            <a:off x="833199" y="1568291"/>
            <a:ext cx="7477601" cy="1916430"/>
          </a:xfrm>
          <a:prstGeom prst="rect">
            <a:avLst/>
          </a:prstGeom>
          <a:noFill/>
          <a:ln/>
        </p:spPr>
        <p:txBody>
          <a:bodyPr wrap="square" rtlCol="0" anchor="t"/>
          <a:lstStyle/>
          <a:p>
            <a:pPr indent="0" marL="0">
              <a:lnSpc>
                <a:spcPts val="7545"/>
              </a:lnSpc>
              <a:buNone/>
            </a:pPr>
            <a:r>
              <a:rPr lang="en-US" sz="6036" dirty="0">
                <a:solidFill>
                  <a:srgbClr val="38512F"/>
                </a:solidFill>
                <a:latin typeface="Lora" pitchFamily="34" charset="0"/>
                <a:ea typeface="Lora" pitchFamily="34" charset="-122"/>
                <a:cs typeface="Lora" pitchFamily="34" charset="-120"/>
              </a:rPr>
              <a:t>What are Emotions and Handwriting?</a:t>
            </a:r>
            <a:endParaRPr lang="en-US" sz="6036" dirty="0"/>
          </a:p>
        </p:txBody>
      </p:sp>
      <p:sp>
        <p:nvSpPr>
          <p:cNvPr id="6" name="Text 3"/>
          <p:cNvSpPr/>
          <p:nvPr/>
        </p:nvSpPr>
        <p:spPr>
          <a:xfrm>
            <a:off x="833199" y="3817977"/>
            <a:ext cx="7477601" cy="2843213"/>
          </a:xfrm>
          <a:prstGeom prst="rect">
            <a:avLst/>
          </a:prstGeom>
          <a:noFill/>
          <a:ln/>
        </p:spPr>
        <p:txBody>
          <a:bodyPr wrap="square" rtlCol="0" anchor="t"/>
          <a:lstStyle/>
          <a:p>
            <a:pPr indent="0" marL="0">
              <a:lnSpc>
                <a:spcPts val="2799"/>
              </a:lnSpc>
              <a:buNone/>
            </a:pPr>
            <a:r>
              <a:rPr lang="en-US" sz="1750" dirty="0">
                <a:solidFill>
                  <a:srgbClr val="3A3630"/>
                </a:solidFill>
                <a:latin typeface="Source Sans Pro" pitchFamily="34" charset="0"/>
                <a:ea typeface="Source Sans Pro" pitchFamily="34" charset="-122"/>
                <a:cs typeface="Source Sans Pro" pitchFamily="34" charset="-120"/>
              </a:rPr>
              <a:t>Emotions are complex psychological states that profoundly influence our thoughts, behaviors, and decisions. Understanding emotions is crucial because they shape our perceptions, judgments, relationships, and goal-directed behaviors, influencing nearly every aspect of our daily lives. Handwriting is a unique and personal expression that can provide insights into an individual's emotional state. By analyzing handwriting samples through advanced techniques, we can potentially unlock new ways to understand and recognize emotions.</a:t>
            </a:r>
            <a:endParaRPr lang="en-US" sz="1750" dirty="0"/>
          </a:p>
        </p:txBody>
      </p:sp>
      <p:pic>
        <p:nvPicPr>
          <p:cNvPr id="7" name="Image 1" descr="preencoded.png">
            <a:hlinkClick r:id="rId3" tooltip=""/>
          </p:cNvPr>
          <p:cNvPicPr>
            <a:picLocks noChangeAspect="1"/>
          </p:cNvPicPr>
          <p:nvPr/>
        </p:nvPicPr>
        <p:blipFill>
          <a:blip r:embed="rId2"/>
          <a:stretch>
            <a:fillRect/>
          </a:stretch>
        </p:blipFill>
        <p:spPr>
          <a:xfrm>
            <a:off x="12242153" y="7589520"/>
            <a:ext cx="2296807" cy="548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p:cNvPr>
          <p:cNvPicPr>
            <a:picLocks noChangeAspect="1"/>
          </p:cNvPicPr>
          <p:nvPr/>
        </p:nvPicPr>
        <p:blipFill>
          <a:blip r:embed="rId1"/>
          <a:stretch>
            <a:fillRect/>
          </a:stretch>
        </p:blipFill>
        <p:spPr>
          <a:xfrm>
            <a:off x="0" y="0"/>
            <a:ext cx="14630400" cy="2777490"/>
          </a:xfrm>
          <a:prstGeom prst="rect">
            <a:avLst/>
          </a:prstGeom>
        </p:spPr>
      </p:pic>
      <p:sp>
        <p:nvSpPr>
          <p:cNvPr id="5" name="Text 2"/>
          <p:cNvSpPr/>
          <p:nvPr/>
        </p:nvSpPr>
        <p:spPr>
          <a:xfrm>
            <a:off x="2348389" y="3443168"/>
            <a:ext cx="6637973" cy="694373"/>
          </a:xfrm>
          <a:prstGeom prst="rect">
            <a:avLst/>
          </a:prstGeom>
          <a:noFill/>
          <a:ln/>
        </p:spPr>
        <p:txBody>
          <a:bodyPr wrap="none" rtlCol="0" anchor="t"/>
          <a:lstStyle/>
          <a:p>
            <a:pPr indent="0" marL="0">
              <a:lnSpc>
                <a:spcPts val="5468"/>
              </a:lnSpc>
              <a:buNone/>
            </a:pPr>
            <a:r>
              <a:rPr lang="en-US" sz="4374" dirty="0">
                <a:solidFill>
                  <a:srgbClr val="38512F"/>
                </a:solidFill>
                <a:latin typeface="Lora" pitchFamily="34" charset="0"/>
                <a:ea typeface="Lora" pitchFamily="34" charset="-122"/>
                <a:cs typeface="Lora" pitchFamily="34" charset="-120"/>
              </a:rPr>
              <a:t>Statement of the Problem</a:t>
            </a:r>
            <a:endParaRPr lang="en-US" sz="4374" dirty="0"/>
          </a:p>
        </p:txBody>
      </p:sp>
      <p:sp>
        <p:nvSpPr>
          <p:cNvPr id="6" name="Text 3"/>
          <p:cNvSpPr/>
          <p:nvPr/>
        </p:nvSpPr>
        <p:spPr>
          <a:xfrm>
            <a:off x="2348389" y="4470797"/>
            <a:ext cx="9933503" cy="1777008"/>
          </a:xfrm>
          <a:prstGeom prst="rect">
            <a:avLst/>
          </a:prstGeom>
          <a:noFill/>
          <a:ln/>
        </p:spPr>
        <p:txBody>
          <a:bodyPr wrap="square" rtlCol="0" anchor="t"/>
          <a:lstStyle/>
          <a:p>
            <a:pPr indent="0" marL="0">
              <a:lnSpc>
                <a:spcPts val="2799"/>
              </a:lnSpc>
              <a:buNone/>
            </a:pPr>
            <a:r>
              <a:rPr lang="en-US" sz="1750" dirty="0">
                <a:solidFill>
                  <a:srgbClr val="3A3630"/>
                </a:solidFill>
                <a:latin typeface="Source Sans Pro" pitchFamily="34" charset="0"/>
                <a:ea typeface="Source Sans Pro" pitchFamily="34" charset="-122"/>
                <a:cs typeface="Source Sans Pro" pitchFamily="34" charset="-120"/>
              </a:rPr>
              <a:t>The study addresses the need for an effective system to recognize emotions through handwriting. Despite advancements in emotion recognition, there remains a gap in integrating handwriting analysis with machine learning to accurately classify emotional states. The proposed study aims to bridge this gap by developing a system that can analyze handwriting samples and determine the writer's emotional state with high accuracy.</a:t>
            </a:r>
            <a:endParaRPr lang="en-US" sz="1750" dirty="0"/>
          </a:p>
        </p:txBody>
      </p:sp>
      <p:sp>
        <p:nvSpPr>
          <p:cNvPr id="7" name="Text 4"/>
          <p:cNvSpPr/>
          <p:nvPr/>
        </p:nvSpPr>
        <p:spPr>
          <a:xfrm>
            <a:off x="2348389" y="6497717"/>
            <a:ext cx="9933503" cy="1066205"/>
          </a:xfrm>
          <a:prstGeom prst="rect">
            <a:avLst/>
          </a:prstGeom>
          <a:noFill/>
          <a:ln/>
        </p:spPr>
        <p:txBody>
          <a:bodyPr wrap="square" rtlCol="0" anchor="t"/>
          <a:lstStyle/>
          <a:p>
            <a:pPr indent="0" marL="0">
              <a:lnSpc>
                <a:spcPts val="2799"/>
              </a:lnSpc>
              <a:buNone/>
            </a:pPr>
            <a:r>
              <a:rPr lang="en-US" sz="1750" dirty="0">
                <a:solidFill>
                  <a:srgbClr val="3A3630"/>
                </a:solidFill>
                <a:latin typeface="Source Sans Pro" pitchFamily="34" charset="0"/>
                <a:ea typeface="Source Sans Pro" pitchFamily="34" charset="-122"/>
                <a:cs typeface="Source Sans Pro" pitchFamily="34" charset="-120"/>
              </a:rPr>
              <a:t>This is particularly important because emotions play a critical role in various aspects of human life, and understanding them can lead to significant benefits in fields such as education, healthcare, and human-computer interaction.</a:t>
            </a:r>
            <a:endParaRPr lang="en-US" sz="1750" dirty="0"/>
          </a:p>
        </p:txBody>
      </p:sp>
      <p:pic>
        <p:nvPicPr>
          <p:cNvPr id="8" name="Image 1" descr="preencoded.png">
            <a:hlinkClick r:id="rId3" tooltip=""/>
          </p:cNvPr>
          <p:cNvPicPr>
            <a:picLocks noChangeAspect="1"/>
          </p:cNvPicPr>
          <p:nvPr/>
        </p:nvPicPr>
        <p:blipFill>
          <a:blip r:embed="rId2"/>
          <a:stretch>
            <a:fillRect/>
          </a:stretch>
        </p:blipFill>
        <p:spPr>
          <a:xfrm>
            <a:off x="12242153" y="7589520"/>
            <a:ext cx="2296807" cy="5486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sp>
        <p:nvSpPr>
          <p:cNvPr id="4" name="Text 2"/>
          <p:cNvSpPr/>
          <p:nvPr/>
        </p:nvSpPr>
        <p:spPr>
          <a:xfrm>
            <a:off x="3300174" y="494228"/>
            <a:ext cx="5188982" cy="561380"/>
          </a:xfrm>
          <a:prstGeom prst="rect">
            <a:avLst/>
          </a:prstGeom>
          <a:noFill/>
          <a:ln/>
        </p:spPr>
        <p:txBody>
          <a:bodyPr wrap="none" rtlCol="0" anchor="t"/>
          <a:lstStyle/>
          <a:p>
            <a:pPr indent="0" marL="0">
              <a:lnSpc>
                <a:spcPts val="4420"/>
              </a:lnSpc>
              <a:buNone/>
            </a:pPr>
            <a:r>
              <a:rPr lang="en-US" sz="3536" dirty="0">
                <a:solidFill>
                  <a:srgbClr val="38512F"/>
                </a:solidFill>
                <a:latin typeface="Lora" pitchFamily="34" charset="0"/>
                <a:ea typeface="Lora" pitchFamily="34" charset="-122"/>
                <a:cs typeface="Lora" pitchFamily="34" charset="-120"/>
              </a:rPr>
              <a:t>Significance of the Study</a:t>
            </a:r>
            <a:endParaRPr lang="en-US" sz="3536" dirty="0"/>
          </a:p>
        </p:txBody>
      </p:sp>
      <p:pic>
        <p:nvPicPr>
          <p:cNvPr id="5" name="Image 0" descr="preencoded.png">    </p:cNvPr>
          <p:cNvPicPr>
            <a:picLocks noChangeAspect="1"/>
          </p:cNvPicPr>
          <p:nvPr/>
        </p:nvPicPr>
        <p:blipFill>
          <a:blip r:embed="rId1"/>
          <a:stretch>
            <a:fillRect/>
          </a:stretch>
        </p:blipFill>
        <p:spPr>
          <a:xfrm>
            <a:off x="3300174" y="1414820"/>
            <a:ext cx="1805464" cy="1115854"/>
          </a:xfrm>
          <a:prstGeom prst="rect">
            <a:avLst/>
          </a:prstGeom>
        </p:spPr>
      </p:pic>
      <p:sp>
        <p:nvSpPr>
          <p:cNvPr id="6" name="Text 3"/>
          <p:cNvSpPr/>
          <p:nvPr/>
        </p:nvSpPr>
        <p:spPr>
          <a:xfrm>
            <a:off x="3300174" y="2755106"/>
            <a:ext cx="1805464" cy="841891"/>
          </a:xfrm>
          <a:prstGeom prst="rect">
            <a:avLst/>
          </a:prstGeom>
          <a:noFill/>
          <a:ln/>
        </p:spPr>
        <p:txBody>
          <a:bodyPr wrap="square" rtlCol="0" anchor="t"/>
          <a:lstStyle/>
          <a:p>
            <a:pPr algn="l" indent="0" marL="0">
              <a:lnSpc>
                <a:spcPts val="2210"/>
              </a:lnSpc>
              <a:buNone/>
            </a:pPr>
            <a:r>
              <a:rPr lang="en-US" sz="1768" dirty="0">
                <a:solidFill>
                  <a:srgbClr val="38512F"/>
                </a:solidFill>
                <a:latin typeface="Lora" pitchFamily="34" charset="0"/>
                <a:ea typeface="Lora" pitchFamily="34" charset="-122"/>
                <a:cs typeface="Lora" pitchFamily="34" charset="-120"/>
              </a:rPr>
              <a:t>Human-Computer Interaction (HCI)</a:t>
            </a:r>
            <a:endParaRPr lang="en-US" sz="1768" dirty="0"/>
          </a:p>
        </p:txBody>
      </p:sp>
      <p:sp>
        <p:nvSpPr>
          <p:cNvPr id="7" name="Text 4"/>
          <p:cNvSpPr/>
          <p:nvPr/>
        </p:nvSpPr>
        <p:spPr>
          <a:xfrm>
            <a:off x="3300174" y="3704749"/>
            <a:ext cx="1805464" cy="3736419"/>
          </a:xfrm>
          <a:prstGeom prst="rect">
            <a:avLst/>
          </a:prstGeom>
          <a:noFill/>
          <a:ln/>
        </p:spPr>
        <p:txBody>
          <a:bodyPr wrap="square" rtlCol="0" anchor="t"/>
          <a:lstStyle/>
          <a:p>
            <a:pPr algn="l" indent="0" marL="0">
              <a:lnSpc>
                <a:spcPts val="2263"/>
              </a:lnSpc>
              <a:buNone/>
            </a:pPr>
            <a:r>
              <a:rPr lang="en-US" sz="1414" dirty="0">
                <a:solidFill>
                  <a:srgbClr val="3A3630"/>
                </a:solidFill>
                <a:latin typeface="Source Sans Pro" pitchFamily="34" charset="0"/>
                <a:ea typeface="Source Sans Pro" pitchFamily="34" charset="-122"/>
                <a:cs typeface="Source Sans Pro" pitchFamily="34" charset="-120"/>
              </a:rPr>
              <a:t>By developing a novel emotion recognition system from handwriting, this research enhances how humans interact with technology. It offers the potential for more emotionally sensitive interfaces and adaptive systems that personalize user experiences.</a:t>
            </a:r>
            <a:endParaRPr lang="en-US" sz="1414" dirty="0"/>
          </a:p>
        </p:txBody>
      </p:sp>
      <p:pic>
        <p:nvPicPr>
          <p:cNvPr id="8" name="Image 1" descr="preencoded.png">    </p:cNvPr>
          <p:cNvPicPr>
            <a:picLocks noChangeAspect="1"/>
          </p:cNvPicPr>
          <p:nvPr/>
        </p:nvPicPr>
        <p:blipFill>
          <a:blip r:embed="rId2"/>
          <a:stretch>
            <a:fillRect/>
          </a:stretch>
        </p:blipFill>
        <p:spPr>
          <a:xfrm>
            <a:off x="5374958" y="1414820"/>
            <a:ext cx="1805583" cy="1115854"/>
          </a:xfrm>
          <a:prstGeom prst="rect">
            <a:avLst/>
          </a:prstGeom>
        </p:spPr>
      </p:pic>
      <p:sp>
        <p:nvSpPr>
          <p:cNvPr id="9" name="Text 5"/>
          <p:cNvSpPr/>
          <p:nvPr/>
        </p:nvSpPr>
        <p:spPr>
          <a:xfrm>
            <a:off x="5374958" y="2755106"/>
            <a:ext cx="1805583" cy="561261"/>
          </a:xfrm>
          <a:prstGeom prst="rect">
            <a:avLst/>
          </a:prstGeom>
          <a:noFill/>
          <a:ln/>
        </p:spPr>
        <p:txBody>
          <a:bodyPr wrap="square" rtlCol="0" anchor="t"/>
          <a:lstStyle/>
          <a:p>
            <a:pPr algn="l" indent="0" marL="0">
              <a:lnSpc>
                <a:spcPts val="2210"/>
              </a:lnSpc>
              <a:buNone/>
            </a:pPr>
            <a:r>
              <a:rPr lang="en-US" sz="1768" dirty="0">
                <a:solidFill>
                  <a:srgbClr val="38512F"/>
                </a:solidFill>
                <a:latin typeface="Lora" pitchFamily="34" charset="0"/>
                <a:ea typeface="Lora" pitchFamily="34" charset="-122"/>
                <a:cs typeface="Lora" pitchFamily="34" charset="-120"/>
              </a:rPr>
              <a:t>Emotional Intelligence</a:t>
            </a:r>
            <a:endParaRPr lang="en-US" sz="1768" dirty="0"/>
          </a:p>
        </p:txBody>
      </p:sp>
      <p:sp>
        <p:nvSpPr>
          <p:cNvPr id="10" name="Text 6"/>
          <p:cNvSpPr/>
          <p:nvPr/>
        </p:nvSpPr>
        <p:spPr>
          <a:xfrm>
            <a:off x="5374958" y="3424118"/>
            <a:ext cx="1805583" cy="4311253"/>
          </a:xfrm>
          <a:prstGeom prst="rect">
            <a:avLst/>
          </a:prstGeom>
          <a:noFill/>
          <a:ln/>
        </p:spPr>
        <p:txBody>
          <a:bodyPr wrap="square" rtlCol="0" anchor="t"/>
          <a:lstStyle/>
          <a:p>
            <a:pPr algn="l" indent="0" marL="0">
              <a:lnSpc>
                <a:spcPts val="2263"/>
              </a:lnSpc>
              <a:buNone/>
            </a:pPr>
            <a:r>
              <a:rPr lang="en-US" sz="1414" dirty="0">
                <a:solidFill>
                  <a:srgbClr val="3A3630"/>
                </a:solidFill>
                <a:latin typeface="Source Sans Pro" pitchFamily="34" charset="0"/>
                <a:ea typeface="Source Sans Pro" pitchFamily="34" charset="-122"/>
                <a:cs typeface="Source Sans Pro" pitchFamily="34" charset="-120"/>
              </a:rPr>
              <a:t>Understanding the link between handwriting and emotions helps unravel the complexities of human emotional expression. This research could inform future development of tools that assist individuals in understanding their own emotions and potentially augment emotional self-regulation.</a:t>
            </a:r>
            <a:endParaRPr lang="en-US" sz="1414" dirty="0"/>
          </a:p>
        </p:txBody>
      </p:sp>
      <p:pic>
        <p:nvPicPr>
          <p:cNvPr id="11" name="Image 2" descr="preencoded.png">    </p:cNvPr>
          <p:cNvPicPr>
            <a:picLocks noChangeAspect="1"/>
          </p:cNvPicPr>
          <p:nvPr/>
        </p:nvPicPr>
        <p:blipFill>
          <a:blip r:embed="rId3"/>
          <a:stretch>
            <a:fillRect/>
          </a:stretch>
        </p:blipFill>
        <p:spPr>
          <a:xfrm>
            <a:off x="7449860" y="1414820"/>
            <a:ext cx="1805464" cy="1115854"/>
          </a:xfrm>
          <a:prstGeom prst="rect">
            <a:avLst/>
          </a:prstGeom>
        </p:spPr>
      </p:pic>
      <p:sp>
        <p:nvSpPr>
          <p:cNvPr id="12" name="Text 7"/>
          <p:cNvSpPr/>
          <p:nvPr/>
        </p:nvSpPr>
        <p:spPr>
          <a:xfrm>
            <a:off x="7449860" y="2755106"/>
            <a:ext cx="1805464" cy="561261"/>
          </a:xfrm>
          <a:prstGeom prst="rect">
            <a:avLst/>
          </a:prstGeom>
          <a:noFill/>
          <a:ln/>
        </p:spPr>
        <p:txBody>
          <a:bodyPr wrap="square" rtlCol="0" anchor="t"/>
          <a:lstStyle/>
          <a:p>
            <a:pPr algn="l" indent="0" marL="0">
              <a:lnSpc>
                <a:spcPts val="2210"/>
              </a:lnSpc>
              <a:buNone/>
            </a:pPr>
            <a:r>
              <a:rPr lang="en-US" sz="1768" dirty="0">
                <a:solidFill>
                  <a:srgbClr val="38512F"/>
                </a:solidFill>
                <a:latin typeface="Lora" pitchFamily="34" charset="0"/>
                <a:ea typeface="Lora" pitchFamily="34" charset="-122"/>
                <a:cs typeface="Lora" pitchFamily="34" charset="-120"/>
              </a:rPr>
              <a:t>Psychology and Education</a:t>
            </a:r>
            <a:endParaRPr lang="en-US" sz="1768" dirty="0"/>
          </a:p>
        </p:txBody>
      </p:sp>
      <p:sp>
        <p:nvSpPr>
          <p:cNvPr id="13" name="Text 8"/>
          <p:cNvSpPr/>
          <p:nvPr/>
        </p:nvSpPr>
        <p:spPr>
          <a:xfrm>
            <a:off x="7449860" y="3424118"/>
            <a:ext cx="1805464" cy="4023836"/>
          </a:xfrm>
          <a:prstGeom prst="rect">
            <a:avLst/>
          </a:prstGeom>
          <a:noFill/>
          <a:ln/>
        </p:spPr>
        <p:txBody>
          <a:bodyPr wrap="square" rtlCol="0" anchor="t"/>
          <a:lstStyle/>
          <a:p>
            <a:pPr algn="l" indent="0" marL="0">
              <a:lnSpc>
                <a:spcPts val="2263"/>
              </a:lnSpc>
              <a:buNone/>
            </a:pPr>
            <a:r>
              <a:rPr lang="en-US" sz="1414" dirty="0">
                <a:solidFill>
                  <a:srgbClr val="3A3630"/>
                </a:solidFill>
                <a:latin typeface="Source Sans Pro" pitchFamily="34" charset="0"/>
                <a:ea typeface="Source Sans Pro" pitchFamily="34" charset="-122"/>
                <a:cs typeface="Source Sans Pro" pitchFamily="34" charset="-120"/>
              </a:rPr>
              <a:t>This work could provide valuable insights for psychologists seeking supplementary methods for assessing emotional states. Within education, emotion-aware technologies could help tailor learning experiences and create supportive environments for students.</a:t>
            </a:r>
            <a:endParaRPr lang="en-US" sz="1414" dirty="0"/>
          </a:p>
        </p:txBody>
      </p:sp>
      <p:pic>
        <p:nvPicPr>
          <p:cNvPr id="14" name="Image 3" descr="preencoded.png">    </p:cNvPr>
          <p:cNvPicPr>
            <a:picLocks noChangeAspect="1"/>
          </p:cNvPicPr>
          <p:nvPr/>
        </p:nvPicPr>
        <p:blipFill>
          <a:blip r:embed="rId4"/>
          <a:stretch>
            <a:fillRect/>
          </a:stretch>
        </p:blipFill>
        <p:spPr>
          <a:xfrm>
            <a:off x="9524643" y="1414820"/>
            <a:ext cx="1805583" cy="1115854"/>
          </a:xfrm>
          <a:prstGeom prst="rect">
            <a:avLst/>
          </a:prstGeom>
        </p:spPr>
      </p:pic>
      <p:sp>
        <p:nvSpPr>
          <p:cNvPr id="15" name="Text 9"/>
          <p:cNvSpPr/>
          <p:nvPr/>
        </p:nvSpPr>
        <p:spPr>
          <a:xfrm>
            <a:off x="9524643" y="2755106"/>
            <a:ext cx="1805583" cy="280630"/>
          </a:xfrm>
          <a:prstGeom prst="rect">
            <a:avLst/>
          </a:prstGeom>
          <a:noFill/>
          <a:ln/>
        </p:spPr>
        <p:txBody>
          <a:bodyPr wrap="none" rtlCol="0" anchor="t"/>
          <a:lstStyle/>
          <a:p>
            <a:pPr algn="l" indent="0" marL="0">
              <a:lnSpc>
                <a:spcPts val="2210"/>
              </a:lnSpc>
              <a:buNone/>
            </a:pPr>
            <a:r>
              <a:rPr lang="en-US" sz="1768" dirty="0">
                <a:solidFill>
                  <a:srgbClr val="38512F"/>
                </a:solidFill>
                <a:latin typeface="Lora" pitchFamily="34" charset="0"/>
                <a:ea typeface="Lora" pitchFamily="34" charset="-122"/>
                <a:cs typeface="Lora" pitchFamily="34" charset="-120"/>
              </a:rPr>
              <a:t>Healthcare</a:t>
            </a:r>
            <a:endParaRPr lang="en-US" sz="1768" dirty="0"/>
          </a:p>
        </p:txBody>
      </p:sp>
      <p:sp>
        <p:nvSpPr>
          <p:cNvPr id="16" name="Text 10"/>
          <p:cNvSpPr/>
          <p:nvPr/>
        </p:nvSpPr>
        <p:spPr>
          <a:xfrm>
            <a:off x="9524643" y="3143488"/>
            <a:ext cx="1805583" cy="3449003"/>
          </a:xfrm>
          <a:prstGeom prst="rect">
            <a:avLst/>
          </a:prstGeom>
          <a:noFill/>
          <a:ln/>
        </p:spPr>
        <p:txBody>
          <a:bodyPr wrap="square" rtlCol="0" anchor="t"/>
          <a:lstStyle/>
          <a:p>
            <a:pPr algn="l" indent="0" marL="0">
              <a:lnSpc>
                <a:spcPts val="2263"/>
              </a:lnSpc>
              <a:buNone/>
            </a:pPr>
            <a:r>
              <a:rPr lang="en-US" sz="1414" dirty="0">
                <a:solidFill>
                  <a:srgbClr val="3A3630"/>
                </a:solidFill>
                <a:latin typeface="Source Sans Pro" pitchFamily="34" charset="0"/>
                <a:ea typeface="Source Sans Pro" pitchFamily="34" charset="-122"/>
                <a:cs typeface="Source Sans Pro" pitchFamily="34" charset="-120"/>
              </a:rPr>
              <a:t>Although not the primary focus, this research could lay the groundwork for future exploration of handwriting-based emotion detection as a potential supplementary tool in mental health screening or monitoring.</a:t>
            </a:r>
            <a:endParaRPr lang="en-US" sz="1414" dirty="0"/>
          </a:p>
        </p:txBody>
      </p:sp>
      <p:pic>
        <p:nvPicPr>
          <p:cNvPr id="17" name="Image 4" descr="preencoded.png">
            <a:hlinkClick r:id="rId6" tooltip=""/>
          </p:cNvPr>
          <p:cNvPicPr>
            <a:picLocks noChangeAspect="1"/>
          </p:cNvPicPr>
          <p:nvPr/>
        </p:nvPicPr>
        <p:blipFill>
          <a:blip r:embed="rId5"/>
          <a:stretch>
            <a:fillRect/>
          </a:stretch>
        </p:blipFill>
        <p:spPr>
          <a:xfrm>
            <a:off x="12242153" y="7589520"/>
            <a:ext cx="2296807" cy="5486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5" name="Shape 2"/>
          <p:cNvSpPr/>
          <p:nvPr/>
        </p:nvSpPr>
        <p:spPr>
          <a:xfrm>
            <a:off x="0" y="0"/>
            <a:ext cx="14630400" cy="8229600"/>
          </a:xfrm>
          <a:prstGeom prst="rect">
            <a:avLst/>
          </a:prstGeom>
          <a:solidFill>
            <a:srgbClr val="FEF5E7">
              <a:alpha val="85000"/>
            </a:srgbClr>
          </a:solidFill>
          <a:ln/>
        </p:spPr>
      </p:sp>
      <p:sp>
        <p:nvSpPr>
          <p:cNvPr id="6" name="Text 3"/>
          <p:cNvSpPr/>
          <p:nvPr/>
        </p:nvSpPr>
        <p:spPr>
          <a:xfrm>
            <a:off x="2954060" y="693182"/>
            <a:ext cx="5039678" cy="609719"/>
          </a:xfrm>
          <a:prstGeom prst="rect">
            <a:avLst/>
          </a:prstGeom>
          <a:noFill/>
          <a:ln/>
        </p:spPr>
        <p:txBody>
          <a:bodyPr wrap="none" rtlCol="0" anchor="t"/>
          <a:lstStyle/>
          <a:p>
            <a:pPr indent="0" marL="0">
              <a:lnSpc>
                <a:spcPts val="4801"/>
              </a:lnSpc>
              <a:buNone/>
            </a:pPr>
            <a:r>
              <a:rPr lang="en-US" sz="3841" dirty="0">
                <a:solidFill>
                  <a:srgbClr val="38512F"/>
                </a:solidFill>
                <a:latin typeface="Lora" pitchFamily="34" charset="0"/>
                <a:ea typeface="Lora" pitchFamily="34" charset="-122"/>
                <a:cs typeface="Lora" pitchFamily="34" charset="-120"/>
              </a:rPr>
              <a:t>Scope and Limitations</a:t>
            </a:r>
            <a:endParaRPr lang="en-US" sz="3841" dirty="0"/>
          </a:p>
        </p:txBody>
      </p:sp>
      <p:sp>
        <p:nvSpPr>
          <p:cNvPr id="7" name="Shape 4"/>
          <p:cNvSpPr/>
          <p:nvPr/>
        </p:nvSpPr>
        <p:spPr>
          <a:xfrm>
            <a:off x="2954060" y="1747838"/>
            <a:ext cx="438864" cy="438864"/>
          </a:xfrm>
          <a:prstGeom prst="roundRect">
            <a:avLst>
              <a:gd name="adj" fmla="val 13337"/>
            </a:avLst>
          </a:prstGeom>
          <a:solidFill>
            <a:srgbClr val="F6E9D5"/>
          </a:solidFill>
          <a:ln/>
        </p:spPr>
      </p:sp>
      <p:sp>
        <p:nvSpPr>
          <p:cNvPr id="8" name="Text 5"/>
          <p:cNvSpPr/>
          <p:nvPr/>
        </p:nvSpPr>
        <p:spPr>
          <a:xfrm>
            <a:off x="3120152" y="1784390"/>
            <a:ext cx="106561" cy="365760"/>
          </a:xfrm>
          <a:prstGeom prst="rect">
            <a:avLst/>
          </a:prstGeom>
          <a:noFill/>
          <a:ln/>
        </p:spPr>
        <p:txBody>
          <a:bodyPr wrap="none" rtlCol="0" anchor="t"/>
          <a:lstStyle/>
          <a:p>
            <a:pPr algn="ctr" indent="0" marL="0">
              <a:lnSpc>
                <a:spcPts val="2880"/>
              </a:lnSpc>
              <a:buNone/>
            </a:pPr>
            <a:r>
              <a:rPr lang="en-US" sz="2304" dirty="0">
                <a:solidFill>
                  <a:srgbClr val="38512F"/>
                </a:solidFill>
                <a:latin typeface="Lora" pitchFamily="34" charset="0"/>
                <a:ea typeface="Lora" pitchFamily="34" charset="-122"/>
                <a:cs typeface="Lora" pitchFamily="34" charset="-120"/>
              </a:rPr>
              <a:t>1</a:t>
            </a:r>
            <a:endParaRPr lang="en-US" sz="2304" dirty="0"/>
          </a:p>
        </p:txBody>
      </p:sp>
      <p:sp>
        <p:nvSpPr>
          <p:cNvPr id="9" name="Text 6"/>
          <p:cNvSpPr/>
          <p:nvPr/>
        </p:nvSpPr>
        <p:spPr>
          <a:xfrm>
            <a:off x="3587948" y="1814870"/>
            <a:ext cx="2143482" cy="304800"/>
          </a:xfrm>
          <a:prstGeom prst="rect">
            <a:avLst/>
          </a:prstGeom>
          <a:noFill/>
          <a:ln/>
        </p:spPr>
        <p:txBody>
          <a:bodyPr wrap="none" rtlCol="0" anchor="t"/>
          <a:lstStyle/>
          <a:p>
            <a:pPr indent="0" marL="0">
              <a:lnSpc>
                <a:spcPts val="2400"/>
              </a:lnSpc>
              <a:buNone/>
            </a:pPr>
            <a:r>
              <a:rPr lang="en-US" sz="1920" dirty="0">
                <a:solidFill>
                  <a:srgbClr val="38512F"/>
                </a:solidFill>
                <a:latin typeface="Lora" pitchFamily="34" charset="0"/>
                <a:ea typeface="Lora" pitchFamily="34" charset="-122"/>
                <a:cs typeface="Lora" pitchFamily="34" charset="-120"/>
              </a:rPr>
              <a:t>Scope</a:t>
            </a:r>
            <a:endParaRPr lang="en-US" sz="1920" dirty="0"/>
          </a:p>
        </p:txBody>
      </p:sp>
      <p:sp>
        <p:nvSpPr>
          <p:cNvPr id="10" name="Text 7"/>
          <p:cNvSpPr/>
          <p:nvPr/>
        </p:nvSpPr>
        <p:spPr>
          <a:xfrm>
            <a:off x="3587948" y="2236708"/>
            <a:ext cx="2143482" cy="3121819"/>
          </a:xfrm>
          <a:prstGeom prst="rect">
            <a:avLst/>
          </a:prstGeom>
          <a:noFill/>
          <a:ln/>
        </p:spPr>
        <p:txBody>
          <a:bodyPr wrap="square" rtlCol="0" anchor="t"/>
          <a:lstStyle/>
          <a:p>
            <a:pPr indent="0" marL="0">
              <a:lnSpc>
                <a:spcPts val="2458"/>
              </a:lnSpc>
              <a:buNone/>
            </a:pPr>
            <a:r>
              <a:rPr lang="en-US" sz="1536" dirty="0">
                <a:solidFill>
                  <a:srgbClr val="3A3630"/>
                </a:solidFill>
                <a:latin typeface="Source Sans Pro" pitchFamily="34" charset="0"/>
                <a:ea typeface="Source Sans Pro" pitchFamily="34" charset="-122"/>
                <a:cs typeface="Source Sans Pro" pitchFamily="34" charset="-120"/>
              </a:rPr>
              <a:t>This study focuses on developing a new emotion recognition system from handwriting data that can identify emotions like happiness and sadness. The approach integrates CNNs, HMMs, and image processing techniques.</a:t>
            </a:r>
            <a:endParaRPr lang="en-US" sz="1536" dirty="0"/>
          </a:p>
        </p:txBody>
      </p:sp>
      <p:sp>
        <p:nvSpPr>
          <p:cNvPr id="11" name="Shape 8"/>
          <p:cNvSpPr/>
          <p:nvPr/>
        </p:nvSpPr>
        <p:spPr>
          <a:xfrm>
            <a:off x="5926455" y="1747838"/>
            <a:ext cx="438864" cy="438864"/>
          </a:xfrm>
          <a:prstGeom prst="roundRect">
            <a:avLst>
              <a:gd name="adj" fmla="val 13337"/>
            </a:avLst>
          </a:prstGeom>
          <a:solidFill>
            <a:srgbClr val="F6E9D5"/>
          </a:solidFill>
          <a:ln/>
        </p:spPr>
      </p:sp>
      <p:sp>
        <p:nvSpPr>
          <p:cNvPr id="12" name="Text 9"/>
          <p:cNvSpPr/>
          <p:nvPr/>
        </p:nvSpPr>
        <p:spPr>
          <a:xfrm>
            <a:off x="6067306" y="1784390"/>
            <a:ext cx="157163" cy="365760"/>
          </a:xfrm>
          <a:prstGeom prst="rect">
            <a:avLst/>
          </a:prstGeom>
          <a:noFill/>
          <a:ln/>
        </p:spPr>
        <p:txBody>
          <a:bodyPr wrap="none" rtlCol="0" anchor="t"/>
          <a:lstStyle/>
          <a:p>
            <a:pPr algn="ctr" indent="0" marL="0">
              <a:lnSpc>
                <a:spcPts val="2880"/>
              </a:lnSpc>
              <a:buNone/>
            </a:pPr>
            <a:r>
              <a:rPr lang="en-US" sz="2304" dirty="0">
                <a:solidFill>
                  <a:srgbClr val="38512F"/>
                </a:solidFill>
                <a:latin typeface="Lora" pitchFamily="34" charset="0"/>
                <a:ea typeface="Lora" pitchFamily="34" charset="-122"/>
                <a:cs typeface="Lora" pitchFamily="34" charset="-120"/>
              </a:rPr>
              <a:t>2</a:t>
            </a:r>
            <a:endParaRPr lang="en-US" sz="2304" dirty="0"/>
          </a:p>
        </p:txBody>
      </p:sp>
      <p:sp>
        <p:nvSpPr>
          <p:cNvPr id="13" name="Text 10"/>
          <p:cNvSpPr/>
          <p:nvPr/>
        </p:nvSpPr>
        <p:spPr>
          <a:xfrm>
            <a:off x="6560344" y="1814870"/>
            <a:ext cx="2143482" cy="304800"/>
          </a:xfrm>
          <a:prstGeom prst="rect">
            <a:avLst/>
          </a:prstGeom>
          <a:noFill/>
          <a:ln/>
        </p:spPr>
        <p:txBody>
          <a:bodyPr wrap="none" rtlCol="0" anchor="t"/>
          <a:lstStyle/>
          <a:p>
            <a:pPr indent="0" marL="0">
              <a:lnSpc>
                <a:spcPts val="2400"/>
              </a:lnSpc>
              <a:buNone/>
            </a:pPr>
            <a:r>
              <a:rPr lang="en-US" sz="1920" dirty="0">
                <a:solidFill>
                  <a:srgbClr val="38512F"/>
                </a:solidFill>
                <a:latin typeface="Lora" pitchFamily="34" charset="0"/>
                <a:ea typeface="Lora" pitchFamily="34" charset="-122"/>
                <a:cs typeface="Lora" pitchFamily="34" charset="-120"/>
              </a:rPr>
              <a:t>Limitations</a:t>
            </a:r>
            <a:endParaRPr lang="en-US" sz="1920" dirty="0"/>
          </a:p>
        </p:txBody>
      </p:sp>
      <p:sp>
        <p:nvSpPr>
          <p:cNvPr id="14" name="Text 11"/>
          <p:cNvSpPr/>
          <p:nvPr/>
        </p:nvSpPr>
        <p:spPr>
          <a:xfrm>
            <a:off x="6560344" y="2236708"/>
            <a:ext cx="2143482" cy="3434001"/>
          </a:xfrm>
          <a:prstGeom prst="rect">
            <a:avLst/>
          </a:prstGeom>
          <a:noFill/>
          <a:ln/>
        </p:spPr>
        <p:txBody>
          <a:bodyPr wrap="square" rtlCol="0" anchor="t"/>
          <a:lstStyle/>
          <a:p>
            <a:pPr indent="0" marL="0">
              <a:lnSpc>
                <a:spcPts val="2458"/>
              </a:lnSpc>
              <a:buNone/>
            </a:pPr>
            <a:r>
              <a:rPr lang="en-US" sz="1536" dirty="0">
                <a:solidFill>
                  <a:srgbClr val="3A3630"/>
                </a:solidFill>
                <a:latin typeface="Source Sans Pro" pitchFamily="34" charset="0"/>
                <a:ea typeface="Source Sans Pro" pitchFamily="34" charset="-122"/>
                <a:cs typeface="Source Sans Pro" pitchFamily="34" charset="-120"/>
              </a:rPr>
              <a:t>The system's accuracy will depend on the quality and diversity of the handwriting samples, as well as the reliability of the emotional annotations obtained from participants using self-reports and controlled emotion induction techniques.</a:t>
            </a:r>
            <a:endParaRPr lang="en-US" sz="1536" dirty="0"/>
          </a:p>
        </p:txBody>
      </p:sp>
      <p:sp>
        <p:nvSpPr>
          <p:cNvPr id="15" name="Shape 12"/>
          <p:cNvSpPr/>
          <p:nvPr/>
        </p:nvSpPr>
        <p:spPr>
          <a:xfrm>
            <a:off x="8898850" y="1747838"/>
            <a:ext cx="438864" cy="438864"/>
          </a:xfrm>
          <a:prstGeom prst="roundRect">
            <a:avLst>
              <a:gd name="adj" fmla="val 13337"/>
            </a:avLst>
          </a:prstGeom>
          <a:solidFill>
            <a:srgbClr val="F6E9D5"/>
          </a:solidFill>
          <a:ln/>
        </p:spPr>
      </p:sp>
      <p:sp>
        <p:nvSpPr>
          <p:cNvPr id="16" name="Text 13"/>
          <p:cNvSpPr/>
          <p:nvPr/>
        </p:nvSpPr>
        <p:spPr>
          <a:xfrm>
            <a:off x="9036725" y="1784390"/>
            <a:ext cx="162997" cy="365760"/>
          </a:xfrm>
          <a:prstGeom prst="rect">
            <a:avLst/>
          </a:prstGeom>
          <a:noFill/>
          <a:ln/>
        </p:spPr>
        <p:txBody>
          <a:bodyPr wrap="none" rtlCol="0" anchor="t"/>
          <a:lstStyle/>
          <a:p>
            <a:pPr algn="ctr" indent="0" marL="0">
              <a:lnSpc>
                <a:spcPts val="2880"/>
              </a:lnSpc>
              <a:buNone/>
            </a:pPr>
            <a:r>
              <a:rPr lang="en-US" sz="2304" dirty="0">
                <a:solidFill>
                  <a:srgbClr val="38512F"/>
                </a:solidFill>
                <a:latin typeface="Lora" pitchFamily="34" charset="0"/>
                <a:ea typeface="Lora" pitchFamily="34" charset="-122"/>
                <a:cs typeface="Lora" pitchFamily="34" charset="-120"/>
              </a:rPr>
              <a:t>3</a:t>
            </a:r>
            <a:endParaRPr lang="en-US" sz="2304" dirty="0"/>
          </a:p>
        </p:txBody>
      </p:sp>
      <p:sp>
        <p:nvSpPr>
          <p:cNvPr id="17" name="Text 14"/>
          <p:cNvSpPr/>
          <p:nvPr/>
        </p:nvSpPr>
        <p:spPr>
          <a:xfrm>
            <a:off x="9532739" y="1814870"/>
            <a:ext cx="2143482" cy="609600"/>
          </a:xfrm>
          <a:prstGeom prst="rect">
            <a:avLst/>
          </a:prstGeom>
          <a:noFill/>
          <a:ln/>
        </p:spPr>
        <p:txBody>
          <a:bodyPr wrap="square" rtlCol="0" anchor="t"/>
          <a:lstStyle/>
          <a:p>
            <a:pPr indent="0" marL="0">
              <a:lnSpc>
                <a:spcPts val="2400"/>
              </a:lnSpc>
              <a:buNone/>
            </a:pPr>
            <a:r>
              <a:rPr lang="en-US" sz="1920" dirty="0">
                <a:solidFill>
                  <a:srgbClr val="38512F"/>
                </a:solidFill>
                <a:latin typeface="Lora" pitchFamily="34" charset="0"/>
                <a:ea typeface="Lora" pitchFamily="34" charset="-122"/>
                <a:cs typeface="Lora" pitchFamily="34" charset="-120"/>
              </a:rPr>
              <a:t>Future Considerations</a:t>
            </a:r>
            <a:endParaRPr lang="en-US" sz="1920" dirty="0"/>
          </a:p>
        </p:txBody>
      </p:sp>
      <p:sp>
        <p:nvSpPr>
          <p:cNvPr id="18" name="Text 15"/>
          <p:cNvSpPr/>
          <p:nvPr/>
        </p:nvSpPr>
        <p:spPr>
          <a:xfrm>
            <a:off x="9532739" y="2541508"/>
            <a:ext cx="2143482" cy="4994910"/>
          </a:xfrm>
          <a:prstGeom prst="rect">
            <a:avLst/>
          </a:prstGeom>
          <a:noFill/>
          <a:ln/>
        </p:spPr>
        <p:txBody>
          <a:bodyPr wrap="square" rtlCol="0" anchor="t"/>
          <a:lstStyle/>
          <a:p>
            <a:pPr indent="0" marL="0">
              <a:lnSpc>
                <a:spcPts val="2458"/>
              </a:lnSpc>
              <a:buNone/>
            </a:pPr>
            <a:r>
              <a:rPr lang="en-US" sz="1536" dirty="0">
                <a:solidFill>
                  <a:srgbClr val="3A3630"/>
                </a:solidFill>
                <a:latin typeface="Source Sans Pro" pitchFamily="34" charset="0"/>
                <a:ea typeface="Source Sans Pro" pitchFamily="34" charset="-122"/>
                <a:cs typeface="Source Sans Pro" pitchFamily="34" charset="-120"/>
              </a:rPr>
              <a:t>This research does not address issues like real-world deployment, noise or incomplete data, computational requirements, or the potential impact of factors like age, cultural background, or handwriting styles on the system's performance. Ethical concerns like privacy, algorithmic biases, and responsible implementation also need to be carefully considered.</a:t>
            </a:r>
            <a:endParaRPr lang="en-US" sz="1536" dirty="0"/>
          </a:p>
        </p:txBody>
      </p:sp>
      <p:pic>
        <p:nvPicPr>
          <p:cNvPr id="19" name="Image 1" descr="preencoded.png">
            <a:hlinkClick r:id="rId3" tooltip=""/>
          </p:cNvPr>
          <p:cNvPicPr>
            <a:picLocks noChangeAspect="1"/>
          </p:cNvPicPr>
          <p:nvPr/>
        </p:nvPicPr>
        <p:blipFill>
          <a:blip r:embed="rId2"/>
          <a:stretch>
            <a:fillRect/>
          </a:stretch>
        </p:blipFill>
        <p:spPr>
          <a:xfrm>
            <a:off x="12242153" y="7589520"/>
            <a:ext cx="2296807" cy="5486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11438096"/>
          </a:xfrm>
          <a:prstGeom prst="rect">
            <a:avLst/>
          </a:prstGeom>
          <a:solidFill>
            <a:srgbClr val="FEF5E7"/>
          </a:solidFill>
          <a:ln/>
        </p:spPr>
      </p:sp>
      <p:pic>
        <p:nvPicPr>
          <p:cNvPr id="4" name="Image 0" descr="preencoded.png">    </p:cNvPr>
          <p:cNvPicPr>
            <a:picLocks noChangeAspect="1"/>
          </p:cNvPicPr>
          <p:nvPr/>
        </p:nvPicPr>
        <p:blipFill>
          <a:blip r:embed="rId1"/>
          <a:stretch>
            <a:fillRect/>
          </a:stretch>
        </p:blipFill>
        <p:spPr>
          <a:xfrm>
            <a:off x="0" y="0"/>
            <a:ext cx="14630400" cy="11438096"/>
          </a:xfrm>
          <a:prstGeom prst="rect">
            <a:avLst/>
          </a:prstGeom>
        </p:spPr>
      </p:pic>
      <p:sp>
        <p:nvSpPr>
          <p:cNvPr id="5" name="Shape 2"/>
          <p:cNvSpPr/>
          <p:nvPr/>
        </p:nvSpPr>
        <p:spPr>
          <a:xfrm>
            <a:off x="0" y="0"/>
            <a:ext cx="14630400" cy="11438096"/>
          </a:xfrm>
          <a:prstGeom prst="rect">
            <a:avLst/>
          </a:prstGeom>
          <a:solidFill>
            <a:srgbClr val="FEF5E7">
              <a:alpha val="85000"/>
            </a:srgbClr>
          </a:solidFill>
          <a:ln/>
        </p:spPr>
      </p:sp>
      <p:sp>
        <p:nvSpPr>
          <p:cNvPr id="6" name="Text 3"/>
          <p:cNvSpPr/>
          <p:nvPr/>
        </p:nvSpPr>
        <p:spPr>
          <a:xfrm>
            <a:off x="3838456" y="427673"/>
            <a:ext cx="5110758" cy="486013"/>
          </a:xfrm>
          <a:prstGeom prst="rect">
            <a:avLst/>
          </a:prstGeom>
          <a:noFill/>
          <a:ln/>
        </p:spPr>
        <p:txBody>
          <a:bodyPr wrap="none" rtlCol="0" anchor="t"/>
          <a:lstStyle/>
          <a:p>
            <a:pPr indent="0" marL="0">
              <a:lnSpc>
                <a:spcPts val="3827"/>
              </a:lnSpc>
              <a:buNone/>
            </a:pPr>
            <a:r>
              <a:rPr lang="en-US" sz="3062" dirty="0">
                <a:solidFill>
                  <a:srgbClr val="38512F"/>
                </a:solidFill>
                <a:latin typeface="Lora" pitchFamily="34" charset="0"/>
                <a:ea typeface="Lora" pitchFamily="34" charset="-122"/>
                <a:cs typeface="Lora" pitchFamily="34" charset="-120"/>
              </a:rPr>
              <a:t>Review of Related Literature</a:t>
            </a:r>
            <a:endParaRPr lang="en-US" sz="3062" dirty="0"/>
          </a:p>
        </p:txBody>
      </p:sp>
      <p:sp>
        <p:nvSpPr>
          <p:cNvPr id="7" name="Text 4"/>
          <p:cNvSpPr/>
          <p:nvPr/>
        </p:nvSpPr>
        <p:spPr>
          <a:xfrm>
            <a:off x="3994071" y="1247775"/>
            <a:ext cx="1423511" cy="199073"/>
          </a:xfrm>
          <a:prstGeom prst="rect">
            <a:avLst/>
          </a:prstGeom>
          <a:noFill/>
          <a:ln/>
        </p:spPr>
        <p:txBody>
          <a:bodyPr wrap="none" rtlCol="0" anchor="t"/>
          <a:lstStyle/>
          <a:p>
            <a:pPr indent="0" marL="0">
              <a:lnSpc>
                <a:spcPts val="1568"/>
              </a:lnSpc>
              <a:buNone/>
            </a:pPr>
            <a:r>
              <a:rPr lang="en-US" sz="980" dirty="0">
                <a:solidFill>
                  <a:srgbClr val="000000"/>
                </a:solidFill>
                <a:latin typeface="Source Sans Pro" pitchFamily="34" charset="0"/>
                <a:ea typeface="Source Sans Pro" pitchFamily="34" charset="-122"/>
                <a:cs typeface="Source Sans Pro" pitchFamily="34" charset="-120"/>
              </a:rPr>
              <a:t>Title &amp; Publication Year</a:t>
            </a:r>
            <a:endParaRPr lang="en-US" sz="980" dirty="0"/>
          </a:p>
        </p:txBody>
      </p:sp>
      <p:sp>
        <p:nvSpPr>
          <p:cNvPr id="8" name="Text 5"/>
          <p:cNvSpPr/>
          <p:nvPr/>
        </p:nvSpPr>
        <p:spPr>
          <a:xfrm>
            <a:off x="5736193" y="1247775"/>
            <a:ext cx="1419701" cy="199073"/>
          </a:xfrm>
          <a:prstGeom prst="rect">
            <a:avLst/>
          </a:prstGeom>
          <a:noFill/>
          <a:ln/>
        </p:spPr>
        <p:txBody>
          <a:bodyPr wrap="none" rtlCol="0" anchor="t"/>
          <a:lstStyle/>
          <a:p>
            <a:pPr indent="0" marL="0">
              <a:lnSpc>
                <a:spcPts val="1568"/>
              </a:lnSpc>
              <a:buNone/>
            </a:pPr>
            <a:r>
              <a:rPr lang="en-US" sz="980" dirty="0">
                <a:solidFill>
                  <a:srgbClr val="000000"/>
                </a:solidFill>
                <a:latin typeface="Source Sans Pro" pitchFamily="34" charset="0"/>
                <a:ea typeface="Source Sans Pro" pitchFamily="34" charset="-122"/>
                <a:cs typeface="Source Sans Pro" pitchFamily="34" charset="-120"/>
              </a:rPr>
              <a:t>Description</a:t>
            </a:r>
            <a:endParaRPr lang="en-US" sz="980" dirty="0"/>
          </a:p>
        </p:txBody>
      </p:sp>
      <p:sp>
        <p:nvSpPr>
          <p:cNvPr id="9" name="Text 6"/>
          <p:cNvSpPr/>
          <p:nvPr/>
        </p:nvSpPr>
        <p:spPr>
          <a:xfrm>
            <a:off x="7474506" y="1247775"/>
            <a:ext cx="1411367" cy="199073"/>
          </a:xfrm>
          <a:prstGeom prst="rect">
            <a:avLst/>
          </a:prstGeom>
          <a:noFill/>
          <a:ln/>
        </p:spPr>
        <p:txBody>
          <a:bodyPr wrap="none" rtlCol="0" anchor="t"/>
          <a:lstStyle/>
          <a:p>
            <a:pPr indent="0" marL="0">
              <a:lnSpc>
                <a:spcPts val="1568"/>
              </a:lnSpc>
              <a:buNone/>
            </a:pPr>
            <a:r>
              <a:rPr lang="en-US" sz="980" dirty="0">
                <a:solidFill>
                  <a:srgbClr val="000000"/>
                </a:solidFill>
                <a:latin typeface="Source Sans Pro" pitchFamily="34" charset="0"/>
                <a:ea typeface="Source Sans Pro" pitchFamily="34" charset="-122"/>
                <a:cs typeface="Source Sans Pro" pitchFamily="34" charset="-120"/>
              </a:rPr>
              <a:t>Method</a:t>
            </a:r>
            <a:endParaRPr lang="en-US" sz="980" dirty="0"/>
          </a:p>
        </p:txBody>
      </p:sp>
      <p:sp>
        <p:nvSpPr>
          <p:cNvPr id="10" name="Text 7"/>
          <p:cNvSpPr/>
          <p:nvPr/>
        </p:nvSpPr>
        <p:spPr>
          <a:xfrm>
            <a:off x="9204484" y="1247775"/>
            <a:ext cx="1431846" cy="199073"/>
          </a:xfrm>
          <a:prstGeom prst="rect">
            <a:avLst/>
          </a:prstGeom>
          <a:noFill/>
          <a:ln/>
        </p:spPr>
        <p:txBody>
          <a:bodyPr wrap="none" rtlCol="0" anchor="t"/>
          <a:lstStyle/>
          <a:p>
            <a:pPr indent="0" marL="0">
              <a:lnSpc>
                <a:spcPts val="1568"/>
              </a:lnSpc>
              <a:buNone/>
            </a:pPr>
            <a:r>
              <a:rPr lang="en-US" sz="980" dirty="0">
                <a:solidFill>
                  <a:srgbClr val="000000"/>
                </a:solidFill>
                <a:latin typeface="Source Sans Pro" pitchFamily="34" charset="0"/>
                <a:ea typeface="Source Sans Pro" pitchFamily="34" charset="-122"/>
                <a:cs typeface="Source Sans Pro" pitchFamily="34" charset="-120"/>
              </a:rPr>
              <a:t>Results</a:t>
            </a:r>
            <a:endParaRPr lang="en-US" sz="980" dirty="0"/>
          </a:p>
        </p:txBody>
      </p:sp>
      <p:sp>
        <p:nvSpPr>
          <p:cNvPr id="11" name="Shape 8"/>
          <p:cNvSpPr/>
          <p:nvPr/>
        </p:nvSpPr>
        <p:spPr>
          <a:xfrm>
            <a:off x="3838456" y="1547693"/>
            <a:ext cx="6953488" cy="1794272"/>
          </a:xfrm>
          <a:prstGeom prst="rect">
            <a:avLst/>
          </a:prstGeom>
          <a:solidFill>
            <a:srgbClr val="F6E9D5"/>
          </a:solidFill>
          <a:ln/>
        </p:spPr>
      </p:sp>
      <p:sp>
        <p:nvSpPr>
          <p:cNvPr id="12" name="Text 9"/>
          <p:cNvSpPr/>
          <p:nvPr/>
        </p:nvSpPr>
        <p:spPr>
          <a:xfrm>
            <a:off x="3994071" y="1648539"/>
            <a:ext cx="1423511" cy="1194435"/>
          </a:xfrm>
          <a:prstGeom prst="rect">
            <a:avLst/>
          </a:prstGeom>
          <a:noFill/>
          <a:ln/>
        </p:spPr>
        <p:txBody>
          <a:bodyPr wrap="square" rtlCol="0" anchor="t"/>
          <a:lstStyle/>
          <a:p>
            <a:pPr indent="0" marL="0">
              <a:lnSpc>
                <a:spcPts val="1568"/>
              </a:lnSpc>
              <a:buNone/>
            </a:pPr>
            <a:r>
              <a:rPr lang="en-US" sz="980" dirty="0">
                <a:solidFill>
                  <a:srgbClr val="000000"/>
                </a:solidFill>
                <a:latin typeface="Source Sans Pro" pitchFamily="34" charset="0"/>
                <a:ea typeface="Source Sans Pro" pitchFamily="34" charset="-122"/>
                <a:cs typeface="Source Sans Pro" pitchFamily="34" charset="-120"/>
              </a:rPr>
              <a:t>EMOTHAW: A Novel Database for Emotional State Recognition From Handwriting and Drawing by Likforman-Sulem et al. (2017)</a:t>
            </a:r>
            <a:endParaRPr lang="en-US" sz="980" dirty="0"/>
          </a:p>
        </p:txBody>
      </p:sp>
      <p:sp>
        <p:nvSpPr>
          <p:cNvPr id="13" name="Text 10"/>
          <p:cNvSpPr/>
          <p:nvPr/>
        </p:nvSpPr>
        <p:spPr>
          <a:xfrm>
            <a:off x="5736193" y="1648539"/>
            <a:ext cx="1419701" cy="1592580"/>
          </a:xfrm>
          <a:prstGeom prst="rect">
            <a:avLst/>
          </a:prstGeom>
          <a:noFill/>
          <a:ln/>
        </p:spPr>
        <p:txBody>
          <a:bodyPr wrap="square" rtlCol="0" anchor="t"/>
          <a:lstStyle/>
          <a:p>
            <a:pPr indent="0" marL="0">
              <a:lnSpc>
                <a:spcPts val="1568"/>
              </a:lnSpc>
              <a:buNone/>
            </a:pPr>
            <a:r>
              <a:rPr lang="en-US" sz="980" dirty="0">
                <a:solidFill>
                  <a:srgbClr val="000000"/>
                </a:solidFill>
                <a:latin typeface="Source Sans Pro" pitchFamily="34" charset="0"/>
                <a:ea typeface="Source Sans Pro" pitchFamily="34" charset="-122"/>
                <a:cs typeface="Source Sans Pro" pitchFamily="34" charset="-120"/>
              </a:rPr>
              <a:t>Developed a database for emotion recognition from handwriting and drawing samples, exploring connections between handwriting features and anxiety, depression, and stress measures.</a:t>
            </a:r>
            <a:endParaRPr lang="en-US" sz="980" dirty="0"/>
          </a:p>
        </p:txBody>
      </p:sp>
      <p:sp>
        <p:nvSpPr>
          <p:cNvPr id="14" name="Text 11"/>
          <p:cNvSpPr/>
          <p:nvPr/>
        </p:nvSpPr>
        <p:spPr>
          <a:xfrm>
            <a:off x="7474506" y="1648539"/>
            <a:ext cx="1411367" cy="995363"/>
          </a:xfrm>
          <a:prstGeom prst="rect">
            <a:avLst/>
          </a:prstGeom>
          <a:noFill/>
          <a:ln/>
        </p:spPr>
        <p:txBody>
          <a:bodyPr wrap="square" rtlCol="0" anchor="t"/>
          <a:lstStyle/>
          <a:p>
            <a:pPr indent="0" marL="0">
              <a:lnSpc>
                <a:spcPts val="1568"/>
              </a:lnSpc>
              <a:buNone/>
            </a:pPr>
            <a:r>
              <a:rPr lang="en-US" sz="980" dirty="0">
                <a:solidFill>
                  <a:srgbClr val="000000"/>
                </a:solidFill>
                <a:latin typeface="Source Sans Pro" pitchFamily="34" charset="0"/>
                <a:ea typeface="Source Sans Pro" pitchFamily="34" charset="-122"/>
                <a:cs typeface="Source Sans Pro" pitchFamily="34" charset="-120"/>
              </a:rPr>
              <a:t>Used random forests machine learning on timing and pen pressure features extracted from handwriting from a tablet.</a:t>
            </a:r>
            <a:endParaRPr lang="en-US" sz="980" dirty="0"/>
          </a:p>
        </p:txBody>
      </p:sp>
      <p:sp>
        <p:nvSpPr>
          <p:cNvPr id="15" name="Text 12"/>
          <p:cNvSpPr/>
          <p:nvPr/>
        </p:nvSpPr>
        <p:spPr>
          <a:xfrm>
            <a:off x="9204484" y="1648539"/>
            <a:ext cx="1431846" cy="796290"/>
          </a:xfrm>
          <a:prstGeom prst="rect">
            <a:avLst/>
          </a:prstGeom>
          <a:noFill/>
          <a:ln/>
        </p:spPr>
        <p:txBody>
          <a:bodyPr wrap="square" rtlCol="0" anchor="t"/>
          <a:lstStyle/>
          <a:p>
            <a:pPr indent="0" marL="0">
              <a:lnSpc>
                <a:spcPts val="1568"/>
              </a:lnSpc>
              <a:buNone/>
            </a:pPr>
            <a:r>
              <a:rPr lang="en-US" sz="980" dirty="0">
                <a:solidFill>
                  <a:srgbClr val="000000"/>
                </a:solidFill>
                <a:latin typeface="Source Sans Pro" pitchFamily="34" charset="0"/>
                <a:ea typeface="Source Sans Pro" pitchFamily="34" charset="-122"/>
                <a:cs typeface="Source Sans Pro" pitchFamily="34" charset="-120"/>
              </a:rPr>
              <a:t>Achieved promising results in classifying anxiety and stress emotional states from handwriting cues.</a:t>
            </a:r>
            <a:endParaRPr lang="en-US" sz="980" dirty="0"/>
          </a:p>
        </p:txBody>
      </p:sp>
      <p:sp>
        <p:nvSpPr>
          <p:cNvPr id="16" name="Text 13"/>
          <p:cNvSpPr/>
          <p:nvPr/>
        </p:nvSpPr>
        <p:spPr>
          <a:xfrm>
            <a:off x="3994071" y="3442811"/>
            <a:ext cx="1423511" cy="995363"/>
          </a:xfrm>
          <a:prstGeom prst="rect">
            <a:avLst/>
          </a:prstGeom>
          <a:noFill/>
          <a:ln/>
        </p:spPr>
        <p:txBody>
          <a:bodyPr wrap="square" rtlCol="0" anchor="t"/>
          <a:lstStyle/>
          <a:p>
            <a:pPr indent="0" marL="0">
              <a:lnSpc>
                <a:spcPts val="1568"/>
              </a:lnSpc>
              <a:buNone/>
            </a:pPr>
            <a:r>
              <a:rPr lang="en-US" sz="980" dirty="0">
                <a:solidFill>
                  <a:srgbClr val="000000"/>
                </a:solidFill>
                <a:latin typeface="Source Sans Pro" pitchFamily="34" charset="0"/>
                <a:ea typeface="Source Sans Pro" pitchFamily="34" charset="-122"/>
                <a:cs typeface="Source Sans Pro" pitchFamily="34" charset="-120"/>
              </a:rPr>
              <a:t>Automatic Emotion Recognition through Handwriting Analysis: A Review by Kedar et al. (2015)</a:t>
            </a:r>
            <a:endParaRPr lang="en-US" sz="980" dirty="0"/>
          </a:p>
        </p:txBody>
      </p:sp>
      <p:sp>
        <p:nvSpPr>
          <p:cNvPr id="17" name="Text 14"/>
          <p:cNvSpPr/>
          <p:nvPr/>
        </p:nvSpPr>
        <p:spPr>
          <a:xfrm>
            <a:off x="5736193" y="3442811"/>
            <a:ext cx="1419701" cy="1791652"/>
          </a:xfrm>
          <a:prstGeom prst="rect">
            <a:avLst/>
          </a:prstGeom>
          <a:noFill/>
          <a:ln/>
        </p:spPr>
        <p:txBody>
          <a:bodyPr wrap="square" rtlCol="0" anchor="t"/>
          <a:lstStyle/>
          <a:p>
            <a:pPr indent="0" marL="0">
              <a:lnSpc>
                <a:spcPts val="1568"/>
              </a:lnSpc>
              <a:buNone/>
            </a:pPr>
            <a:r>
              <a:rPr lang="en-US" sz="980" dirty="0">
                <a:solidFill>
                  <a:srgbClr val="000000"/>
                </a:solidFill>
                <a:latin typeface="Source Sans Pro" pitchFamily="34" charset="0"/>
                <a:ea typeface="Source Sans Pro" pitchFamily="34" charset="-122"/>
                <a:cs typeface="Source Sans Pro" pitchFamily="34" charset="-120"/>
              </a:rPr>
              <a:t>Comprehensive review examining the potential of handwriting analysis for automatic emotion recognition, highlighting handwriting characteristics like baseline, slant, pen pressure, size, etc. as potential emotional cues.</a:t>
            </a:r>
            <a:endParaRPr lang="en-US" sz="980" dirty="0"/>
          </a:p>
        </p:txBody>
      </p:sp>
      <p:sp>
        <p:nvSpPr>
          <p:cNvPr id="18" name="Text 15"/>
          <p:cNvSpPr/>
          <p:nvPr/>
        </p:nvSpPr>
        <p:spPr>
          <a:xfrm>
            <a:off x="7474506" y="3442811"/>
            <a:ext cx="1411367" cy="1194435"/>
          </a:xfrm>
          <a:prstGeom prst="rect">
            <a:avLst/>
          </a:prstGeom>
          <a:noFill/>
          <a:ln/>
        </p:spPr>
        <p:txBody>
          <a:bodyPr wrap="square" rtlCol="0" anchor="t"/>
          <a:lstStyle/>
          <a:p>
            <a:pPr indent="0" marL="0">
              <a:lnSpc>
                <a:spcPts val="1568"/>
              </a:lnSpc>
              <a:buNone/>
            </a:pPr>
            <a:r>
              <a:rPr lang="en-US" sz="980" dirty="0">
                <a:solidFill>
                  <a:srgbClr val="000000"/>
                </a:solidFill>
                <a:latin typeface="Source Sans Pro" pitchFamily="34" charset="0"/>
                <a:ea typeface="Source Sans Pro" pitchFamily="34" charset="-122"/>
                <a:cs typeface="Source Sans Pro" pitchFamily="34" charset="-120"/>
              </a:rPr>
              <a:t>Review of existing methodologies and machine learning techniques applied to handwriting analysis for emotion recognition.</a:t>
            </a:r>
            <a:endParaRPr lang="en-US" sz="980" dirty="0"/>
          </a:p>
        </p:txBody>
      </p:sp>
      <p:sp>
        <p:nvSpPr>
          <p:cNvPr id="19" name="Text 16"/>
          <p:cNvSpPr/>
          <p:nvPr/>
        </p:nvSpPr>
        <p:spPr>
          <a:xfrm>
            <a:off x="9204484" y="3442811"/>
            <a:ext cx="1431846" cy="1194435"/>
          </a:xfrm>
          <a:prstGeom prst="rect">
            <a:avLst/>
          </a:prstGeom>
          <a:noFill/>
          <a:ln/>
        </p:spPr>
        <p:txBody>
          <a:bodyPr wrap="square" rtlCol="0" anchor="t"/>
          <a:lstStyle/>
          <a:p>
            <a:pPr indent="0" marL="0">
              <a:lnSpc>
                <a:spcPts val="1568"/>
              </a:lnSpc>
              <a:buNone/>
            </a:pPr>
            <a:r>
              <a:rPr lang="en-US" sz="980" dirty="0">
                <a:solidFill>
                  <a:srgbClr val="000000"/>
                </a:solidFill>
                <a:latin typeface="Source Sans Pro" pitchFamily="34" charset="0"/>
                <a:ea typeface="Source Sans Pro" pitchFamily="34" charset="-122"/>
                <a:cs typeface="Source Sans Pro" pitchFamily="34" charset="-120"/>
              </a:rPr>
              <a:t>Highlighted the potential of handwriting analysis as a tool for identifying individuals in emotional distress who may require psychological support.</a:t>
            </a:r>
            <a:endParaRPr lang="en-US" sz="980" dirty="0"/>
          </a:p>
        </p:txBody>
      </p:sp>
      <p:sp>
        <p:nvSpPr>
          <p:cNvPr id="20" name="Shape 17"/>
          <p:cNvSpPr/>
          <p:nvPr/>
        </p:nvSpPr>
        <p:spPr>
          <a:xfrm>
            <a:off x="3838456" y="5335310"/>
            <a:ext cx="6953488" cy="1794272"/>
          </a:xfrm>
          <a:prstGeom prst="rect">
            <a:avLst/>
          </a:prstGeom>
          <a:solidFill>
            <a:srgbClr val="F6E9D5"/>
          </a:solidFill>
          <a:ln/>
        </p:spPr>
      </p:sp>
      <p:sp>
        <p:nvSpPr>
          <p:cNvPr id="21" name="Text 18"/>
          <p:cNvSpPr/>
          <p:nvPr/>
        </p:nvSpPr>
        <p:spPr>
          <a:xfrm>
            <a:off x="3994071" y="5436156"/>
            <a:ext cx="1423511" cy="398145"/>
          </a:xfrm>
          <a:prstGeom prst="rect">
            <a:avLst/>
          </a:prstGeom>
          <a:noFill/>
          <a:ln/>
        </p:spPr>
        <p:txBody>
          <a:bodyPr wrap="square" rtlCol="0" anchor="t"/>
          <a:lstStyle/>
          <a:p>
            <a:pPr indent="0" marL="0">
              <a:lnSpc>
                <a:spcPts val="1568"/>
              </a:lnSpc>
              <a:buNone/>
            </a:pPr>
            <a:r>
              <a:rPr lang="en-US" sz="980" dirty="0">
                <a:solidFill>
                  <a:srgbClr val="000000"/>
                </a:solidFill>
                <a:latin typeface="Source Sans Pro" pitchFamily="34" charset="0"/>
                <a:ea typeface="Source Sans Pro" pitchFamily="34" charset="-122"/>
                <a:cs typeface="Source Sans Pro" pitchFamily="34" charset="-120"/>
              </a:rPr>
              <a:t>Unveiling Emotions through</a:t>
            </a:r>
            <a:endParaRPr lang="en-US" sz="980" dirty="0"/>
          </a:p>
        </p:txBody>
      </p:sp>
      <p:sp>
        <p:nvSpPr>
          <p:cNvPr id="22" name="Text 19"/>
          <p:cNvSpPr/>
          <p:nvPr/>
        </p:nvSpPr>
        <p:spPr>
          <a:xfrm>
            <a:off x="3994071" y="5927527"/>
            <a:ext cx="1423511" cy="398145"/>
          </a:xfrm>
          <a:prstGeom prst="rect">
            <a:avLst/>
          </a:prstGeom>
          <a:noFill/>
          <a:ln/>
        </p:spPr>
        <p:txBody>
          <a:bodyPr wrap="square" rtlCol="0" anchor="t"/>
          <a:lstStyle/>
          <a:p>
            <a:pPr indent="0" marL="0">
              <a:lnSpc>
                <a:spcPts val="1568"/>
              </a:lnSpc>
              <a:buNone/>
            </a:pPr>
            <a:r>
              <a:rPr lang="en-US" sz="980" dirty="0">
                <a:solidFill>
                  <a:srgbClr val="000000"/>
                </a:solidFill>
                <a:latin typeface="Source Sans Pro" pitchFamily="34" charset="0"/>
                <a:ea typeface="Source Sans Pro" pitchFamily="34" charset="-122"/>
                <a:cs typeface="Source Sans Pro" pitchFamily="34" charset="-120"/>
              </a:rPr>
              <a:t>Handwriting: A Data Analysis</a:t>
            </a:r>
            <a:endParaRPr lang="en-US" sz="980" dirty="0"/>
          </a:p>
        </p:txBody>
      </p:sp>
      <p:sp>
        <p:nvSpPr>
          <p:cNvPr id="23" name="Text 20"/>
          <p:cNvSpPr/>
          <p:nvPr/>
        </p:nvSpPr>
        <p:spPr>
          <a:xfrm>
            <a:off x="3994071" y="6418898"/>
            <a:ext cx="1423511" cy="398145"/>
          </a:xfrm>
          <a:prstGeom prst="rect">
            <a:avLst/>
          </a:prstGeom>
          <a:noFill/>
          <a:ln/>
        </p:spPr>
        <p:txBody>
          <a:bodyPr wrap="square" rtlCol="0" anchor="t"/>
          <a:lstStyle/>
          <a:p>
            <a:pPr indent="0" marL="0">
              <a:lnSpc>
                <a:spcPts val="1568"/>
              </a:lnSpc>
              <a:buNone/>
            </a:pPr>
            <a:r>
              <a:rPr lang="en-US" sz="980" dirty="0">
                <a:solidFill>
                  <a:srgbClr val="000000"/>
                </a:solidFill>
                <a:latin typeface="Source Sans Pro" pitchFamily="34" charset="0"/>
                <a:ea typeface="Source Sans Pro" pitchFamily="34" charset="-122"/>
                <a:cs typeface="Source Sans Pro" pitchFamily="34" charset="-120"/>
              </a:rPr>
              <a:t>Approach by Azmi et al. (2023)</a:t>
            </a:r>
            <a:endParaRPr lang="en-US" sz="980" dirty="0"/>
          </a:p>
        </p:txBody>
      </p:sp>
      <p:sp>
        <p:nvSpPr>
          <p:cNvPr id="24" name="Text 21"/>
          <p:cNvSpPr/>
          <p:nvPr/>
        </p:nvSpPr>
        <p:spPr>
          <a:xfrm>
            <a:off x="5736193" y="5436156"/>
            <a:ext cx="1419701" cy="1592580"/>
          </a:xfrm>
          <a:prstGeom prst="rect">
            <a:avLst/>
          </a:prstGeom>
          <a:noFill/>
          <a:ln/>
        </p:spPr>
        <p:txBody>
          <a:bodyPr wrap="square" rtlCol="0" anchor="t"/>
          <a:lstStyle/>
          <a:p>
            <a:pPr indent="0" marL="0">
              <a:lnSpc>
                <a:spcPts val="1568"/>
              </a:lnSpc>
              <a:buNone/>
            </a:pPr>
            <a:r>
              <a:rPr lang="en-US" sz="980" dirty="0">
                <a:solidFill>
                  <a:srgbClr val="000000"/>
                </a:solidFill>
                <a:latin typeface="Source Sans Pro" pitchFamily="34" charset="0"/>
                <a:ea typeface="Source Sans Pro" pitchFamily="34" charset="-122"/>
                <a:cs typeface="Source Sans Pro" pitchFamily="34" charset="-120"/>
              </a:rPr>
              <a:t>Explored the feasibility of detecting emotions from handwriting using a dataset of 129 users, analyzing relationships between handwriting features and emotional states.</a:t>
            </a:r>
            <a:endParaRPr lang="en-US" sz="980" dirty="0"/>
          </a:p>
        </p:txBody>
      </p:sp>
      <p:sp>
        <p:nvSpPr>
          <p:cNvPr id="25" name="Text 22"/>
          <p:cNvSpPr/>
          <p:nvPr/>
        </p:nvSpPr>
        <p:spPr>
          <a:xfrm>
            <a:off x="7474506" y="5436156"/>
            <a:ext cx="1411367" cy="1194435"/>
          </a:xfrm>
          <a:prstGeom prst="rect">
            <a:avLst/>
          </a:prstGeom>
          <a:noFill/>
          <a:ln/>
        </p:spPr>
        <p:txBody>
          <a:bodyPr wrap="square" rtlCol="0" anchor="t"/>
          <a:lstStyle/>
          <a:p>
            <a:pPr indent="0" marL="0">
              <a:lnSpc>
                <a:spcPts val="1568"/>
              </a:lnSpc>
              <a:buNone/>
            </a:pPr>
            <a:r>
              <a:rPr lang="en-US" sz="980" dirty="0">
                <a:solidFill>
                  <a:srgbClr val="000000"/>
                </a:solidFill>
                <a:latin typeface="Source Sans Pro" pitchFamily="34" charset="0"/>
                <a:ea typeface="Source Sans Pro" pitchFamily="34" charset="-122"/>
                <a:cs typeface="Source Sans Pro" pitchFamily="34" charset="-120"/>
              </a:rPr>
              <a:t>Employed correlation analysis, dimensionality reduction, and a Random Forest model for emotion classification from handwriting.</a:t>
            </a:r>
            <a:endParaRPr lang="en-US" sz="980" dirty="0"/>
          </a:p>
        </p:txBody>
      </p:sp>
      <p:sp>
        <p:nvSpPr>
          <p:cNvPr id="26" name="Text 23"/>
          <p:cNvSpPr/>
          <p:nvPr/>
        </p:nvSpPr>
        <p:spPr>
          <a:xfrm>
            <a:off x="9204484" y="5436156"/>
            <a:ext cx="1431846" cy="1393508"/>
          </a:xfrm>
          <a:prstGeom prst="rect">
            <a:avLst/>
          </a:prstGeom>
          <a:noFill/>
          <a:ln/>
        </p:spPr>
        <p:txBody>
          <a:bodyPr wrap="square" rtlCol="0" anchor="t"/>
          <a:lstStyle/>
          <a:p>
            <a:pPr indent="0" marL="0">
              <a:lnSpc>
                <a:spcPts val="1568"/>
              </a:lnSpc>
              <a:buNone/>
            </a:pPr>
            <a:r>
              <a:rPr lang="en-US" sz="980" dirty="0">
                <a:solidFill>
                  <a:srgbClr val="000000"/>
                </a:solidFill>
                <a:latin typeface="Source Sans Pro" pitchFamily="34" charset="0"/>
                <a:ea typeface="Source Sans Pro" pitchFamily="34" charset="-122"/>
                <a:cs typeface="Source Sans Pro" pitchFamily="34" charset="-120"/>
              </a:rPr>
              <a:t>Demonstrated promising accuracy in classifying emotions from handwriting, indicating the potential of handwriting analysis as a non-invasive emotional detection tool.</a:t>
            </a:r>
            <a:endParaRPr lang="en-US" sz="980" dirty="0"/>
          </a:p>
        </p:txBody>
      </p:sp>
      <p:sp>
        <p:nvSpPr>
          <p:cNvPr id="27" name="Text 24"/>
          <p:cNvSpPr/>
          <p:nvPr/>
        </p:nvSpPr>
        <p:spPr>
          <a:xfrm>
            <a:off x="3994071" y="7230428"/>
            <a:ext cx="1423511" cy="995363"/>
          </a:xfrm>
          <a:prstGeom prst="rect">
            <a:avLst/>
          </a:prstGeom>
          <a:noFill/>
          <a:ln/>
        </p:spPr>
        <p:txBody>
          <a:bodyPr wrap="square" rtlCol="0" anchor="t"/>
          <a:lstStyle/>
          <a:p>
            <a:pPr indent="0" marL="0">
              <a:lnSpc>
                <a:spcPts val="1568"/>
              </a:lnSpc>
              <a:buNone/>
            </a:pPr>
            <a:r>
              <a:rPr lang="en-US" sz="980" dirty="0">
                <a:solidFill>
                  <a:srgbClr val="000000"/>
                </a:solidFill>
                <a:latin typeface="Source Sans Pro" pitchFamily="34" charset="0"/>
                <a:ea typeface="Source Sans Pro" pitchFamily="34" charset="-122"/>
                <a:cs typeface="Source Sans Pro" pitchFamily="34" charset="-120"/>
              </a:rPr>
              <a:t>TEmoDec: Emotion Detection from Handwritten Text using Agglomerative Clustering by</a:t>
            </a:r>
            <a:endParaRPr lang="en-US" sz="980" dirty="0"/>
          </a:p>
        </p:txBody>
      </p:sp>
      <p:sp>
        <p:nvSpPr>
          <p:cNvPr id="28" name="Text 25"/>
          <p:cNvSpPr/>
          <p:nvPr/>
        </p:nvSpPr>
        <p:spPr>
          <a:xfrm>
            <a:off x="3994071" y="8319016"/>
            <a:ext cx="1423511" cy="199073"/>
          </a:xfrm>
          <a:prstGeom prst="rect">
            <a:avLst/>
          </a:prstGeom>
          <a:noFill/>
          <a:ln/>
        </p:spPr>
        <p:txBody>
          <a:bodyPr wrap="none" rtlCol="0" anchor="t"/>
          <a:lstStyle/>
          <a:p>
            <a:pPr indent="0" marL="0">
              <a:lnSpc>
                <a:spcPts val="1568"/>
              </a:lnSpc>
              <a:buNone/>
            </a:pPr>
            <a:r>
              <a:rPr lang="en-US" sz="980" dirty="0">
                <a:solidFill>
                  <a:srgbClr val="000000"/>
                </a:solidFill>
                <a:latin typeface="Source Sans Pro" pitchFamily="34" charset="0"/>
                <a:ea typeface="Source Sans Pro" pitchFamily="34" charset="-122"/>
                <a:cs typeface="Source Sans Pro" pitchFamily="34" charset="-120"/>
              </a:rPr>
              <a:t>Bhattacharya et al. (2022)</a:t>
            </a:r>
            <a:endParaRPr lang="en-US" sz="980" dirty="0"/>
          </a:p>
        </p:txBody>
      </p:sp>
      <p:sp>
        <p:nvSpPr>
          <p:cNvPr id="29" name="Text 26"/>
          <p:cNvSpPr/>
          <p:nvPr/>
        </p:nvSpPr>
        <p:spPr>
          <a:xfrm>
            <a:off x="5736193" y="7230428"/>
            <a:ext cx="1419701" cy="1791652"/>
          </a:xfrm>
          <a:prstGeom prst="rect">
            <a:avLst/>
          </a:prstGeom>
          <a:noFill/>
          <a:ln/>
        </p:spPr>
        <p:txBody>
          <a:bodyPr wrap="square" rtlCol="0" anchor="t"/>
          <a:lstStyle/>
          <a:p>
            <a:pPr indent="0" marL="0">
              <a:lnSpc>
                <a:spcPts val="1568"/>
              </a:lnSpc>
              <a:buNone/>
            </a:pPr>
            <a:r>
              <a:rPr lang="en-US" sz="980" dirty="0">
                <a:solidFill>
                  <a:srgbClr val="000000"/>
                </a:solidFill>
                <a:latin typeface="Source Sans Pro" pitchFamily="34" charset="0"/>
                <a:ea typeface="Source Sans Pro" pitchFamily="34" charset="-122"/>
                <a:cs typeface="Source Sans Pro" pitchFamily="34" charset="-120"/>
              </a:rPr>
              <a:t>Proposed an unsupervised approach to detect emotions like anger, sadness, depression, happiness, and excitement from handwritten text samples using agglomerative hierarchical clustering.</a:t>
            </a:r>
            <a:endParaRPr lang="en-US" sz="980" dirty="0"/>
          </a:p>
        </p:txBody>
      </p:sp>
      <p:sp>
        <p:nvSpPr>
          <p:cNvPr id="30" name="Text 27"/>
          <p:cNvSpPr/>
          <p:nvPr/>
        </p:nvSpPr>
        <p:spPr>
          <a:xfrm>
            <a:off x="7474506" y="7230428"/>
            <a:ext cx="1411367" cy="1194435"/>
          </a:xfrm>
          <a:prstGeom prst="rect">
            <a:avLst/>
          </a:prstGeom>
          <a:noFill/>
          <a:ln/>
        </p:spPr>
        <p:txBody>
          <a:bodyPr wrap="square" rtlCol="0" anchor="t"/>
          <a:lstStyle/>
          <a:p>
            <a:pPr indent="0" marL="0">
              <a:lnSpc>
                <a:spcPts val="1568"/>
              </a:lnSpc>
              <a:buNone/>
            </a:pPr>
            <a:r>
              <a:rPr lang="en-US" sz="980" dirty="0">
                <a:solidFill>
                  <a:srgbClr val="000000"/>
                </a:solidFill>
                <a:latin typeface="Source Sans Pro" pitchFamily="34" charset="0"/>
                <a:ea typeface="Source Sans Pro" pitchFamily="34" charset="-122"/>
                <a:cs typeface="Source Sans Pro" pitchFamily="34" charset="-120"/>
              </a:rPr>
              <a:t>Clustered image pixels based on intra-cluster distances, bypassing the need for expert interpretation of handwriting.</a:t>
            </a:r>
            <a:endParaRPr lang="en-US" sz="980" dirty="0"/>
          </a:p>
        </p:txBody>
      </p:sp>
      <p:sp>
        <p:nvSpPr>
          <p:cNvPr id="31" name="Text 28"/>
          <p:cNvSpPr/>
          <p:nvPr/>
        </p:nvSpPr>
        <p:spPr>
          <a:xfrm>
            <a:off x="9204484" y="7230428"/>
            <a:ext cx="1431846" cy="1393508"/>
          </a:xfrm>
          <a:prstGeom prst="rect">
            <a:avLst/>
          </a:prstGeom>
          <a:noFill/>
          <a:ln/>
        </p:spPr>
        <p:txBody>
          <a:bodyPr wrap="square" rtlCol="0" anchor="t"/>
          <a:lstStyle/>
          <a:p>
            <a:pPr indent="0" marL="0">
              <a:lnSpc>
                <a:spcPts val="1568"/>
              </a:lnSpc>
              <a:buNone/>
            </a:pPr>
            <a:r>
              <a:rPr lang="en-US" sz="980" dirty="0">
                <a:solidFill>
                  <a:srgbClr val="000000"/>
                </a:solidFill>
                <a:latin typeface="Source Sans Pro" pitchFamily="34" charset="0"/>
                <a:ea typeface="Source Sans Pro" pitchFamily="34" charset="-122"/>
                <a:cs typeface="Source Sans Pro" pitchFamily="34" charset="-120"/>
              </a:rPr>
              <a:t>Achieved promising accuracy rates in emotion classification, suggesting potential applications in mental health assessment, human resources, and criminal investigations.</a:t>
            </a:r>
            <a:endParaRPr lang="en-US" sz="980" dirty="0"/>
          </a:p>
        </p:txBody>
      </p:sp>
      <p:sp>
        <p:nvSpPr>
          <p:cNvPr id="32" name="Shape 29"/>
          <p:cNvSpPr/>
          <p:nvPr/>
        </p:nvSpPr>
        <p:spPr>
          <a:xfrm>
            <a:off x="3838456" y="9122926"/>
            <a:ext cx="6953488" cy="1887498"/>
          </a:xfrm>
          <a:prstGeom prst="rect">
            <a:avLst/>
          </a:prstGeom>
          <a:solidFill>
            <a:srgbClr val="F6E9D5"/>
          </a:solidFill>
          <a:ln/>
        </p:spPr>
      </p:sp>
      <p:sp>
        <p:nvSpPr>
          <p:cNvPr id="33" name="Text 30"/>
          <p:cNvSpPr/>
          <p:nvPr/>
        </p:nvSpPr>
        <p:spPr>
          <a:xfrm>
            <a:off x="3994071" y="9223772"/>
            <a:ext cx="1423511" cy="199073"/>
          </a:xfrm>
          <a:prstGeom prst="rect">
            <a:avLst/>
          </a:prstGeom>
          <a:noFill/>
          <a:ln/>
        </p:spPr>
        <p:txBody>
          <a:bodyPr wrap="none" rtlCol="0" anchor="t"/>
          <a:lstStyle/>
          <a:p>
            <a:pPr indent="0" marL="0">
              <a:lnSpc>
                <a:spcPts val="1568"/>
              </a:lnSpc>
              <a:buNone/>
            </a:pPr>
            <a:r>
              <a:rPr lang="en-US" sz="980" dirty="0">
                <a:solidFill>
                  <a:srgbClr val="000000"/>
                </a:solidFill>
                <a:latin typeface="Source Sans Pro" pitchFamily="34" charset="0"/>
                <a:ea typeface="Source Sans Pro" pitchFamily="34" charset="-122"/>
                <a:cs typeface="Source Sans Pro" pitchFamily="34" charset="-120"/>
              </a:rPr>
              <a:t>Handwriting and Drawing</a:t>
            </a:r>
            <a:endParaRPr lang="en-US" sz="980" dirty="0"/>
          </a:p>
        </p:txBody>
      </p:sp>
      <p:sp>
        <p:nvSpPr>
          <p:cNvPr id="34" name="Text 31"/>
          <p:cNvSpPr/>
          <p:nvPr/>
        </p:nvSpPr>
        <p:spPr>
          <a:xfrm>
            <a:off x="3994071" y="9516070"/>
            <a:ext cx="1423511" cy="398145"/>
          </a:xfrm>
          <a:prstGeom prst="rect">
            <a:avLst/>
          </a:prstGeom>
          <a:noFill/>
          <a:ln/>
        </p:spPr>
        <p:txBody>
          <a:bodyPr wrap="square" rtlCol="0" anchor="t"/>
          <a:lstStyle/>
          <a:p>
            <a:pPr indent="0" marL="0">
              <a:lnSpc>
                <a:spcPts val="1568"/>
              </a:lnSpc>
              <a:buNone/>
            </a:pPr>
            <a:r>
              <a:rPr lang="en-US" sz="980" dirty="0">
                <a:solidFill>
                  <a:srgbClr val="000000"/>
                </a:solidFill>
                <a:latin typeface="Source Sans Pro" pitchFamily="34" charset="0"/>
                <a:ea typeface="Source Sans Pro" pitchFamily="34" charset="-122"/>
                <a:cs typeface="Source Sans Pro" pitchFamily="34" charset="-120"/>
              </a:rPr>
              <a:t>Features for Detecting Personality</a:t>
            </a:r>
            <a:endParaRPr lang="en-US" sz="980" dirty="0"/>
          </a:p>
        </p:txBody>
      </p:sp>
      <p:sp>
        <p:nvSpPr>
          <p:cNvPr id="35" name="Text 32"/>
          <p:cNvSpPr/>
          <p:nvPr/>
        </p:nvSpPr>
        <p:spPr>
          <a:xfrm>
            <a:off x="3994071" y="10007441"/>
            <a:ext cx="1423511" cy="398145"/>
          </a:xfrm>
          <a:prstGeom prst="rect">
            <a:avLst/>
          </a:prstGeom>
          <a:noFill/>
          <a:ln/>
        </p:spPr>
        <p:txBody>
          <a:bodyPr wrap="square" rtlCol="0" anchor="t"/>
          <a:lstStyle/>
          <a:p>
            <a:pPr indent="0" marL="0">
              <a:lnSpc>
                <a:spcPts val="1568"/>
              </a:lnSpc>
              <a:buNone/>
            </a:pPr>
            <a:r>
              <a:rPr lang="en-US" sz="980" dirty="0">
                <a:solidFill>
                  <a:srgbClr val="000000"/>
                </a:solidFill>
                <a:latin typeface="Source Sans Pro" pitchFamily="34" charset="0"/>
                <a:ea typeface="Source Sans Pro" pitchFamily="34" charset="-122"/>
                <a:cs typeface="Source Sans Pro" pitchFamily="34" charset="-120"/>
              </a:rPr>
              <a:t>Traits by Esposito et al. (2019)</a:t>
            </a:r>
            <a:endParaRPr lang="en-US" sz="980" dirty="0"/>
          </a:p>
        </p:txBody>
      </p:sp>
      <p:sp>
        <p:nvSpPr>
          <p:cNvPr id="36" name="Text 33"/>
          <p:cNvSpPr/>
          <p:nvPr/>
        </p:nvSpPr>
        <p:spPr>
          <a:xfrm>
            <a:off x="5736193" y="9223772"/>
            <a:ext cx="1419701" cy="1194435"/>
          </a:xfrm>
          <a:prstGeom prst="rect">
            <a:avLst/>
          </a:prstGeom>
          <a:noFill/>
          <a:ln/>
        </p:spPr>
        <p:txBody>
          <a:bodyPr wrap="square" rtlCol="0" anchor="t"/>
          <a:lstStyle/>
          <a:p>
            <a:pPr indent="0" marL="0">
              <a:lnSpc>
                <a:spcPts val="1568"/>
              </a:lnSpc>
              <a:buNone/>
            </a:pPr>
            <a:r>
              <a:rPr lang="en-US" sz="980" dirty="0">
                <a:solidFill>
                  <a:srgbClr val="000000"/>
                </a:solidFill>
                <a:latin typeface="Source Sans Pro" pitchFamily="34" charset="0"/>
                <a:ea typeface="Source Sans Pro" pitchFamily="34" charset="-122"/>
                <a:cs typeface="Source Sans Pro" pitchFamily="34" charset="-120"/>
              </a:rPr>
              <a:t>Explored the relationship between quantitative handwriting and drawing features and personality traits measured by the Big Five</a:t>
            </a:r>
            <a:endParaRPr lang="en-US" sz="980" dirty="0"/>
          </a:p>
        </p:txBody>
      </p:sp>
      <p:sp>
        <p:nvSpPr>
          <p:cNvPr id="37" name="Text 34"/>
          <p:cNvSpPr/>
          <p:nvPr/>
        </p:nvSpPr>
        <p:spPr>
          <a:xfrm>
            <a:off x="5736193" y="10511433"/>
            <a:ext cx="1419701" cy="398145"/>
          </a:xfrm>
          <a:prstGeom prst="rect">
            <a:avLst/>
          </a:prstGeom>
          <a:noFill/>
          <a:ln/>
        </p:spPr>
        <p:txBody>
          <a:bodyPr wrap="square" rtlCol="0" anchor="t"/>
          <a:lstStyle/>
          <a:p>
            <a:pPr indent="0" marL="0">
              <a:lnSpc>
                <a:spcPts val="1568"/>
              </a:lnSpc>
              <a:buNone/>
            </a:pPr>
            <a:r>
              <a:rPr lang="en-US" sz="980" dirty="0">
                <a:solidFill>
                  <a:srgbClr val="000000"/>
                </a:solidFill>
                <a:latin typeface="Source Sans Pro" pitchFamily="34" charset="0"/>
                <a:ea typeface="Source Sans Pro" pitchFamily="34" charset="-122"/>
                <a:cs typeface="Source Sans Pro" pitchFamily="34" charset="-120"/>
              </a:rPr>
              <a:t>Personality questionnaire (BFQ).</a:t>
            </a:r>
            <a:endParaRPr lang="en-US" sz="980" dirty="0"/>
          </a:p>
        </p:txBody>
      </p:sp>
      <p:sp>
        <p:nvSpPr>
          <p:cNvPr id="38" name="Text 35"/>
          <p:cNvSpPr/>
          <p:nvPr/>
        </p:nvSpPr>
        <p:spPr>
          <a:xfrm>
            <a:off x="7474506" y="9223772"/>
            <a:ext cx="1411367" cy="1592580"/>
          </a:xfrm>
          <a:prstGeom prst="rect">
            <a:avLst/>
          </a:prstGeom>
          <a:noFill/>
          <a:ln/>
        </p:spPr>
        <p:txBody>
          <a:bodyPr wrap="square" rtlCol="0" anchor="t"/>
          <a:lstStyle/>
          <a:p>
            <a:pPr indent="0" marL="0">
              <a:lnSpc>
                <a:spcPts val="1568"/>
              </a:lnSpc>
              <a:buNone/>
            </a:pPr>
            <a:r>
              <a:rPr lang="en-US" sz="980" dirty="0">
                <a:solidFill>
                  <a:srgbClr val="000000"/>
                </a:solidFill>
                <a:latin typeface="Source Sans Pro" pitchFamily="34" charset="0"/>
                <a:ea typeface="Source Sans Pro" pitchFamily="34" charset="-122"/>
                <a:cs typeface="Source Sans Pro" pitchFamily="34" charset="-120"/>
              </a:rPr>
              <a:t>Analyzed data from 78 participants, examining differences in features like pressure, speed, and spacing between individuals scoring low, typical, and high on BFQ dimensions.</a:t>
            </a:r>
            <a:endParaRPr lang="en-US" sz="980" dirty="0"/>
          </a:p>
        </p:txBody>
      </p:sp>
      <p:sp>
        <p:nvSpPr>
          <p:cNvPr id="39" name="Text 36"/>
          <p:cNvSpPr/>
          <p:nvPr/>
        </p:nvSpPr>
        <p:spPr>
          <a:xfrm>
            <a:off x="9204484" y="9223772"/>
            <a:ext cx="1431846" cy="1393508"/>
          </a:xfrm>
          <a:prstGeom prst="rect">
            <a:avLst/>
          </a:prstGeom>
          <a:noFill/>
          <a:ln/>
        </p:spPr>
        <p:txBody>
          <a:bodyPr wrap="square" rtlCol="0" anchor="t"/>
          <a:lstStyle/>
          <a:p>
            <a:pPr indent="0" marL="0">
              <a:lnSpc>
                <a:spcPts val="1568"/>
              </a:lnSpc>
              <a:buNone/>
            </a:pPr>
            <a:r>
              <a:rPr lang="en-US" sz="980" dirty="0">
                <a:solidFill>
                  <a:srgbClr val="000000"/>
                </a:solidFill>
                <a:latin typeface="Source Sans Pro" pitchFamily="34" charset="0"/>
                <a:ea typeface="Source Sans Pro" pitchFamily="34" charset="-122"/>
                <a:cs typeface="Source Sans Pro" pitchFamily="34" charset="-120"/>
              </a:rPr>
              <a:t>Found significant differences in handwriting features across BFQ dimensions, suggesting a connection between graphology and personality measurement.</a:t>
            </a:r>
            <a:endParaRPr lang="en-US" sz="980" dirty="0"/>
          </a:p>
        </p:txBody>
      </p:sp>
      <p:pic>
        <p:nvPicPr>
          <p:cNvPr id="40" name="Image 1" descr="preencoded.png">
            <a:hlinkClick r:id="rId3" tooltip=""/>
          </p:cNvPr>
          <p:cNvPicPr>
            <a:picLocks noChangeAspect="1"/>
          </p:cNvPicPr>
          <p:nvPr/>
        </p:nvPicPr>
        <p:blipFill>
          <a:blip r:embed="rId2"/>
          <a:stretch>
            <a:fillRect/>
          </a:stretch>
        </p:blipFill>
        <p:spPr>
          <a:xfrm>
            <a:off x="12242153" y="7589520"/>
            <a:ext cx="2296807" cy="5486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5" name="Shape 2"/>
          <p:cNvSpPr/>
          <p:nvPr/>
        </p:nvSpPr>
        <p:spPr>
          <a:xfrm>
            <a:off x="0" y="0"/>
            <a:ext cx="14630400" cy="8229600"/>
          </a:xfrm>
          <a:prstGeom prst="rect">
            <a:avLst/>
          </a:prstGeom>
          <a:solidFill>
            <a:srgbClr val="FEF5E7">
              <a:alpha val="85000"/>
            </a:srgbClr>
          </a:solidFill>
          <a:ln/>
        </p:spPr>
      </p:sp>
      <p:sp>
        <p:nvSpPr>
          <p:cNvPr id="6" name="Text 3"/>
          <p:cNvSpPr/>
          <p:nvPr/>
        </p:nvSpPr>
        <p:spPr>
          <a:xfrm>
            <a:off x="2348389" y="1529239"/>
            <a:ext cx="7302222" cy="694373"/>
          </a:xfrm>
          <a:prstGeom prst="rect">
            <a:avLst/>
          </a:prstGeom>
          <a:noFill/>
          <a:ln/>
        </p:spPr>
        <p:txBody>
          <a:bodyPr wrap="none" rtlCol="0" anchor="t"/>
          <a:lstStyle/>
          <a:p>
            <a:pPr indent="0" marL="0">
              <a:lnSpc>
                <a:spcPts val="5468"/>
              </a:lnSpc>
              <a:buNone/>
            </a:pPr>
            <a:r>
              <a:rPr lang="en-US" sz="4374" dirty="0">
                <a:solidFill>
                  <a:srgbClr val="38512F"/>
                </a:solidFill>
                <a:latin typeface="Lora" pitchFamily="34" charset="0"/>
                <a:ea typeface="Lora" pitchFamily="34" charset="-122"/>
                <a:cs typeface="Lora" pitchFamily="34" charset="-120"/>
              </a:rPr>
              <a:t>Review of Related Literature</a:t>
            </a:r>
            <a:endParaRPr lang="en-US" sz="4374" dirty="0"/>
          </a:p>
        </p:txBody>
      </p:sp>
      <p:sp>
        <p:nvSpPr>
          <p:cNvPr id="7" name="Text 4"/>
          <p:cNvSpPr/>
          <p:nvPr/>
        </p:nvSpPr>
        <p:spPr>
          <a:xfrm>
            <a:off x="2348389" y="2556867"/>
            <a:ext cx="9933503" cy="355402"/>
          </a:xfrm>
          <a:prstGeom prst="rect">
            <a:avLst/>
          </a:prstGeom>
          <a:noFill/>
          <a:ln/>
        </p:spPr>
        <p:txBody>
          <a:bodyPr wrap="none" rtlCol="0" anchor="t"/>
          <a:lstStyle/>
          <a:p>
            <a:pPr indent="0" marL="0">
              <a:lnSpc>
                <a:spcPts val="2799"/>
              </a:lnSpc>
              <a:buNone/>
            </a:pPr>
            <a:endParaRPr lang="en-US" sz="1750" dirty="0"/>
          </a:p>
        </p:txBody>
      </p:sp>
      <p:pic>
        <p:nvPicPr>
          <p:cNvPr id="8" name="Image 1" descr="preencoded.png">    </p:cNvPr>
          <p:cNvPicPr>
            <a:picLocks noChangeAspect="1"/>
          </p:cNvPicPr>
          <p:nvPr/>
        </p:nvPicPr>
        <p:blipFill>
          <a:blip r:embed="rId2"/>
          <a:stretch>
            <a:fillRect/>
          </a:stretch>
        </p:blipFill>
        <p:spPr>
          <a:xfrm>
            <a:off x="2348389" y="3162181"/>
            <a:ext cx="3999548" cy="2221944"/>
          </a:xfrm>
          <a:prstGeom prst="rect">
            <a:avLst/>
          </a:prstGeom>
        </p:spPr>
      </p:pic>
      <p:sp>
        <p:nvSpPr>
          <p:cNvPr id="9" name="Text 5"/>
          <p:cNvSpPr/>
          <p:nvPr/>
        </p:nvSpPr>
        <p:spPr>
          <a:xfrm>
            <a:off x="2348389" y="5634038"/>
            <a:ext cx="9933503" cy="1066205"/>
          </a:xfrm>
          <a:prstGeom prst="rect">
            <a:avLst/>
          </a:prstGeom>
          <a:noFill/>
          <a:ln/>
        </p:spPr>
        <p:txBody>
          <a:bodyPr wrap="square" rtlCol="0" anchor="t"/>
          <a:lstStyle/>
          <a:p>
            <a:pPr indent="0" marL="0">
              <a:lnSpc>
                <a:spcPts val="2799"/>
              </a:lnSpc>
              <a:buNone/>
            </a:pPr>
            <a:r>
              <a:rPr lang="en-US" sz="1750" dirty="0">
                <a:solidFill>
                  <a:srgbClr val="3A3630"/>
                </a:solidFill>
                <a:latin typeface="Source Sans Pro" pitchFamily="34" charset="0"/>
                <a:ea typeface="Source Sans Pro" pitchFamily="34" charset="-122"/>
                <a:cs typeface="Source Sans Pro" pitchFamily="34" charset="-120"/>
              </a:rPr>
              <a:t>This review identifies essential handwriting features that correlate with emotions, guiding the selection of features for my system. The study emphasizes the importance of these characteristics in detecting emotional distress, aligning with my goal to create a reliable emotion recognition tool.</a:t>
            </a:r>
            <a:endParaRPr lang="en-US" sz="1750" dirty="0"/>
          </a:p>
        </p:txBody>
      </p:sp>
      <p:pic>
        <p:nvPicPr>
          <p:cNvPr id="10" name="Image 2" descr="preencoded.png">
            <a:hlinkClick r:id="rId4" tooltip=""/>
          </p:cNvPr>
          <p:cNvPicPr>
            <a:picLocks noChangeAspect="1"/>
          </p:cNvPicPr>
          <p:nvPr/>
        </p:nvPicPr>
        <p:blipFill>
          <a:blip r:embed="rId3"/>
          <a:stretch>
            <a:fillRect/>
          </a:stretch>
        </p:blipFill>
        <p:spPr>
          <a:xfrm>
            <a:off x="12242153" y="7589520"/>
            <a:ext cx="2296807" cy="5486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30553"/>
          </a:xfrm>
          <a:prstGeom prst="rect">
            <a:avLst/>
          </a:prstGeom>
          <a:solidFill>
            <a:srgbClr val="FEF5E7"/>
          </a:solidFill>
          <a:ln/>
        </p:spPr>
      </p:sp>
      <p:sp>
        <p:nvSpPr>
          <p:cNvPr id="4" name="Text 2"/>
          <p:cNvSpPr/>
          <p:nvPr/>
        </p:nvSpPr>
        <p:spPr>
          <a:xfrm>
            <a:off x="2989302" y="532090"/>
            <a:ext cx="4983123" cy="604838"/>
          </a:xfrm>
          <a:prstGeom prst="rect">
            <a:avLst/>
          </a:prstGeom>
          <a:noFill/>
          <a:ln/>
        </p:spPr>
        <p:txBody>
          <a:bodyPr wrap="none" rtlCol="0" anchor="t"/>
          <a:lstStyle/>
          <a:p>
            <a:pPr indent="0" marL="0">
              <a:lnSpc>
                <a:spcPts val="4762"/>
              </a:lnSpc>
              <a:buNone/>
            </a:pPr>
            <a:r>
              <a:rPr lang="en-US" sz="3810" dirty="0">
                <a:solidFill>
                  <a:srgbClr val="38512F"/>
                </a:solidFill>
                <a:latin typeface="Lora" pitchFamily="34" charset="0"/>
                <a:ea typeface="Lora" pitchFamily="34" charset="-122"/>
                <a:cs typeface="Lora" pitchFamily="34" charset="-120"/>
              </a:rPr>
              <a:t>Technical Background</a:t>
            </a:r>
            <a:endParaRPr lang="en-US" sz="3810" dirty="0"/>
          </a:p>
        </p:txBody>
      </p:sp>
      <p:sp>
        <p:nvSpPr>
          <p:cNvPr id="5" name="Text 3"/>
          <p:cNvSpPr/>
          <p:nvPr/>
        </p:nvSpPr>
        <p:spPr>
          <a:xfrm>
            <a:off x="2989302" y="1620679"/>
            <a:ext cx="1808798" cy="604838"/>
          </a:xfrm>
          <a:prstGeom prst="rect">
            <a:avLst/>
          </a:prstGeom>
          <a:noFill/>
          <a:ln/>
        </p:spPr>
        <p:txBody>
          <a:bodyPr wrap="square" rtlCol="0" anchor="t"/>
          <a:lstStyle/>
          <a:p>
            <a:pPr indent="0" marL="0">
              <a:lnSpc>
                <a:spcPts val="2381"/>
              </a:lnSpc>
              <a:buNone/>
            </a:pPr>
            <a:r>
              <a:rPr lang="en-US" sz="1905" dirty="0">
                <a:solidFill>
                  <a:srgbClr val="38512F"/>
                </a:solidFill>
                <a:latin typeface="Lora" pitchFamily="34" charset="0"/>
                <a:ea typeface="Lora" pitchFamily="34" charset="-122"/>
                <a:cs typeface="Lora" pitchFamily="34" charset="-120"/>
              </a:rPr>
              <a:t>Emotion Recognition</a:t>
            </a:r>
            <a:endParaRPr lang="en-US" sz="1905" dirty="0"/>
          </a:p>
        </p:txBody>
      </p:sp>
      <p:sp>
        <p:nvSpPr>
          <p:cNvPr id="6" name="Text 4"/>
          <p:cNvSpPr/>
          <p:nvPr/>
        </p:nvSpPr>
        <p:spPr>
          <a:xfrm>
            <a:off x="2989302" y="2418993"/>
            <a:ext cx="1808798" cy="2166938"/>
          </a:xfrm>
          <a:prstGeom prst="rect">
            <a:avLst/>
          </a:prstGeom>
          <a:noFill/>
          <a:ln/>
        </p:spPr>
        <p:txBody>
          <a:bodyPr wrap="square" rtlCol="0" anchor="t"/>
          <a:lstStyle/>
          <a:p>
            <a:pPr indent="0" marL="0">
              <a:lnSpc>
                <a:spcPts val="2438"/>
              </a:lnSpc>
              <a:buNone/>
            </a:pPr>
            <a:r>
              <a:rPr lang="en-US" sz="1524" dirty="0">
                <a:solidFill>
                  <a:srgbClr val="3A3630"/>
                </a:solidFill>
                <a:latin typeface="Source Sans Pro" pitchFamily="34" charset="0"/>
                <a:ea typeface="Source Sans Pro" pitchFamily="34" charset="-122"/>
                <a:cs typeface="Source Sans Pro" pitchFamily="34" charset="-120"/>
              </a:rPr>
              <a:t>This involves identifying and interpreting human emotions, which can be influenced by factors like knowledge and experience.</a:t>
            </a:r>
            <a:endParaRPr lang="en-US" sz="1524" dirty="0"/>
          </a:p>
        </p:txBody>
      </p:sp>
      <p:sp>
        <p:nvSpPr>
          <p:cNvPr id="7" name="Text 5"/>
          <p:cNvSpPr/>
          <p:nvPr/>
        </p:nvSpPr>
        <p:spPr>
          <a:xfrm>
            <a:off x="5277922" y="1620679"/>
            <a:ext cx="1808798" cy="604838"/>
          </a:xfrm>
          <a:prstGeom prst="rect">
            <a:avLst/>
          </a:prstGeom>
          <a:noFill/>
          <a:ln/>
        </p:spPr>
        <p:txBody>
          <a:bodyPr wrap="square" rtlCol="0" anchor="t"/>
          <a:lstStyle/>
          <a:p>
            <a:pPr indent="0" marL="0">
              <a:lnSpc>
                <a:spcPts val="2381"/>
              </a:lnSpc>
              <a:buNone/>
            </a:pPr>
            <a:r>
              <a:rPr lang="en-US" sz="1905" dirty="0">
                <a:solidFill>
                  <a:srgbClr val="38512F"/>
                </a:solidFill>
                <a:latin typeface="Lora" pitchFamily="34" charset="0"/>
                <a:ea typeface="Lora" pitchFamily="34" charset="-122"/>
                <a:cs typeface="Lora" pitchFamily="34" charset="-120"/>
              </a:rPr>
              <a:t>Handwriting Analysis</a:t>
            </a:r>
            <a:endParaRPr lang="en-US" sz="1905" dirty="0"/>
          </a:p>
        </p:txBody>
      </p:sp>
      <p:sp>
        <p:nvSpPr>
          <p:cNvPr id="8" name="Text 6"/>
          <p:cNvSpPr/>
          <p:nvPr/>
        </p:nvSpPr>
        <p:spPr>
          <a:xfrm>
            <a:off x="5277922" y="2418993"/>
            <a:ext cx="1808798" cy="2476500"/>
          </a:xfrm>
          <a:prstGeom prst="rect">
            <a:avLst/>
          </a:prstGeom>
          <a:noFill/>
          <a:ln/>
        </p:spPr>
        <p:txBody>
          <a:bodyPr wrap="square" rtlCol="0" anchor="t"/>
          <a:lstStyle/>
          <a:p>
            <a:pPr indent="0" marL="0">
              <a:lnSpc>
                <a:spcPts val="2438"/>
              </a:lnSpc>
              <a:buNone/>
            </a:pPr>
            <a:r>
              <a:rPr lang="en-US" sz="1524" dirty="0">
                <a:solidFill>
                  <a:srgbClr val="3A3630"/>
                </a:solidFill>
                <a:latin typeface="Source Sans Pro" pitchFamily="34" charset="0"/>
                <a:ea typeface="Source Sans Pro" pitchFamily="34" charset="-122"/>
                <a:cs typeface="Source Sans Pro" pitchFamily="34" charset="-120"/>
              </a:rPr>
              <a:t>This focuses on understanding personality traits and emotional states through handwriting features like slant, spacing, and letterforms.</a:t>
            </a:r>
            <a:endParaRPr lang="en-US" sz="1524" dirty="0"/>
          </a:p>
        </p:txBody>
      </p:sp>
      <p:sp>
        <p:nvSpPr>
          <p:cNvPr id="9" name="Text 7"/>
          <p:cNvSpPr/>
          <p:nvPr/>
        </p:nvSpPr>
        <p:spPr>
          <a:xfrm>
            <a:off x="7566541" y="1620679"/>
            <a:ext cx="1808798" cy="604838"/>
          </a:xfrm>
          <a:prstGeom prst="rect">
            <a:avLst/>
          </a:prstGeom>
          <a:noFill/>
          <a:ln/>
        </p:spPr>
        <p:txBody>
          <a:bodyPr wrap="square" rtlCol="0" anchor="t"/>
          <a:lstStyle/>
          <a:p>
            <a:pPr indent="0" marL="0">
              <a:lnSpc>
                <a:spcPts val="2381"/>
              </a:lnSpc>
              <a:buNone/>
            </a:pPr>
            <a:r>
              <a:rPr lang="en-US" sz="1905" dirty="0">
                <a:solidFill>
                  <a:srgbClr val="38512F"/>
                </a:solidFill>
                <a:latin typeface="Lora" pitchFamily="34" charset="0"/>
                <a:ea typeface="Lora" pitchFamily="34" charset="-122"/>
                <a:cs typeface="Lora" pitchFamily="34" charset="-120"/>
              </a:rPr>
              <a:t>Image Processing</a:t>
            </a:r>
            <a:endParaRPr lang="en-US" sz="1905" dirty="0"/>
          </a:p>
        </p:txBody>
      </p:sp>
      <p:sp>
        <p:nvSpPr>
          <p:cNvPr id="10" name="Text 8"/>
          <p:cNvSpPr/>
          <p:nvPr/>
        </p:nvSpPr>
        <p:spPr>
          <a:xfrm>
            <a:off x="7566541" y="2418993"/>
            <a:ext cx="1808798" cy="1857375"/>
          </a:xfrm>
          <a:prstGeom prst="rect">
            <a:avLst/>
          </a:prstGeom>
          <a:noFill/>
          <a:ln/>
        </p:spPr>
        <p:txBody>
          <a:bodyPr wrap="square" rtlCol="0" anchor="t"/>
          <a:lstStyle/>
          <a:p>
            <a:pPr indent="0" marL="0">
              <a:lnSpc>
                <a:spcPts val="2438"/>
              </a:lnSpc>
              <a:buNone/>
            </a:pPr>
            <a:r>
              <a:rPr lang="en-US" sz="1524" dirty="0">
                <a:solidFill>
                  <a:srgbClr val="3A3630"/>
                </a:solidFill>
                <a:latin typeface="Source Sans Pro" pitchFamily="34" charset="0"/>
                <a:ea typeface="Source Sans Pro" pitchFamily="34" charset="-122"/>
                <a:cs typeface="Source Sans Pro" pitchFamily="34" charset="-120"/>
              </a:rPr>
              <a:t>This involves transforming input images into output images or extracting image characteristics for further analysis.</a:t>
            </a:r>
            <a:endParaRPr lang="en-US" sz="1524" dirty="0"/>
          </a:p>
        </p:txBody>
      </p:sp>
      <p:sp>
        <p:nvSpPr>
          <p:cNvPr id="11" name="Text 9"/>
          <p:cNvSpPr/>
          <p:nvPr/>
        </p:nvSpPr>
        <p:spPr>
          <a:xfrm>
            <a:off x="9855160" y="1620679"/>
            <a:ext cx="1808798" cy="604838"/>
          </a:xfrm>
          <a:prstGeom prst="rect">
            <a:avLst/>
          </a:prstGeom>
          <a:noFill/>
          <a:ln/>
        </p:spPr>
        <p:txBody>
          <a:bodyPr wrap="square" rtlCol="0" anchor="t"/>
          <a:lstStyle/>
          <a:p>
            <a:pPr indent="0" marL="0">
              <a:lnSpc>
                <a:spcPts val="2381"/>
              </a:lnSpc>
              <a:buNone/>
            </a:pPr>
            <a:r>
              <a:rPr lang="en-US" sz="1905" dirty="0">
                <a:solidFill>
                  <a:srgbClr val="38512F"/>
                </a:solidFill>
                <a:latin typeface="Lora" pitchFamily="34" charset="0"/>
                <a:ea typeface="Lora" pitchFamily="34" charset="-122"/>
                <a:cs typeface="Lora" pitchFamily="34" charset="-120"/>
              </a:rPr>
              <a:t>Machine Learning</a:t>
            </a:r>
            <a:endParaRPr lang="en-US" sz="1905" dirty="0"/>
          </a:p>
        </p:txBody>
      </p:sp>
      <p:sp>
        <p:nvSpPr>
          <p:cNvPr id="12" name="Text 10"/>
          <p:cNvSpPr/>
          <p:nvPr/>
        </p:nvSpPr>
        <p:spPr>
          <a:xfrm>
            <a:off x="9855160" y="2418993"/>
            <a:ext cx="1808798" cy="3095625"/>
          </a:xfrm>
          <a:prstGeom prst="rect">
            <a:avLst/>
          </a:prstGeom>
          <a:noFill/>
          <a:ln/>
        </p:spPr>
        <p:txBody>
          <a:bodyPr wrap="square" rtlCol="0" anchor="t"/>
          <a:lstStyle/>
          <a:p>
            <a:pPr indent="0" marL="0">
              <a:lnSpc>
                <a:spcPts val="2438"/>
              </a:lnSpc>
              <a:buNone/>
            </a:pPr>
            <a:r>
              <a:rPr lang="en-US" sz="1524" dirty="0">
                <a:solidFill>
                  <a:srgbClr val="3A3630"/>
                </a:solidFill>
                <a:latin typeface="Source Sans Pro" pitchFamily="34" charset="0"/>
                <a:ea typeface="Source Sans Pro" pitchFamily="34" charset="-122"/>
                <a:cs typeface="Source Sans Pro" pitchFamily="34" charset="-120"/>
              </a:rPr>
              <a:t>This branch of computer science uses existing data to make predictions about future data, employing techniques like mathematical optimization, statistics, and algorithm design.</a:t>
            </a:r>
            <a:endParaRPr lang="en-US" sz="1524" dirty="0"/>
          </a:p>
        </p:txBody>
      </p:sp>
      <p:sp>
        <p:nvSpPr>
          <p:cNvPr id="13" name="Text 11"/>
          <p:cNvSpPr/>
          <p:nvPr/>
        </p:nvSpPr>
        <p:spPr>
          <a:xfrm>
            <a:off x="2989302" y="6099810"/>
            <a:ext cx="3531275" cy="302419"/>
          </a:xfrm>
          <a:prstGeom prst="rect">
            <a:avLst/>
          </a:prstGeom>
          <a:noFill/>
          <a:ln/>
        </p:spPr>
        <p:txBody>
          <a:bodyPr wrap="none" rtlCol="0" anchor="t"/>
          <a:lstStyle/>
          <a:p>
            <a:pPr indent="0" marL="0">
              <a:lnSpc>
                <a:spcPts val="2381"/>
              </a:lnSpc>
              <a:buNone/>
            </a:pPr>
            <a:r>
              <a:rPr lang="en-US" sz="1905" dirty="0">
                <a:solidFill>
                  <a:srgbClr val="38512F"/>
                </a:solidFill>
                <a:latin typeface="Lora" pitchFamily="34" charset="0"/>
                <a:ea typeface="Lora" pitchFamily="34" charset="-122"/>
                <a:cs typeface="Lora" pitchFamily="34" charset="-120"/>
              </a:rPr>
              <a:t>Convolutional Neural Networks</a:t>
            </a:r>
            <a:endParaRPr lang="en-US" sz="1905" dirty="0"/>
          </a:p>
        </p:txBody>
      </p:sp>
      <p:sp>
        <p:nvSpPr>
          <p:cNvPr id="14" name="Text 12"/>
          <p:cNvSpPr/>
          <p:nvPr/>
        </p:nvSpPr>
        <p:spPr>
          <a:xfrm>
            <a:off x="2989302" y="6595705"/>
            <a:ext cx="4089797" cy="928687"/>
          </a:xfrm>
          <a:prstGeom prst="rect">
            <a:avLst/>
          </a:prstGeom>
          <a:noFill/>
          <a:ln/>
        </p:spPr>
        <p:txBody>
          <a:bodyPr wrap="square" rtlCol="0" anchor="t"/>
          <a:lstStyle/>
          <a:p>
            <a:pPr indent="0" marL="0">
              <a:lnSpc>
                <a:spcPts val="2438"/>
              </a:lnSpc>
              <a:buNone/>
            </a:pPr>
            <a:r>
              <a:rPr lang="en-US" sz="1524" dirty="0">
                <a:solidFill>
                  <a:srgbClr val="3A3630"/>
                </a:solidFill>
                <a:latin typeface="Source Sans Pro" pitchFamily="34" charset="0"/>
                <a:ea typeface="Source Sans Pro" pitchFamily="34" charset="-122"/>
                <a:cs typeface="Source Sans Pro" pitchFamily="34" charset="-120"/>
              </a:rPr>
              <a:t>These are deep learning algorithms specifically designed for image processing and recognition tasks.</a:t>
            </a:r>
            <a:endParaRPr lang="en-US" sz="1524" dirty="0"/>
          </a:p>
        </p:txBody>
      </p:sp>
      <p:sp>
        <p:nvSpPr>
          <p:cNvPr id="15" name="Text 13"/>
          <p:cNvSpPr/>
          <p:nvPr/>
        </p:nvSpPr>
        <p:spPr>
          <a:xfrm>
            <a:off x="7558921" y="6099810"/>
            <a:ext cx="2605445" cy="302419"/>
          </a:xfrm>
          <a:prstGeom prst="rect">
            <a:avLst/>
          </a:prstGeom>
          <a:noFill/>
          <a:ln/>
        </p:spPr>
        <p:txBody>
          <a:bodyPr wrap="none" rtlCol="0" anchor="t"/>
          <a:lstStyle/>
          <a:p>
            <a:pPr indent="0" marL="0">
              <a:lnSpc>
                <a:spcPts val="2381"/>
              </a:lnSpc>
              <a:buNone/>
            </a:pPr>
            <a:r>
              <a:rPr lang="en-US" sz="1905" dirty="0">
                <a:solidFill>
                  <a:srgbClr val="38512F"/>
                </a:solidFill>
                <a:latin typeface="Lora" pitchFamily="34" charset="0"/>
                <a:ea typeface="Lora" pitchFamily="34" charset="-122"/>
                <a:cs typeface="Lora" pitchFamily="34" charset="-120"/>
              </a:rPr>
              <a:t>Hidden Markov Models</a:t>
            </a:r>
            <a:endParaRPr lang="en-US" sz="1905" dirty="0"/>
          </a:p>
        </p:txBody>
      </p:sp>
      <p:sp>
        <p:nvSpPr>
          <p:cNvPr id="16" name="Text 14"/>
          <p:cNvSpPr/>
          <p:nvPr/>
        </p:nvSpPr>
        <p:spPr>
          <a:xfrm>
            <a:off x="7558921" y="6595705"/>
            <a:ext cx="4089797" cy="928687"/>
          </a:xfrm>
          <a:prstGeom prst="rect">
            <a:avLst/>
          </a:prstGeom>
          <a:noFill/>
          <a:ln/>
        </p:spPr>
        <p:txBody>
          <a:bodyPr wrap="square" rtlCol="0" anchor="t"/>
          <a:lstStyle/>
          <a:p>
            <a:pPr indent="0" marL="0">
              <a:lnSpc>
                <a:spcPts val="2438"/>
              </a:lnSpc>
              <a:buNone/>
            </a:pPr>
            <a:r>
              <a:rPr lang="en-US" sz="1524" dirty="0">
                <a:solidFill>
                  <a:srgbClr val="3A3630"/>
                </a:solidFill>
                <a:latin typeface="Source Sans Pro" pitchFamily="34" charset="0"/>
                <a:ea typeface="Source Sans Pro" pitchFamily="34" charset="-122"/>
                <a:cs typeface="Source Sans Pro" pitchFamily="34" charset="-120"/>
              </a:rPr>
              <a:t>These model the relationship between hidden states and observations using transition and emission probabilities.</a:t>
            </a:r>
            <a:endParaRPr lang="en-US" sz="1524" dirty="0"/>
          </a:p>
        </p:txBody>
      </p:sp>
      <p:pic>
        <p:nvPicPr>
          <p:cNvPr id="17" name="Image 0" descr="preencoded.png">
            <a:hlinkClick r:id="rId2" tooltip=""/>
          </p:cNvPr>
          <p:cNvPicPr>
            <a:picLocks noChangeAspect="1"/>
          </p:cNvPicPr>
          <p:nvPr/>
        </p:nvPicPr>
        <p:blipFill>
          <a:blip r:embed="rId1"/>
          <a:stretch>
            <a:fillRect/>
          </a:stretch>
        </p:blipFill>
        <p:spPr>
          <a:xfrm>
            <a:off x="12242153" y="7589520"/>
            <a:ext cx="2296807" cy="5486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sp>
        <p:nvSpPr>
          <p:cNvPr id="4" name="Text 2"/>
          <p:cNvSpPr/>
          <p:nvPr/>
        </p:nvSpPr>
        <p:spPr>
          <a:xfrm>
            <a:off x="2348389" y="1998821"/>
            <a:ext cx="5721548" cy="694373"/>
          </a:xfrm>
          <a:prstGeom prst="rect">
            <a:avLst/>
          </a:prstGeom>
          <a:noFill/>
          <a:ln/>
        </p:spPr>
        <p:txBody>
          <a:bodyPr wrap="none" rtlCol="0" anchor="t"/>
          <a:lstStyle/>
          <a:p>
            <a:pPr indent="0" marL="0">
              <a:lnSpc>
                <a:spcPts val="5468"/>
              </a:lnSpc>
              <a:buNone/>
            </a:pPr>
            <a:r>
              <a:rPr lang="en-US" sz="4374" dirty="0">
                <a:solidFill>
                  <a:srgbClr val="38512F"/>
                </a:solidFill>
                <a:latin typeface="Lora" pitchFamily="34" charset="0"/>
                <a:ea typeface="Lora" pitchFamily="34" charset="-122"/>
                <a:cs typeface="Lora" pitchFamily="34" charset="-120"/>
              </a:rPr>
              <a:t>Technical Background</a:t>
            </a:r>
            <a:endParaRPr lang="en-US" sz="4374" dirty="0"/>
          </a:p>
        </p:txBody>
      </p:sp>
      <p:sp>
        <p:nvSpPr>
          <p:cNvPr id="5" name="Text 3"/>
          <p:cNvSpPr/>
          <p:nvPr/>
        </p:nvSpPr>
        <p:spPr>
          <a:xfrm>
            <a:off x="2348389" y="3137535"/>
            <a:ext cx="9933503" cy="1777008"/>
          </a:xfrm>
          <a:prstGeom prst="rect">
            <a:avLst/>
          </a:prstGeom>
          <a:noFill/>
          <a:ln/>
        </p:spPr>
        <p:txBody>
          <a:bodyPr wrap="square" rtlCol="0" anchor="t"/>
          <a:lstStyle/>
          <a:p>
            <a:pPr indent="0" marL="0">
              <a:lnSpc>
                <a:spcPts val="2799"/>
              </a:lnSpc>
              <a:buNone/>
            </a:pPr>
            <a:r>
              <a:rPr lang="en-US" sz="1750" dirty="0">
                <a:solidFill>
                  <a:srgbClr val="3A3630"/>
                </a:solidFill>
                <a:latin typeface="Source Sans Pro" pitchFamily="34" charset="0"/>
                <a:ea typeface="Source Sans Pro" pitchFamily="34" charset="-122"/>
                <a:cs typeface="Source Sans Pro" pitchFamily="34" charset="-120"/>
              </a:rPr>
              <a:t>The research will be conducted in a controlled university setting, with adult participants within a specific age range (21-32 years old) to reduce variability due to age differences. The number of participants will be based on similar studies like the EMOTHAW database, which had 129 participants. Participants will provide informed consent, complete assessment questionnaires to evaluate their emotional states, and capture handwriting data using A4 bond paper and a 0.3 black pen.</a:t>
            </a:r>
            <a:endParaRPr lang="en-US" sz="1750" dirty="0"/>
          </a:p>
        </p:txBody>
      </p:sp>
      <p:sp>
        <p:nvSpPr>
          <p:cNvPr id="6" name="Text 4"/>
          <p:cNvSpPr/>
          <p:nvPr/>
        </p:nvSpPr>
        <p:spPr>
          <a:xfrm>
            <a:off x="2348389" y="5164455"/>
            <a:ext cx="9933503" cy="1066205"/>
          </a:xfrm>
          <a:prstGeom prst="rect">
            <a:avLst/>
          </a:prstGeom>
          <a:noFill/>
          <a:ln/>
        </p:spPr>
        <p:txBody>
          <a:bodyPr wrap="square" rtlCol="0" anchor="t"/>
          <a:lstStyle/>
          <a:p>
            <a:pPr indent="0" marL="0">
              <a:lnSpc>
                <a:spcPts val="2799"/>
              </a:lnSpc>
              <a:buNone/>
            </a:pPr>
            <a:r>
              <a:rPr lang="en-US" sz="1750" dirty="0">
                <a:solidFill>
                  <a:srgbClr val="3A3630"/>
                </a:solidFill>
                <a:latin typeface="Source Sans Pro" pitchFamily="34" charset="0"/>
                <a:ea typeface="Source Sans Pro" pitchFamily="34" charset="-122"/>
                <a:cs typeface="Source Sans Pro" pitchFamily="34" charset="-120"/>
              </a:rPr>
              <a:t>The handwriting data will be preprocessed, filtered, and relevant features like timing-based and ductus-based features will be extracted. The data will be labeled with the corresponding emotional states based on the results verified by a psychologist.</a:t>
            </a:r>
            <a:endParaRPr lang="en-US" sz="1750" dirty="0"/>
          </a:p>
        </p:txBody>
      </p:sp>
      <p:pic>
        <p:nvPicPr>
          <p:cNvPr id="7" name="Image 0" descr="preencoded.png">
            <a:hlinkClick r:id="rId2" tooltip=""/>
          </p:cNvPr>
          <p:cNvPicPr>
            <a:picLocks noChangeAspect="1"/>
          </p:cNvPicPr>
          <p:nvPr/>
        </p:nvPicPr>
        <p:blipFill>
          <a:blip r:embed="rId1"/>
          <a:stretch>
            <a:fillRect/>
          </a:stretch>
        </p:blipFill>
        <p:spPr>
          <a:xfrm>
            <a:off x="12242153" y="7589520"/>
            <a:ext cx="2296807" cy="5486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31386"/>
          </a:xfrm>
          <a:prstGeom prst="rect">
            <a:avLst/>
          </a:prstGeom>
          <a:solidFill>
            <a:srgbClr val="FEF5E7"/>
          </a:solidFill>
          <a:ln/>
        </p:spPr>
      </p:sp>
      <p:sp>
        <p:nvSpPr>
          <p:cNvPr id="4" name="Text 2"/>
          <p:cNvSpPr/>
          <p:nvPr/>
        </p:nvSpPr>
        <p:spPr>
          <a:xfrm>
            <a:off x="2613898" y="578287"/>
            <a:ext cx="5257919" cy="657225"/>
          </a:xfrm>
          <a:prstGeom prst="rect">
            <a:avLst/>
          </a:prstGeom>
          <a:noFill/>
          <a:ln/>
        </p:spPr>
        <p:txBody>
          <a:bodyPr wrap="none" rtlCol="0" anchor="t"/>
          <a:lstStyle/>
          <a:p>
            <a:pPr indent="0" marL="0">
              <a:lnSpc>
                <a:spcPts val="5175"/>
              </a:lnSpc>
              <a:buNone/>
            </a:pPr>
            <a:r>
              <a:rPr lang="en-US" sz="4140" dirty="0">
                <a:solidFill>
                  <a:srgbClr val="38512F"/>
                </a:solidFill>
                <a:latin typeface="Lora" pitchFamily="34" charset="0"/>
                <a:ea typeface="Lora" pitchFamily="34" charset="-122"/>
                <a:cs typeface="Lora" pitchFamily="34" charset="-120"/>
              </a:rPr>
              <a:t>Research Procedure</a:t>
            </a:r>
            <a:endParaRPr lang="en-US" sz="4140" dirty="0"/>
          </a:p>
        </p:txBody>
      </p:sp>
      <p:sp>
        <p:nvSpPr>
          <p:cNvPr id="5" name="Shape 3"/>
          <p:cNvSpPr/>
          <p:nvPr/>
        </p:nvSpPr>
        <p:spPr>
          <a:xfrm>
            <a:off x="7301984" y="1656040"/>
            <a:ext cx="26194" cy="5997059"/>
          </a:xfrm>
          <a:prstGeom prst="rect">
            <a:avLst/>
          </a:prstGeom>
          <a:solidFill>
            <a:srgbClr val="38512F"/>
          </a:solidFill>
          <a:ln/>
        </p:spPr>
      </p:sp>
      <p:sp>
        <p:nvSpPr>
          <p:cNvPr id="6" name="Shape 4"/>
          <p:cNvSpPr/>
          <p:nvPr/>
        </p:nvSpPr>
        <p:spPr>
          <a:xfrm>
            <a:off x="6342459" y="2043827"/>
            <a:ext cx="736044" cy="26194"/>
          </a:xfrm>
          <a:prstGeom prst="rect">
            <a:avLst/>
          </a:prstGeom>
          <a:solidFill>
            <a:srgbClr val="38512F"/>
          </a:solidFill>
          <a:ln/>
        </p:spPr>
      </p:sp>
      <p:sp>
        <p:nvSpPr>
          <p:cNvPr id="7" name="Shape 5"/>
          <p:cNvSpPr/>
          <p:nvPr/>
        </p:nvSpPr>
        <p:spPr>
          <a:xfrm>
            <a:off x="7078504" y="1820347"/>
            <a:ext cx="473154" cy="473154"/>
          </a:xfrm>
          <a:prstGeom prst="roundRect">
            <a:avLst>
              <a:gd name="adj" fmla="val 13335"/>
            </a:avLst>
          </a:prstGeom>
          <a:solidFill>
            <a:srgbClr val="F6E9D5"/>
          </a:solidFill>
          <a:ln/>
        </p:spPr>
      </p:sp>
      <p:sp>
        <p:nvSpPr>
          <p:cNvPr id="8" name="Text 6"/>
          <p:cNvSpPr/>
          <p:nvPr/>
        </p:nvSpPr>
        <p:spPr>
          <a:xfrm>
            <a:off x="7257574" y="1859756"/>
            <a:ext cx="114895" cy="394335"/>
          </a:xfrm>
          <a:prstGeom prst="rect">
            <a:avLst/>
          </a:prstGeom>
          <a:noFill/>
          <a:ln/>
        </p:spPr>
        <p:txBody>
          <a:bodyPr wrap="none" rtlCol="0" anchor="t"/>
          <a:lstStyle/>
          <a:p>
            <a:pPr algn="ctr" indent="0" marL="0">
              <a:lnSpc>
                <a:spcPts val="3105"/>
              </a:lnSpc>
              <a:buNone/>
            </a:pPr>
            <a:r>
              <a:rPr lang="en-US" sz="2484" dirty="0">
                <a:solidFill>
                  <a:srgbClr val="38512F"/>
                </a:solidFill>
                <a:latin typeface="Lora" pitchFamily="34" charset="0"/>
                <a:ea typeface="Lora" pitchFamily="34" charset="-122"/>
                <a:cs typeface="Lora" pitchFamily="34" charset="-120"/>
              </a:rPr>
              <a:t>1</a:t>
            </a:r>
            <a:endParaRPr lang="en-US" sz="2484" dirty="0"/>
          </a:p>
        </p:txBody>
      </p:sp>
      <p:sp>
        <p:nvSpPr>
          <p:cNvPr id="9" name="Text 7"/>
          <p:cNvSpPr/>
          <p:nvPr/>
        </p:nvSpPr>
        <p:spPr>
          <a:xfrm>
            <a:off x="3529489" y="1866305"/>
            <a:ext cx="2628900" cy="328613"/>
          </a:xfrm>
          <a:prstGeom prst="rect">
            <a:avLst/>
          </a:prstGeom>
          <a:noFill/>
          <a:ln/>
        </p:spPr>
        <p:txBody>
          <a:bodyPr wrap="none" rtlCol="0" anchor="t"/>
          <a:lstStyle/>
          <a:p>
            <a:pPr algn="r" indent="0" marL="0">
              <a:lnSpc>
                <a:spcPts val="2588"/>
              </a:lnSpc>
              <a:buNone/>
            </a:pPr>
            <a:r>
              <a:rPr lang="en-US" sz="2070" dirty="0">
                <a:solidFill>
                  <a:srgbClr val="38512F"/>
                </a:solidFill>
                <a:latin typeface="Lora" pitchFamily="34" charset="0"/>
                <a:ea typeface="Lora" pitchFamily="34" charset="-122"/>
                <a:cs typeface="Lora" pitchFamily="34" charset="-120"/>
              </a:rPr>
              <a:t>Data Collection</a:t>
            </a:r>
            <a:endParaRPr lang="en-US" sz="2070" dirty="0"/>
          </a:p>
        </p:txBody>
      </p:sp>
      <p:sp>
        <p:nvSpPr>
          <p:cNvPr id="10" name="Text 8"/>
          <p:cNvSpPr/>
          <p:nvPr/>
        </p:nvSpPr>
        <p:spPr>
          <a:xfrm>
            <a:off x="2613898" y="2321004"/>
            <a:ext cx="3544491" cy="2018109"/>
          </a:xfrm>
          <a:prstGeom prst="rect">
            <a:avLst/>
          </a:prstGeom>
          <a:noFill/>
          <a:ln/>
        </p:spPr>
        <p:txBody>
          <a:bodyPr wrap="square" rtlCol="0" anchor="t"/>
          <a:lstStyle/>
          <a:p>
            <a:pPr algn="r" indent="0" marL="0">
              <a:lnSpc>
                <a:spcPts val="2650"/>
              </a:lnSpc>
              <a:buNone/>
            </a:pPr>
            <a:r>
              <a:rPr lang="en-US" sz="1656" dirty="0">
                <a:solidFill>
                  <a:srgbClr val="3A3630"/>
                </a:solidFill>
                <a:latin typeface="Source Sans Pro" pitchFamily="34" charset="0"/>
                <a:ea typeface="Source Sans Pro" pitchFamily="34" charset="-122"/>
                <a:cs typeface="Source Sans Pro" pitchFamily="34" charset="-120"/>
              </a:rPr>
              <a:t>The first step is to collect the necessary data for the study. This will involve gathering image samples from various sources, ensuring a diverse and representative dataset that captures the range of emotions to be analyzed.</a:t>
            </a:r>
            <a:endParaRPr lang="en-US" sz="1656" dirty="0"/>
          </a:p>
        </p:txBody>
      </p:sp>
      <p:sp>
        <p:nvSpPr>
          <p:cNvPr id="11" name="Shape 9"/>
          <p:cNvSpPr/>
          <p:nvPr/>
        </p:nvSpPr>
        <p:spPr>
          <a:xfrm>
            <a:off x="7551658" y="3095268"/>
            <a:ext cx="736044" cy="26194"/>
          </a:xfrm>
          <a:prstGeom prst="rect">
            <a:avLst/>
          </a:prstGeom>
          <a:solidFill>
            <a:srgbClr val="38512F"/>
          </a:solidFill>
          <a:ln/>
        </p:spPr>
      </p:sp>
      <p:sp>
        <p:nvSpPr>
          <p:cNvPr id="12" name="Shape 10"/>
          <p:cNvSpPr/>
          <p:nvPr/>
        </p:nvSpPr>
        <p:spPr>
          <a:xfrm>
            <a:off x="7078504" y="2871788"/>
            <a:ext cx="473154" cy="473154"/>
          </a:xfrm>
          <a:prstGeom prst="roundRect">
            <a:avLst>
              <a:gd name="adj" fmla="val 13335"/>
            </a:avLst>
          </a:prstGeom>
          <a:solidFill>
            <a:srgbClr val="F6E9D5"/>
          </a:solidFill>
          <a:ln/>
        </p:spPr>
      </p:sp>
      <p:sp>
        <p:nvSpPr>
          <p:cNvPr id="13" name="Text 11"/>
          <p:cNvSpPr/>
          <p:nvPr/>
        </p:nvSpPr>
        <p:spPr>
          <a:xfrm>
            <a:off x="7230308" y="2911197"/>
            <a:ext cx="169426" cy="394335"/>
          </a:xfrm>
          <a:prstGeom prst="rect">
            <a:avLst/>
          </a:prstGeom>
          <a:noFill/>
          <a:ln/>
        </p:spPr>
        <p:txBody>
          <a:bodyPr wrap="none" rtlCol="0" anchor="t"/>
          <a:lstStyle/>
          <a:p>
            <a:pPr algn="ctr" indent="0" marL="0">
              <a:lnSpc>
                <a:spcPts val="3105"/>
              </a:lnSpc>
              <a:buNone/>
            </a:pPr>
            <a:r>
              <a:rPr lang="en-US" sz="2484" dirty="0">
                <a:solidFill>
                  <a:srgbClr val="38512F"/>
                </a:solidFill>
                <a:latin typeface="Lora" pitchFamily="34" charset="0"/>
                <a:ea typeface="Lora" pitchFamily="34" charset="-122"/>
                <a:cs typeface="Lora" pitchFamily="34" charset="-120"/>
              </a:rPr>
              <a:t>2</a:t>
            </a:r>
            <a:endParaRPr lang="en-US" sz="2484" dirty="0"/>
          </a:p>
        </p:txBody>
      </p:sp>
      <p:sp>
        <p:nvSpPr>
          <p:cNvPr id="14" name="Text 12"/>
          <p:cNvSpPr/>
          <p:nvPr/>
        </p:nvSpPr>
        <p:spPr>
          <a:xfrm>
            <a:off x="8471773" y="2917746"/>
            <a:ext cx="2628900" cy="328613"/>
          </a:xfrm>
          <a:prstGeom prst="rect">
            <a:avLst/>
          </a:prstGeom>
          <a:noFill/>
          <a:ln/>
        </p:spPr>
        <p:txBody>
          <a:bodyPr wrap="none" rtlCol="0" anchor="t"/>
          <a:lstStyle/>
          <a:p>
            <a:pPr algn="l" indent="0" marL="0">
              <a:lnSpc>
                <a:spcPts val="2588"/>
              </a:lnSpc>
              <a:buNone/>
            </a:pPr>
            <a:r>
              <a:rPr lang="en-US" sz="2070" dirty="0">
                <a:solidFill>
                  <a:srgbClr val="38512F"/>
                </a:solidFill>
                <a:latin typeface="Lora" pitchFamily="34" charset="0"/>
                <a:ea typeface="Lora" pitchFamily="34" charset="-122"/>
                <a:cs typeface="Lora" pitchFamily="34" charset="-120"/>
              </a:rPr>
              <a:t>Data Preprocessing</a:t>
            </a:r>
            <a:endParaRPr lang="en-US" sz="2070" dirty="0"/>
          </a:p>
        </p:txBody>
      </p:sp>
      <p:sp>
        <p:nvSpPr>
          <p:cNvPr id="15" name="Text 13"/>
          <p:cNvSpPr/>
          <p:nvPr/>
        </p:nvSpPr>
        <p:spPr>
          <a:xfrm>
            <a:off x="8471773" y="3372445"/>
            <a:ext cx="3544610" cy="2018109"/>
          </a:xfrm>
          <a:prstGeom prst="rect">
            <a:avLst/>
          </a:prstGeom>
          <a:noFill/>
          <a:ln/>
        </p:spPr>
        <p:txBody>
          <a:bodyPr wrap="square" rtlCol="0" anchor="t"/>
          <a:lstStyle/>
          <a:p>
            <a:pPr algn="l" indent="0" marL="0">
              <a:lnSpc>
                <a:spcPts val="2650"/>
              </a:lnSpc>
              <a:buNone/>
            </a:pPr>
            <a:r>
              <a:rPr lang="en-US" sz="1656" dirty="0">
                <a:solidFill>
                  <a:srgbClr val="3A3630"/>
                </a:solidFill>
                <a:latin typeface="Source Sans Pro" pitchFamily="34" charset="0"/>
                <a:ea typeface="Source Sans Pro" pitchFamily="34" charset="-122"/>
                <a:cs typeface="Source Sans Pro" pitchFamily="34" charset="-120"/>
              </a:rPr>
              <a:t>Once the data is collected, it will undergo a series of preprocessing steps, including image normalization, noise reduction, and other techniques to enhance the quality and consistency of the dataset.</a:t>
            </a:r>
            <a:endParaRPr lang="en-US" sz="1656" dirty="0"/>
          </a:p>
        </p:txBody>
      </p:sp>
      <p:sp>
        <p:nvSpPr>
          <p:cNvPr id="16" name="Shape 14"/>
          <p:cNvSpPr/>
          <p:nvPr/>
        </p:nvSpPr>
        <p:spPr>
          <a:xfrm>
            <a:off x="6342459" y="5147429"/>
            <a:ext cx="736044" cy="26194"/>
          </a:xfrm>
          <a:prstGeom prst="rect">
            <a:avLst/>
          </a:prstGeom>
          <a:solidFill>
            <a:srgbClr val="38512F"/>
          </a:solidFill>
          <a:ln/>
        </p:spPr>
      </p:sp>
      <p:sp>
        <p:nvSpPr>
          <p:cNvPr id="17" name="Shape 15"/>
          <p:cNvSpPr/>
          <p:nvPr/>
        </p:nvSpPr>
        <p:spPr>
          <a:xfrm>
            <a:off x="7078504" y="4923949"/>
            <a:ext cx="473154" cy="473154"/>
          </a:xfrm>
          <a:prstGeom prst="roundRect">
            <a:avLst>
              <a:gd name="adj" fmla="val 13335"/>
            </a:avLst>
          </a:prstGeom>
          <a:solidFill>
            <a:srgbClr val="F6E9D5"/>
          </a:solidFill>
          <a:ln/>
        </p:spPr>
      </p:sp>
      <p:sp>
        <p:nvSpPr>
          <p:cNvPr id="18" name="Text 16"/>
          <p:cNvSpPr/>
          <p:nvPr/>
        </p:nvSpPr>
        <p:spPr>
          <a:xfrm>
            <a:off x="7227213" y="4963358"/>
            <a:ext cx="175736" cy="394335"/>
          </a:xfrm>
          <a:prstGeom prst="rect">
            <a:avLst/>
          </a:prstGeom>
          <a:noFill/>
          <a:ln/>
        </p:spPr>
        <p:txBody>
          <a:bodyPr wrap="none" rtlCol="0" anchor="t"/>
          <a:lstStyle/>
          <a:p>
            <a:pPr algn="ctr" indent="0" marL="0">
              <a:lnSpc>
                <a:spcPts val="3105"/>
              </a:lnSpc>
              <a:buNone/>
            </a:pPr>
            <a:r>
              <a:rPr lang="en-US" sz="2484" dirty="0">
                <a:solidFill>
                  <a:srgbClr val="38512F"/>
                </a:solidFill>
                <a:latin typeface="Lora" pitchFamily="34" charset="0"/>
                <a:ea typeface="Lora" pitchFamily="34" charset="-122"/>
                <a:cs typeface="Lora" pitchFamily="34" charset="-120"/>
              </a:rPr>
              <a:t>3</a:t>
            </a:r>
            <a:endParaRPr lang="en-US" sz="2484" dirty="0"/>
          </a:p>
        </p:txBody>
      </p:sp>
      <p:sp>
        <p:nvSpPr>
          <p:cNvPr id="19" name="Text 17"/>
          <p:cNvSpPr/>
          <p:nvPr/>
        </p:nvSpPr>
        <p:spPr>
          <a:xfrm>
            <a:off x="3529489" y="4969907"/>
            <a:ext cx="2628900" cy="328613"/>
          </a:xfrm>
          <a:prstGeom prst="rect">
            <a:avLst/>
          </a:prstGeom>
          <a:noFill/>
          <a:ln/>
        </p:spPr>
        <p:txBody>
          <a:bodyPr wrap="none" rtlCol="0" anchor="t"/>
          <a:lstStyle/>
          <a:p>
            <a:pPr algn="r" indent="0" marL="0">
              <a:lnSpc>
                <a:spcPts val="2588"/>
              </a:lnSpc>
              <a:buNone/>
            </a:pPr>
            <a:r>
              <a:rPr lang="en-US" sz="2070" dirty="0">
                <a:solidFill>
                  <a:srgbClr val="38512F"/>
                </a:solidFill>
                <a:latin typeface="Lora" pitchFamily="34" charset="0"/>
                <a:ea typeface="Lora" pitchFamily="34" charset="-122"/>
                <a:cs typeface="Lora" pitchFamily="34" charset="-120"/>
              </a:rPr>
              <a:t>Feature Extraction</a:t>
            </a:r>
            <a:endParaRPr lang="en-US" sz="2070" dirty="0"/>
          </a:p>
        </p:txBody>
      </p:sp>
      <p:sp>
        <p:nvSpPr>
          <p:cNvPr id="20" name="Text 18"/>
          <p:cNvSpPr/>
          <p:nvPr/>
        </p:nvSpPr>
        <p:spPr>
          <a:xfrm>
            <a:off x="2613898" y="5424607"/>
            <a:ext cx="3544491" cy="2018109"/>
          </a:xfrm>
          <a:prstGeom prst="rect">
            <a:avLst/>
          </a:prstGeom>
          <a:noFill/>
          <a:ln/>
        </p:spPr>
        <p:txBody>
          <a:bodyPr wrap="square" rtlCol="0" anchor="t"/>
          <a:lstStyle/>
          <a:p>
            <a:pPr algn="r" indent="0" marL="0">
              <a:lnSpc>
                <a:spcPts val="2650"/>
              </a:lnSpc>
              <a:buNone/>
            </a:pPr>
            <a:r>
              <a:rPr lang="en-US" sz="1656" dirty="0">
                <a:solidFill>
                  <a:srgbClr val="3A3630"/>
                </a:solidFill>
                <a:latin typeface="Source Sans Pro" pitchFamily="34" charset="0"/>
                <a:ea typeface="Source Sans Pro" pitchFamily="34" charset="-122"/>
                <a:cs typeface="Source Sans Pro" pitchFamily="34" charset="-120"/>
              </a:rPr>
              <a:t>Using image processing techniques, we will extract relevant features from the preprocessed data, such as facial expressions, body language, and other visual cues that can be used to infer emotional states.</a:t>
            </a:r>
            <a:endParaRPr lang="en-US" sz="1656" dirty="0"/>
          </a:p>
        </p:txBody>
      </p:sp>
      <p:pic>
        <p:nvPicPr>
          <p:cNvPr id="21" name="Image 0" descr="preencoded.png">
            <a:hlinkClick r:id="rId2" tooltip=""/>
          </p:cNvPr>
          <p:cNvPicPr>
            <a:picLocks noChangeAspect="1"/>
          </p:cNvPicPr>
          <p:nvPr/>
        </p:nvPicPr>
        <p:blipFill>
          <a:blip r:embed="rId1"/>
          <a:stretch>
            <a:fillRect/>
          </a:stretch>
        </p:blipFill>
        <p:spPr>
          <a:xfrm>
            <a:off x="12242153" y="7589520"/>
            <a:ext cx="2296807" cy="5486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sp>
        <p:nvSpPr>
          <p:cNvPr id="4" name="Text 2"/>
          <p:cNvSpPr/>
          <p:nvPr/>
        </p:nvSpPr>
        <p:spPr>
          <a:xfrm>
            <a:off x="2348389" y="2354223"/>
            <a:ext cx="5554980" cy="694373"/>
          </a:xfrm>
          <a:prstGeom prst="rect">
            <a:avLst/>
          </a:prstGeom>
          <a:noFill/>
          <a:ln/>
        </p:spPr>
        <p:txBody>
          <a:bodyPr wrap="none" rtlCol="0" anchor="t"/>
          <a:lstStyle/>
          <a:p>
            <a:pPr indent="0" marL="0">
              <a:lnSpc>
                <a:spcPts val="5468"/>
              </a:lnSpc>
              <a:buNone/>
            </a:pPr>
            <a:r>
              <a:rPr lang="en-US" sz="4374" dirty="0">
                <a:solidFill>
                  <a:srgbClr val="38512F"/>
                </a:solidFill>
                <a:latin typeface="Lora" pitchFamily="34" charset="0"/>
                <a:ea typeface="Lora" pitchFamily="34" charset="-122"/>
                <a:cs typeface="Lora" pitchFamily="34" charset="-120"/>
              </a:rPr>
              <a:t>Concept Framework</a:t>
            </a:r>
            <a:endParaRPr lang="en-US" sz="4374" dirty="0"/>
          </a:p>
        </p:txBody>
      </p:sp>
      <p:sp>
        <p:nvSpPr>
          <p:cNvPr id="5" name="Text 3"/>
          <p:cNvSpPr/>
          <p:nvPr/>
        </p:nvSpPr>
        <p:spPr>
          <a:xfrm>
            <a:off x="2348389" y="3492937"/>
            <a:ext cx="9933503" cy="1066205"/>
          </a:xfrm>
          <a:prstGeom prst="rect">
            <a:avLst/>
          </a:prstGeom>
          <a:noFill/>
          <a:ln/>
        </p:spPr>
        <p:txBody>
          <a:bodyPr wrap="square" rtlCol="0" anchor="t"/>
          <a:lstStyle/>
          <a:p>
            <a:pPr indent="0" marL="0">
              <a:lnSpc>
                <a:spcPts val="2799"/>
              </a:lnSpc>
              <a:buNone/>
            </a:pPr>
            <a:r>
              <a:rPr lang="en-US" sz="1750" dirty="0">
                <a:solidFill>
                  <a:srgbClr val="3A3630"/>
                </a:solidFill>
                <a:latin typeface="Source Sans Pro" pitchFamily="34" charset="0"/>
                <a:ea typeface="Source Sans Pro" pitchFamily="34" charset="-122"/>
                <a:cs typeface="Source Sans Pro" pitchFamily="34" charset="-120"/>
              </a:rPr>
              <a:t>As a solo researcher, I've chosen the Agile Framework known as Kanban for its flexibility and ability to transform organizations at my own pace. This framework emphasizes system improvement, promotes self-organizing teams, and improves communication and coordination.</a:t>
            </a:r>
            <a:endParaRPr lang="en-US" sz="1750" dirty="0"/>
          </a:p>
        </p:txBody>
      </p:sp>
      <p:sp>
        <p:nvSpPr>
          <p:cNvPr id="6" name="Text 4"/>
          <p:cNvSpPr/>
          <p:nvPr/>
        </p:nvSpPr>
        <p:spPr>
          <a:xfrm>
            <a:off x="2348389" y="4809053"/>
            <a:ext cx="9933503" cy="1066205"/>
          </a:xfrm>
          <a:prstGeom prst="rect">
            <a:avLst/>
          </a:prstGeom>
          <a:noFill/>
          <a:ln/>
        </p:spPr>
        <p:txBody>
          <a:bodyPr wrap="square" rtlCol="0" anchor="t"/>
          <a:lstStyle/>
          <a:p>
            <a:pPr indent="0" marL="0">
              <a:lnSpc>
                <a:spcPts val="2799"/>
              </a:lnSpc>
              <a:buNone/>
            </a:pPr>
            <a:r>
              <a:rPr lang="en-US" sz="1750" dirty="0">
                <a:solidFill>
                  <a:srgbClr val="3A3630"/>
                </a:solidFill>
                <a:latin typeface="Source Sans Pro" pitchFamily="34" charset="0"/>
                <a:ea typeface="Source Sans Pro" pitchFamily="34" charset="-122"/>
                <a:cs typeface="Source Sans Pro" pitchFamily="34" charset="-120"/>
              </a:rPr>
              <a:t>The development of our system will follow a bottom-up approach, where progress is made by combining different elements. We'll start with data collection, preprocessing, feature extraction, and then feed these features into the CNN-HMM model for training and testing.</a:t>
            </a:r>
            <a:endParaRPr lang="en-US" sz="1750" dirty="0"/>
          </a:p>
        </p:txBody>
      </p:sp>
      <p:pic>
        <p:nvPicPr>
          <p:cNvPr id="7" name="Image 0" descr="preencoded.png">
            <a:hlinkClick r:id="rId2" tooltip=""/>
          </p:cNvPr>
          <p:cNvPicPr>
            <a:picLocks noChangeAspect="1"/>
          </p:cNvPicPr>
          <p:nvPr/>
        </p:nvPicPr>
        <p:blipFill>
          <a:blip r:embed="rId1"/>
          <a:stretch>
            <a:fillRect/>
          </a:stretch>
        </p:blipFill>
        <p:spPr>
          <a:xfrm>
            <a:off x="12242153" y="7589520"/>
            <a:ext cx="2296807" cy="5486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31862"/>
          </a:xfrm>
          <a:prstGeom prst="rect">
            <a:avLst/>
          </a:prstGeom>
          <a:solidFill>
            <a:srgbClr val="FEF5E7"/>
          </a:solidFill>
          <a:ln/>
        </p:spPr>
      </p:sp>
      <p:pic>
        <p:nvPicPr>
          <p:cNvPr id="4" name="Image 0" descr="preencoded.png">    </p:cNvPr>
          <p:cNvPicPr>
            <a:picLocks noChangeAspect="1"/>
          </p:cNvPicPr>
          <p:nvPr/>
        </p:nvPicPr>
        <p:blipFill>
          <a:blip r:embed="rId1"/>
          <a:stretch>
            <a:fillRect/>
          </a:stretch>
        </p:blipFill>
        <p:spPr>
          <a:xfrm>
            <a:off x="0" y="0"/>
            <a:ext cx="14630400" cy="2422922"/>
          </a:xfrm>
          <a:prstGeom prst="rect">
            <a:avLst/>
          </a:prstGeom>
        </p:spPr>
      </p:pic>
      <p:sp>
        <p:nvSpPr>
          <p:cNvPr id="5" name="Text 2"/>
          <p:cNvSpPr/>
          <p:nvPr/>
        </p:nvSpPr>
        <p:spPr>
          <a:xfrm>
            <a:off x="2982278" y="2955965"/>
            <a:ext cx="8005405" cy="605671"/>
          </a:xfrm>
          <a:prstGeom prst="rect">
            <a:avLst/>
          </a:prstGeom>
          <a:noFill/>
          <a:ln/>
        </p:spPr>
        <p:txBody>
          <a:bodyPr wrap="none" rtlCol="0" anchor="t"/>
          <a:lstStyle/>
          <a:p>
            <a:pPr indent="0" marL="0">
              <a:lnSpc>
                <a:spcPts val="4770"/>
              </a:lnSpc>
              <a:buNone/>
            </a:pPr>
            <a:r>
              <a:rPr lang="en-US" sz="3816" dirty="0">
                <a:solidFill>
                  <a:srgbClr val="38512F"/>
                </a:solidFill>
                <a:latin typeface="Lora" pitchFamily="34" charset="0"/>
                <a:ea typeface="Lora" pitchFamily="34" charset="-122"/>
                <a:cs typeface="Lora" pitchFamily="34" charset="-120"/>
              </a:rPr>
              <a:t>Verification, Validation, and Testing</a:t>
            </a:r>
            <a:endParaRPr lang="en-US" sz="3816" dirty="0"/>
          </a:p>
        </p:txBody>
      </p:sp>
      <p:sp>
        <p:nvSpPr>
          <p:cNvPr id="6" name="Text 3"/>
          <p:cNvSpPr/>
          <p:nvPr/>
        </p:nvSpPr>
        <p:spPr>
          <a:xfrm>
            <a:off x="2982278" y="3852386"/>
            <a:ext cx="8665726" cy="1240155"/>
          </a:xfrm>
          <a:prstGeom prst="rect">
            <a:avLst/>
          </a:prstGeom>
          <a:noFill/>
          <a:ln/>
        </p:spPr>
        <p:txBody>
          <a:bodyPr wrap="square" rtlCol="0" anchor="t"/>
          <a:lstStyle/>
          <a:p>
            <a:pPr indent="0" marL="0">
              <a:lnSpc>
                <a:spcPts val="2442"/>
              </a:lnSpc>
              <a:buNone/>
            </a:pPr>
            <a:r>
              <a:rPr lang="en-US" sz="1526" dirty="0">
                <a:solidFill>
                  <a:srgbClr val="3A3630"/>
                </a:solidFill>
                <a:latin typeface="Source Sans Pro" pitchFamily="34" charset="0"/>
                <a:ea typeface="Source Sans Pro" pitchFamily="34" charset="-122"/>
                <a:cs typeface="Source Sans Pro" pitchFamily="34" charset="-120"/>
              </a:rPr>
              <a:t>To ensure accuracy, reliability, and applicability, we'll validate and verify the system's performance using benchmarks and metrics acknowledged in previous work like EMOTHAW, TEmoDec, and others. We'll test the emotion classification accuracy on a large dataset of handwriting samples from different demographics, handwriting styles, and emotional states.</a:t>
            </a:r>
            <a:endParaRPr lang="en-US" sz="1526" dirty="0"/>
          </a:p>
        </p:txBody>
      </p:sp>
      <p:sp>
        <p:nvSpPr>
          <p:cNvPr id="7" name="Text 4"/>
          <p:cNvSpPr/>
          <p:nvPr/>
        </p:nvSpPr>
        <p:spPr>
          <a:xfrm>
            <a:off x="2982278" y="5310545"/>
            <a:ext cx="8665726" cy="930116"/>
          </a:xfrm>
          <a:prstGeom prst="rect">
            <a:avLst/>
          </a:prstGeom>
          <a:noFill/>
          <a:ln/>
        </p:spPr>
        <p:txBody>
          <a:bodyPr wrap="square" rtlCol="0" anchor="t"/>
          <a:lstStyle/>
          <a:p>
            <a:pPr indent="0" marL="0">
              <a:lnSpc>
                <a:spcPts val="2442"/>
              </a:lnSpc>
              <a:buNone/>
            </a:pPr>
            <a:r>
              <a:rPr lang="en-US" sz="1526" dirty="0">
                <a:solidFill>
                  <a:srgbClr val="3A3630"/>
                </a:solidFill>
                <a:latin typeface="Source Sans Pro" pitchFamily="34" charset="0"/>
                <a:ea typeface="Source Sans Pro" pitchFamily="34" charset="-122"/>
                <a:cs typeface="Source Sans Pro" pitchFamily="34" charset="-120"/>
              </a:rPr>
              <a:t>Additionally, we'll involve a professional psychologist to validate the psychological underpinnings and real-world applicability of the system. They'll review the emotion induction techniques, self-report measures, and assess the system's performance in recognizing emotions accurately.</a:t>
            </a:r>
            <a:endParaRPr lang="en-US" sz="1526" dirty="0"/>
          </a:p>
        </p:txBody>
      </p:sp>
      <p:sp>
        <p:nvSpPr>
          <p:cNvPr id="8" name="Text 5"/>
          <p:cNvSpPr/>
          <p:nvPr/>
        </p:nvSpPr>
        <p:spPr>
          <a:xfrm>
            <a:off x="2982278" y="6458664"/>
            <a:ext cx="8665726" cy="1240155"/>
          </a:xfrm>
          <a:prstGeom prst="rect">
            <a:avLst/>
          </a:prstGeom>
          <a:noFill/>
          <a:ln/>
        </p:spPr>
        <p:txBody>
          <a:bodyPr wrap="square" rtlCol="0" anchor="t"/>
          <a:lstStyle/>
          <a:p>
            <a:pPr indent="0" marL="0">
              <a:lnSpc>
                <a:spcPts val="2442"/>
              </a:lnSpc>
              <a:buNone/>
            </a:pPr>
            <a:r>
              <a:rPr lang="en-US" sz="1526" dirty="0">
                <a:solidFill>
                  <a:srgbClr val="3A3630"/>
                </a:solidFill>
                <a:latin typeface="Source Sans Pro" pitchFamily="34" charset="0"/>
                <a:ea typeface="Source Sans Pro" pitchFamily="34" charset="-122"/>
                <a:cs typeface="Source Sans Pro" pitchFamily="34" charset="-120"/>
              </a:rPr>
              <a:t>We'll also use stratified k-fold cross-validation to evaluate the performance of the hybrid CNN-HMM algorithm, splitting the dataset into k folds and iteratively training and testing on different folds. We'll calculate evaluation metrics like the F1-score for individual emotion classes, macro-averaged F1-score, and classification accuracy.</a:t>
            </a:r>
            <a:endParaRPr lang="en-US" sz="1526" dirty="0"/>
          </a:p>
        </p:txBody>
      </p:sp>
      <p:pic>
        <p:nvPicPr>
          <p:cNvPr id="9" name="Image 1" descr="preencoded.png">
            <a:hlinkClick r:id="rId3" tooltip=""/>
          </p:cNvPr>
          <p:cNvPicPr>
            <a:picLocks noChangeAspect="1"/>
          </p:cNvPicPr>
          <p:nvPr/>
        </p:nvPicPr>
        <p:blipFill>
          <a:blip r:embed="rId2"/>
          <a:stretch>
            <a:fillRect/>
          </a:stretch>
        </p:blipFill>
        <p:spPr>
          <a:xfrm>
            <a:off x="12242153" y="7589520"/>
            <a:ext cx="2296807" cy="548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2024-05-18T17:19:52Z</dcterms:created>
  <dcterms:modified xsi:type="dcterms:W3CDTF">2024-05-18T17:19:52Z</dcterms:modified>
</cp:coreProperties>
</file>