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76" r:id="rId2"/>
    <p:sldId id="257" r:id="rId3"/>
    <p:sldId id="292" r:id="rId4"/>
    <p:sldId id="259" r:id="rId5"/>
    <p:sldId id="260" r:id="rId6"/>
    <p:sldId id="265" r:id="rId7"/>
    <p:sldId id="261" r:id="rId8"/>
    <p:sldId id="256" r:id="rId9"/>
    <p:sldId id="284" r:id="rId10"/>
    <p:sldId id="285" r:id="rId11"/>
    <p:sldId id="264" r:id="rId12"/>
    <p:sldId id="283" r:id="rId13"/>
    <p:sldId id="267" r:id="rId14"/>
    <p:sldId id="294" r:id="rId15"/>
    <p:sldId id="268" r:id="rId16"/>
    <p:sldId id="287" r:id="rId17"/>
    <p:sldId id="272" r:id="rId18"/>
    <p:sldId id="288" r:id="rId19"/>
    <p:sldId id="289" r:id="rId20"/>
    <p:sldId id="281" r:id="rId21"/>
    <p:sldId id="273" r:id="rId22"/>
    <p:sldId id="290" r:id="rId23"/>
    <p:sldId id="295" r:id="rId24"/>
    <p:sldId id="274" r:id="rId25"/>
    <p:sldId id="29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51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47" autoAdjust="0"/>
    <p:restoredTop sz="94660"/>
  </p:normalViewPr>
  <p:slideViewPr>
    <p:cSldViewPr snapToGrid="0">
      <p:cViewPr>
        <p:scale>
          <a:sx n="54" d="100"/>
          <a:sy n="54" d="100"/>
        </p:scale>
        <p:origin x="1048" y="3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70DCB-2D2E-4F27-90A5-97ADEAB2905C}" type="datetimeFigureOut">
              <a:rPr lang="en-PH" smtClean="0"/>
              <a:t>29/05/2024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BA42F9-F015-4B20-9D99-F655AFE81F66}" type="slidenum">
              <a:rPr lang="en-PH" smtClean="0"/>
              <a:t>‹#›</a:t>
            </a:fld>
            <a:endParaRPr lang="en-PH"/>
          </a:p>
        </p:txBody>
      </p:sp>
    </p:spTree>
    <p:extLst>
      <p:ext uri="{BB962C8B-B14F-4D97-AF65-F5344CB8AC3E}">
        <p14:creationId xmlns:p14="http://schemas.microsoft.com/office/powerpoint/2010/main" val="1486281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995BC88-9FA3-4B2D-AA3F-D2A2237F5928}" type="slidenum">
              <a:rPr lang="en-PH" smtClean="0"/>
              <a:t>1</a:t>
            </a:fld>
            <a:endParaRPr lang="en-PH"/>
          </a:p>
        </p:txBody>
      </p:sp>
    </p:spTree>
    <p:extLst>
      <p:ext uri="{BB962C8B-B14F-4D97-AF65-F5344CB8AC3E}">
        <p14:creationId xmlns:p14="http://schemas.microsoft.com/office/powerpoint/2010/main" val="2002787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112499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74831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40423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03024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912616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3114136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868491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B9FCA-16A5-4DA1-9C1A-F3C63ED558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14A9727E-D4BC-45B7-BC9D-B9E6361E43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2734C779-70A2-47A9-8CF5-8C2FD21A37FA}"/>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5" name="Footer Placeholder 4">
            <a:extLst>
              <a:ext uri="{FF2B5EF4-FFF2-40B4-BE49-F238E27FC236}">
                <a16:creationId xmlns:a16="http://schemas.microsoft.com/office/drawing/2014/main" id="{CFCDC0E1-C93B-4800-8A9F-84AF48982361}"/>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26EA33C-F3FD-4A29-88CC-8E8378DD20FB}"/>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2214915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8937-7ACC-49EA-B239-3C4B2C1802BA}"/>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D8FAEEEC-E54E-46CC-BDC5-C7096E877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0B766A69-6EF4-4B04-A783-5110DC132E0D}"/>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5" name="Footer Placeholder 4">
            <a:extLst>
              <a:ext uri="{FF2B5EF4-FFF2-40B4-BE49-F238E27FC236}">
                <a16:creationId xmlns:a16="http://schemas.microsoft.com/office/drawing/2014/main" id="{118B5859-F0FE-4C6B-A88B-D789FAAAAE3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1E7ACA4-53CB-42BE-8909-E8A59CC51AC0}"/>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3107757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59799-8B09-49D0-911E-3FF596D2A3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14BD4039-DE3D-48E8-BD54-191560766C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2E2EDE-326B-416D-AD2E-F7CDD22C3F18}"/>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5" name="Footer Placeholder 4">
            <a:extLst>
              <a:ext uri="{FF2B5EF4-FFF2-40B4-BE49-F238E27FC236}">
                <a16:creationId xmlns:a16="http://schemas.microsoft.com/office/drawing/2014/main" id="{C108D918-8A8D-4C52-8D86-AE3A21F5397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D2D9E08-D0B5-46D1-A781-BE6DCAAE1750}"/>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3454551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5B187-F291-460D-ACB2-9B5E0FBD9641}"/>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690D1117-4690-4532-A3A1-9AFBAF168E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F3399584-3B98-4B97-B470-1FFDE8EF08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3A35853-0457-4C6F-BAF1-F71A0A1AB718}"/>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6" name="Footer Placeholder 5">
            <a:extLst>
              <a:ext uri="{FF2B5EF4-FFF2-40B4-BE49-F238E27FC236}">
                <a16:creationId xmlns:a16="http://schemas.microsoft.com/office/drawing/2014/main" id="{0CB454F5-1F35-4777-BE30-2A9C1A931B8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CEBF7005-2E7A-499B-BDD8-1E0270F81FC2}"/>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218844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334F6-7E07-4274-AEE5-844BD3C4A2D4}"/>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D572A58A-5800-4B37-ADC9-87C0AECDD4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0EAD9-8222-4D40-ADEA-4248C22D81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79024971-5B97-4A5B-A109-FBA9498840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9C1FA3-D6A8-4BC4-8B61-9D1059F8FA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4873E9BE-E9BF-4F90-9C3A-C18A29C504F9}"/>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8" name="Footer Placeholder 7">
            <a:extLst>
              <a:ext uri="{FF2B5EF4-FFF2-40B4-BE49-F238E27FC236}">
                <a16:creationId xmlns:a16="http://schemas.microsoft.com/office/drawing/2014/main" id="{4942DB4A-C78C-41C5-B2E3-96944670BD22}"/>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26BD947F-3F24-4024-A7C0-EEF4EB9B0A11}"/>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356394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54746-C2E8-42BB-86EE-6B7B04FA8241}"/>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F7D2D4ED-8564-49B8-B4EF-2ACFD611BE5C}"/>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4" name="Footer Placeholder 3">
            <a:extLst>
              <a:ext uri="{FF2B5EF4-FFF2-40B4-BE49-F238E27FC236}">
                <a16:creationId xmlns:a16="http://schemas.microsoft.com/office/drawing/2014/main" id="{6C80B4C6-EEF9-4958-BA98-BA947CC2184B}"/>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F72B4EEF-5E69-41BA-897B-1506A15C174C}"/>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34448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9264B9-8B8D-491A-B1D8-43C41324E05E}"/>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3" name="Footer Placeholder 2">
            <a:extLst>
              <a:ext uri="{FF2B5EF4-FFF2-40B4-BE49-F238E27FC236}">
                <a16:creationId xmlns:a16="http://schemas.microsoft.com/office/drawing/2014/main" id="{CB516B07-E734-482C-B17C-E636E663487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A7AAE005-4D62-4647-9803-F5D3C6A3156F}"/>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3457013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23DD-3ADD-4A17-8427-D8062750EB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3C23E701-68A5-41DF-8AD2-A16F15C217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805B845B-B56F-42F9-9AF3-75D4193A21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E868DD-51C6-4CEC-9945-A16D1412B17E}"/>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6" name="Footer Placeholder 5">
            <a:extLst>
              <a:ext uri="{FF2B5EF4-FFF2-40B4-BE49-F238E27FC236}">
                <a16:creationId xmlns:a16="http://schemas.microsoft.com/office/drawing/2014/main" id="{546BDDAA-BD87-46E6-A36F-46AD9B15B32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C4778C4-B319-426C-8746-5BE75EFC56A6}"/>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803877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6889A-8F73-4550-94FE-A12BAB0B4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A6F94248-087A-4584-81B9-279EACB491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57BA624-A898-43F1-ABF2-1C54A8668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15260A-7DC4-427A-AA29-F50BFB6717EE}"/>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6" name="Footer Placeholder 5">
            <a:extLst>
              <a:ext uri="{FF2B5EF4-FFF2-40B4-BE49-F238E27FC236}">
                <a16:creationId xmlns:a16="http://schemas.microsoft.com/office/drawing/2014/main" id="{C179DBAE-D7DF-4960-BFC1-6308DCE8035D}"/>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305441A-1241-4DDD-AFED-438E229C6ED2}"/>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17304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D29C-BBF2-49F2-9D41-0518CF9B976A}"/>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5EB6D2B-41B0-40D8-8992-5175A5CB06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6008F68-BD44-46F6-B84C-3D489CB600D3}"/>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5" name="Footer Placeholder 4">
            <a:extLst>
              <a:ext uri="{FF2B5EF4-FFF2-40B4-BE49-F238E27FC236}">
                <a16:creationId xmlns:a16="http://schemas.microsoft.com/office/drawing/2014/main" id="{E0270CB9-BB23-4935-9516-53EFD49B1A9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598CE425-50E4-4A4B-B3AB-984DBC3ED8A9}"/>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378733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8340F0-C22D-4A99-B819-9294BE11F9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8B3B9186-35CF-496F-8793-AC0094FD79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E182044-E096-4F71-A4A6-8781B210EBE1}"/>
              </a:ext>
            </a:extLst>
          </p:cNvPr>
          <p:cNvSpPr>
            <a:spLocks noGrp="1"/>
          </p:cNvSpPr>
          <p:nvPr>
            <p:ph type="dt" sz="half" idx="10"/>
          </p:nvPr>
        </p:nvSpPr>
        <p:spPr/>
        <p:txBody>
          <a:bodyPr/>
          <a:lstStyle/>
          <a:p>
            <a:fld id="{1B7DDFE6-72D1-4CD5-8668-8F91889A03A6}" type="datetimeFigureOut">
              <a:rPr lang="en-PH" smtClean="0"/>
              <a:t>29/05/2024</a:t>
            </a:fld>
            <a:endParaRPr lang="en-PH"/>
          </a:p>
        </p:txBody>
      </p:sp>
      <p:sp>
        <p:nvSpPr>
          <p:cNvPr id="5" name="Footer Placeholder 4">
            <a:extLst>
              <a:ext uri="{FF2B5EF4-FFF2-40B4-BE49-F238E27FC236}">
                <a16:creationId xmlns:a16="http://schemas.microsoft.com/office/drawing/2014/main" id="{D16D45B9-E413-4191-A2F8-2E15AE2A7AB3}"/>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55423D6-FD75-4F43-ACC1-46B4902A23B9}"/>
              </a:ext>
            </a:extLst>
          </p:cNvPr>
          <p:cNvSpPr>
            <a:spLocks noGrp="1"/>
          </p:cNvSpPr>
          <p:nvPr>
            <p:ph type="sldNum" sz="quarter" idx="12"/>
          </p:nvPr>
        </p:nvSpPr>
        <p:spPr/>
        <p:txBody>
          <a:bodyPr/>
          <a:lstStyle/>
          <a:p>
            <a:fld id="{858E4B34-95C6-4F6E-8C65-D1B10D57A373}" type="slidenum">
              <a:rPr lang="en-PH" smtClean="0"/>
              <a:t>‹#›</a:t>
            </a:fld>
            <a:endParaRPr lang="en-PH"/>
          </a:p>
        </p:txBody>
      </p:sp>
    </p:spTree>
    <p:extLst>
      <p:ext uri="{BB962C8B-B14F-4D97-AF65-F5344CB8AC3E}">
        <p14:creationId xmlns:p14="http://schemas.microsoft.com/office/powerpoint/2010/main" val="2147034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604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5B9B89-CD66-4585-BDBF-726FABA9AA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DBEB2841-5FAF-4E4F-9FE7-896F5C9749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9CE515E-B84B-48C4-A511-49C7809FF0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7DDFE6-72D1-4CD5-8668-8F91889A03A6}" type="datetimeFigureOut">
              <a:rPr lang="en-PH" smtClean="0"/>
              <a:t>29/05/2024</a:t>
            </a:fld>
            <a:endParaRPr lang="en-PH"/>
          </a:p>
        </p:txBody>
      </p:sp>
      <p:sp>
        <p:nvSpPr>
          <p:cNvPr id="5" name="Footer Placeholder 4">
            <a:extLst>
              <a:ext uri="{FF2B5EF4-FFF2-40B4-BE49-F238E27FC236}">
                <a16:creationId xmlns:a16="http://schemas.microsoft.com/office/drawing/2014/main" id="{93DF5B84-1962-42E8-9F8D-E811BA9A3B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5E87BB09-4A0B-4090-B4BC-7128BD089B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8E4B34-95C6-4F6E-8C65-D1B10D57A373}" type="slidenum">
              <a:rPr lang="en-PH" smtClean="0"/>
              <a:t>‹#›</a:t>
            </a:fld>
            <a:endParaRPr lang="en-PH"/>
          </a:p>
        </p:txBody>
      </p:sp>
    </p:spTree>
    <p:extLst>
      <p:ext uri="{BB962C8B-B14F-4D97-AF65-F5344CB8AC3E}">
        <p14:creationId xmlns:p14="http://schemas.microsoft.com/office/powerpoint/2010/main" val="3750498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gif"/><Relationship Id="rId4" Type="http://schemas.openxmlformats.org/officeDocument/2006/relationships/image" Target="../media/image5.gif"/></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hape 1">
            <a:extLst>
              <a:ext uri="{FF2B5EF4-FFF2-40B4-BE49-F238E27FC236}">
                <a16:creationId xmlns:a16="http://schemas.microsoft.com/office/drawing/2014/main" id="{49060426-9957-4037-A6B7-D80A82E76AD4}"/>
              </a:ext>
            </a:extLst>
          </p:cNvPr>
          <p:cNvSpPr/>
          <p:nvPr/>
        </p:nvSpPr>
        <p:spPr>
          <a:xfrm>
            <a:off x="0" y="0"/>
            <a:ext cx="12192000" cy="6858000"/>
          </a:xfrm>
          <a:prstGeom prst="rect">
            <a:avLst/>
          </a:prstGeom>
          <a:solidFill>
            <a:srgbClr val="FEF5E7"/>
          </a:solidFill>
          <a:ln/>
        </p:spPr>
      </p:sp>
      <p:grpSp>
        <p:nvGrpSpPr>
          <p:cNvPr id="2" name="Group 2"/>
          <p:cNvGrpSpPr/>
          <p:nvPr/>
        </p:nvGrpSpPr>
        <p:grpSpPr>
          <a:xfrm>
            <a:off x="3176" y="6400800"/>
            <a:ext cx="12188825" cy="457200"/>
            <a:chOff x="0" y="0"/>
            <a:chExt cx="24377650" cy="914400"/>
          </a:xfrm>
        </p:grpSpPr>
        <p:sp>
          <p:nvSpPr>
            <p:cNvPr id="3" name="Freeform 3"/>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solidFill>
              <a:srgbClr val="629DD1"/>
            </a:solidFill>
          </p:spPr>
        </p:sp>
      </p:grpSp>
      <p:grpSp>
        <p:nvGrpSpPr>
          <p:cNvPr id="4" name="Group 4"/>
          <p:cNvGrpSpPr/>
          <p:nvPr/>
        </p:nvGrpSpPr>
        <p:grpSpPr>
          <a:xfrm>
            <a:off x="16" y="6334316"/>
            <a:ext cx="12188825" cy="64008"/>
            <a:chOff x="0" y="0"/>
            <a:chExt cx="24377650" cy="128017"/>
          </a:xfrm>
        </p:grpSpPr>
        <p:sp>
          <p:nvSpPr>
            <p:cNvPr id="5" name="Freeform 5"/>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solidFill>
              <a:srgbClr val="4A66AC"/>
            </a:solidFill>
          </p:spPr>
        </p:sp>
      </p:grpSp>
      <p:grpSp>
        <p:nvGrpSpPr>
          <p:cNvPr id="6" name="Group 6"/>
          <p:cNvGrpSpPr/>
          <p:nvPr/>
        </p:nvGrpSpPr>
        <p:grpSpPr>
          <a:xfrm>
            <a:off x="3176" y="6400800"/>
            <a:ext cx="12188825" cy="457200"/>
            <a:chOff x="0" y="0"/>
            <a:chExt cx="24377650" cy="914400"/>
          </a:xfrm>
          <a:solidFill>
            <a:schemeClr val="accent6">
              <a:lumMod val="75000"/>
            </a:schemeClr>
          </a:solidFill>
        </p:grpSpPr>
        <p:sp>
          <p:nvSpPr>
            <p:cNvPr id="7" name="Freeform 7"/>
            <p:cNvSpPr/>
            <p:nvPr/>
          </p:nvSpPr>
          <p:spPr>
            <a:xfrm>
              <a:off x="0" y="0"/>
              <a:ext cx="24377650" cy="914400"/>
            </a:xfrm>
            <a:custGeom>
              <a:avLst/>
              <a:gdLst/>
              <a:ahLst/>
              <a:cxnLst/>
              <a:rect l="l" t="t" r="r" b="b"/>
              <a:pathLst>
                <a:path w="24377650" h="914400">
                  <a:moveTo>
                    <a:pt x="0" y="0"/>
                  </a:moveTo>
                  <a:lnTo>
                    <a:pt x="24377650" y="0"/>
                  </a:lnTo>
                  <a:lnTo>
                    <a:pt x="24377650" y="914400"/>
                  </a:lnTo>
                  <a:lnTo>
                    <a:pt x="0" y="914400"/>
                  </a:lnTo>
                  <a:close/>
                </a:path>
              </a:pathLst>
            </a:custGeom>
            <a:grpFill/>
          </p:spPr>
        </p:sp>
      </p:grpSp>
      <p:grpSp>
        <p:nvGrpSpPr>
          <p:cNvPr id="8" name="Group 8"/>
          <p:cNvGrpSpPr/>
          <p:nvPr/>
        </p:nvGrpSpPr>
        <p:grpSpPr>
          <a:xfrm>
            <a:off x="16" y="6334316"/>
            <a:ext cx="12188825" cy="64008"/>
            <a:chOff x="0" y="0"/>
            <a:chExt cx="24377650" cy="128017"/>
          </a:xfrm>
          <a:solidFill>
            <a:srgbClr val="92D050"/>
          </a:solidFill>
        </p:grpSpPr>
        <p:sp>
          <p:nvSpPr>
            <p:cNvPr id="9" name="Freeform 9"/>
            <p:cNvSpPr/>
            <p:nvPr/>
          </p:nvSpPr>
          <p:spPr>
            <a:xfrm>
              <a:off x="0" y="0"/>
              <a:ext cx="24377650" cy="128016"/>
            </a:xfrm>
            <a:custGeom>
              <a:avLst/>
              <a:gdLst/>
              <a:ahLst/>
              <a:cxnLst/>
              <a:rect l="l" t="t" r="r" b="b"/>
              <a:pathLst>
                <a:path w="24377650" h="128016">
                  <a:moveTo>
                    <a:pt x="0" y="0"/>
                  </a:moveTo>
                  <a:lnTo>
                    <a:pt x="24377650" y="0"/>
                  </a:lnTo>
                  <a:lnTo>
                    <a:pt x="24377650" y="128016"/>
                  </a:lnTo>
                  <a:lnTo>
                    <a:pt x="0" y="128016"/>
                  </a:lnTo>
                  <a:close/>
                </a:path>
              </a:pathLst>
            </a:custGeom>
            <a:grpFill/>
          </p:spPr>
        </p:sp>
      </p:grpSp>
      <p:sp>
        <p:nvSpPr>
          <p:cNvPr id="10" name="TextBox 10"/>
          <p:cNvSpPr txBox="1"/>
          <p:nvPr/>
        </p:nvSpPr>
        <p:spPr>
          <a:xfrm>
            <a:off x="1583389" y="289720"/>
            <a:ext cx="9022080" cy="3976666"/>
          </a:xfrm>
          <a:prstGeom prst="rect">
            <a:avLst/>
          </a:prstGeom>
        </p:spPr>
        <p:txBody>
          <a:bodyPr lIns="0" tIns="0" rIns="0" bIns="0" rtlCol="0" anchor="t">
            <a:spAutoFit/>
          </a:bodyPr>
          <a:lstStyle/>
          <a:p>
            <a:pPr algn="ctr">
              <a:lnSpc>
                <a:spcPts val="2999"/>
              </a:lnSpc>
            </a:pPr>
            <a:r>
              <a:rPr lang="en-US" sz="1666" spc="-49" dirty="0">
                <a:solidFill>
                  <a:srgbClr val="000000"/>
                </a:solidFill>
                <a:latin typeface="Times New Roman"/>
              </a:rPr>
              <a:t>A Thesis Proposal</a:t>
            </a:r>
          </a:p>
          <a:p>
            <a:pPr algn="ctr">
              <a:lnSpc>
                <a:spcPts val="2999"/>
              </a:lnSpc>
            </a:pPr>
            <a:r>
              <a:rPr lang="en-US" sz="1666" spc="-49" dirty="0">
                <a:solidFill>
                  <a:srgbClr val="000000"/>
                </a:solidFill>
                <a:latin typeface="Times New Roman"/>
              </a:rPr>
              <a:t>Presented to the Faculty of the</a:t>
            </a:r>
          </a:p>
          <a:p>
            <a:pPr algn="ctr">
              <a:lnSpc>
                <a:spcPts val="2999"/>
              </a:lnSpc>
            </a:pPr>
            <a:r>
              <a:rPr lang="en-US" sz="1666" spc="-49" dirty="0">
                <a:solidFill>
                  <a:srgbClr val="000000"/>
                </a:solidFill>
                <a:latin typeface="Times New Roman"/>
              </a:rPr>
              <a:t>Department of Computer, Information Sciences and Mathematics </a:t>
            </a:r>
          </a:p>
          <a:p>
            <a:pPr algn="ctr">
              <a:lnSpc>
                <a:spcPts val="2999"/>
              </a:lnSpc>
            </a:pPr>
            <a:r>
              <a:rPr lang="en-US" sz="1666" spc="-49" dirty="0">
                <a:solidFill>
                  <a:srgbClr val="000000"/>
                </a:solidFill>
                <a:latin typeface="Times New Roman"/>
              </a:rPr>
              <a:t>University of San Carlos</a:t>
            </a:r>
          </a:p>
          <a:p>
            <a:pPr algn="ctr">
              <a:lnSpc>
                <a:spcPts val="6600"/>
              </a:lnSpc>
            </a:pPr>
            <a:r>
              <a:rPr lang="en-US" sz="3667" spc="-50" dirty="0">
                <a:solidFill>
                  <a:srgbClr val="000000"/>
                </a:solidFill>
                <a:latin typeface="Times New Roman Bold"/>
              </a:rPr>
              <a:t>INSIDE-OUT: Emotion Recognition through Handwriting Analysis using Hybrid Approach</a:t>
            </a:r>
          </a:p>
          <a:p>
            <a:pPr algn="ctr">
              <a:lnSpc>
                <a:spcPts val="6600"/>
              </a:lnSpc>
            </a:pPr>
            <a:r>
              <a:rPr lang="en-US" sz="3667" spc="-50" dirty="0">
                <a:solidFill>
                  <a:srgbClr val="000000"/>
                </a:solidFill>
                <a:latin typeface="Times New Roman Bold"/>
              </a:rPr>
              <a:t>(CNN and HMM)</a:t>
            </a:r>
          </a:p>
        </p:txBody>
      </p:sp>
      <p:sp>
        <p:nvSpPr>
          <p:cNvPr id="11" name="TextBox 11"/>
          <p:cNvSpPr txBox="1"/>
          <p:nvPr/>
        </p:nvSpPr>
        <p:spPr>
          <a:xfrm>
            <a:off x="4307088" y="4444495"/>
            <a:ext cx="3574681" cy="922817"/>
          </a:xfrm>
          <a:prstGeom prst="rect">
            <a:avLst/>
          </a:prstGeom>
        </p:spPr>
        <p:txBody>
          <a:bodyPr lIns="0" tIns="0" rIns="0" bIns="0" rtlCol="0" anchor="t">
            <a:spAutoFit/>
          </a:bodyPr>
          <a:lstStyle/>
          <a:p>
            <a:pPr algn="ctr"/>
            <a:r>
              <a:rPr lang="en-US" sz="1499" dirty="0">
                <a:solidFill>
                  <a:srgbClr val="000000"/>
                </a:solidFill>
                <a:latin typeface="Times New Roman"/>
              </a:rPr>
              <a:t>Proposed By</a:t>
            </a:r>
          </a:p>
          <a:p>
            <a:pPr algn="ctr"/>
            <a:r>
              <a:rPr lang="en-US" sz="1499" dirty="0">
                <a:solidFill>
                  <a:srgbClr val="000000"/>
                </a:solidFill>
                <a:latin typeface="Times New Roman Bold"/>
              </a:rPr>
              <a:t>CYREL JANE A. EDAÑO</a:t>
            </a:r>
          </a:p>
          <a:p>
            <a:pPr algn="ctr"/>
            <a:r>
              <a:rPr lang="en-US" sz="1499" dirty="0">
                <a:solidFill>
                  <a:srgbClr val="000000"/>
                </a:solidFill>
                <a:latin typeface="Times New Roman Bold"/>
              </a:rPr>
              <a:t>Bachelor of Science in Computer Science</a:t>
            </a:r>
          </a:p>
          <a:p>
            <a:pPr algn="ctr"/>
            <a:r>
              <a:rPr lang="en-US" sz="1499" dirty="0">
                <a:solidFill>
                  <a:srgbClr val="000000"/>
                </a:solidFill>
                <a:latin typeface="Times New Roman Bold"/>
              </a:rPr>
              <a:t>University of San Carlos</a:t>
            </a:r>
          </a:p>
        </p:txBody>
      </p:sp>
      <p:sp>
        <p:nvSpPr>
          <p:cNvPr id="12" name="Freeform 12"/>
          <p:cNvSpPr/>
          <p:nvPr/>
        </p:nvSpPr>
        <p:spPr>
          <a:xfrm>
            <a:off x="9256012" y="512757"/>
            <a:ext cx="2823977" cy="691979"/>
          </a:xfrm>
          <a:custGeom>
            <a:avLst/>
            <a:gdLst/>
            <a:ahLst/>
            <a:cxnLst/>
            <a:rect l="l" t="t" r="r" b="b"/>
            <a:pathLst>
              <a:path w="4235965" h="1037968">
                <a:moveTo>
                  <a:pt x="0" y="0"/>
                </a:moveTo>
                <a:lnTo>
                  <a:pt x="4235965" y="0"/>
                </a:lnTo>
                <a:lnTo>
                  <a:pt x="4235965" y="1037967"/>
                </a:lnTo>
                <a:lnTo>
                  <a:pt x="0" y="1037967"/>
                </a:lnTo>
                <a:lnTo>
                  <a:pt x="0" y="0"/>
                </a:lnTo>
                <a:close/>
              </a:path>
            </a:pathLst>
          </a:custGeom>
          <a:blipFill>
            <a:blip r:embed="rId3"/>
            <a:stretch>
              <a:fillRect/>
            </a:stretch>
          </a:blipFill>
        </p:spPr>
      </p:sp>
      <p:sp>
        <p:nvSpPr>
          <p:cNvPr id="13" name="Freeform 13"/>
          <p:cNvSpPr/>
          <p:nvPr/>
        </p:nvSpPr>
        <p:spPr>
          <a:xfrm>
            <a:off x="369528" y="318124"/>
            <a:ext cx="1443970" cy="1385674"/>
          </a:xfrm>
          <a:custGeom>
            <a:avLst/>
            <a:gdLst/>
            <a:ahLst/>
            <a:cxnLst/>
            <a:rect l="l" t="t" r="r" b="b"/>
            <a:pathLst>
              <a:path w="2165955" h="2078511">
                <a:moveTo>
                  <a:pt x="0" y="0"/>
                </a:moveTo>
                <a:lnTo>
                  <a:pt x="2165956" y="0"/>
                </a:lnTo>
                <a:lnTo>
                  <a:pt x="2165956" y="2078511"/>
                </a:lnTo>
                <a:lnTo>
                  <a:pt x="0" y="2078511"/>
                </a:lnTo>
                <a:lnTo>
                  <a:pt x="0" y="0"/>
                </a:lnTo>
                <a:close/>
              </a:path>
            </a:pathLst>
          </a:custGeom>
          <a:blipFill>
            <a:blip r:embed="rId4"/>
            <a:stretch>
              <a:fillRect/>
            </a:stretch>
          </a:blipFill>
        </p:spPr>
      </p:sp>
      <p:sp>
        <p:nvSpPr>
          <p:cNvPr id="14" name="TextBox 14"/>
          <p:cNvSpPr txBox="1"/>
          <p:nvPr/>
        </p:nvSpPr>
        <p:spPr>
          <a:xfrm>
            <a:off x="2153544" y="5730910"/>
            <a:ext cx="3574681" cy="448969"/>
          </a:xfrm>
          <a:prstGeom prst="rect">
            <a:avLst/>
          </a:prstGeom>
        </p:spPr>
        <p:txBody>
          <a:bodyPr lIns="0" tIns="0" rIns="0" bIns="0" rtlCol="0" anchor="t">
            <a:spAutoFit/>
          </a:bodyPr>
          <a:lstStyle/>
          <a:p>
            <a:pPr algn="ctr">
              <a:lnSpc>
                <a:spcPts val="1799"/>
              </a:lnSpc>
            </a:pPr>
            <a:r>
              <a:rPr lang="en-US" sz="1499" dirty="0">
                <a:solidFill>
                  <a:srgbClr val="000000"/>
                </a:solidFill>
                <a:latin typeface="Times New Roman Bold"/>
              </a:rPr>
              <a:t>CHRISTIAN V. MADERAZO, MEng</a:t>
            </a:r>
          </a:p>
          <a:p>
            <a:pPr algn="ctr">
              <a:lnSpc>
                <a:spcPts val="1799"/>
              </a:lnSpc>
            </a:pPr>
            <a:r>
              <a:rPr lang="en-US" sz="1499" dirty="0">
                <a:solidFill>
                  <a:srgbClr val="000000"/>
                </a:solidFill>
                <a:latin typeface="Times New Roman Bold"/>
              </a:rPr>
              <a:t>Faculty Adviser</a:t>
            </a:r>
          </a:p>
        </p:txBody>
      </p:sp>
      <p:sp>
        <p:nvSpPr>
          <p:cNvPr id="16" name="TextBox 14">
            <a:extLst>
              <a:ext uri="{FF2B5EF4-FFF2-40B4-BE49-F238E27FC236}">
                <a16:creationId xmlns:a16="http://schemas.microsoft.com/office/drawing/2014/main" id="{A55E413A-068A-44F8-B061-0C29139F0232}"/>
              </a:ext>
            </a:extLst>
          </p:cNvPr>
          <p:cNvSpPr txBox="1"/>
          <p:nvPr/>
        </p:nvSpPr>
        <p:spPr>
          <a:xfrm>
            <a:off x="6463777" y="5726109"/>
            <a:ext cx="3574681" cy="448969"/>
          </a:xfrm>
          <a:prstGeom prst="rect">
            <a:avLst/>
          </a:prstGeom>
        </p:spPr>
        <p:txBody>
          <a:bodyPr lIns="0" tIns="0" rIns="0" bIns="0" rtlCol="0" anchor="t">
            <a:spAutoFit/>
          </a:bodyPr>
          <a:lstStyle/>
          <a:p>
            <a:pPr algn="ctr">
              <a:lnSpc>
                <a:spcPts val="1799"/>
              </a:lnSpc>
            </a:pPr>
            <a:r>
              <a:rPr lang="en-US" sz="1499" dirty="0">
                <a:solidFill>
                  <a:srgbClr val="000000"/>
                </a:solidFill>
                <a:latin typeface="Times New Roman Bold"/>
              </a:rPr>
              <a:t>GLENN G. GLARINO, PhD</a:t>
            </a:r>
          </a:p>
          <a:p>
            <a:pPr algn="ctr">
              <a:lnSpc>
                <a:spcPts val="1799"/>
              </a:lnSpc>
            </a:pPr>
            <a:r>
              <a:rPr lang="en-US" sz="1499" dirty="0">
                <a:solidFill>
                  <a:srgbClr val="000000"/>
                </a:solidFill>
                <a:latin typeface="Times New Roman Bold"/>
              </a:rPr>
              <a:t>Co-Faculty Adviser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7626350" y="0"/>
            <a:ext cx="4572000" cy="6858000"/>
          </a:xfrm>
          <a:prstGeom prst="rect">
            <a:avLst/>
          </a:prstGeom>
        </p:spPr>
      </p:pic>
      <p:sp>
        <p:nvSpPr>
          <p:cNvPr id="5" name="Text 2"/>
          <p:cNvSpPr/>
          <p:nvPr/>
        </p:nvSpPr>
        <p:spPr>
          <a:xfrm>
            <a:off x="697508" y="1829425"/>
            <a:ext cx="6231334" cy="2684520"/>
          </a:xfrm>
          <a:prstGeom prst="rect">
            <a:avLst/>
          </a:prstGeom>
          <a:noFill/>
          <a:ln/>
        </p:spPr>
        <p:txBody>
          <a:bodyPr wrap="square" rtlCol="0" anchor="t"/>
          <a:lstStyle/>
          <a:p>
            <a:pPr>
              <a:lnSpc>
                <a:spcPts val="6287"/>
              </a:lnSpc>
            </a:pPr>
            <a:r>
              <a:rPr lang="en-US" sz="7200" dirty="0">
                <a:solidFill>
                  <a:srgbClr val="38512F"/>
                </a:solidFill>
                <a:latin typeface="Times New Roman" panose="02020603050405020304" pitchFamily="18" charset="0"/>
                <a:ea typeface="Lora" pitchFamily="34" charset="-122"/>
                <a:cs typeface="Times New Roman" panose="02020603050405020304" pitchFamily="18" charset="0"/>
              </a:rPr>
              <a:t>What are Emotions and Handwriting?</a:t>
            </a:r>
            <a:endParaRPr lang="en-US" sz="7200"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29028" y="14514"/>
            <a:ext cx="12192000" cy="6858000"/>
          </a:xfrm>
          <a:prstGeom prst="rect">
            <a:avLst/>
          </a:prstGeom>
          <a:solidFill>
            <a:srgbClr val="FEF5E7"/>
          </a:solidFill>
          <a:ln/>
        </p:spPr>
        <p:txBody>
          <a:bodyPr/>
          <a:lstStyle/>
          <a:p>
            <a:endParaRPr lang="en-PH"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0" y="0"/>
            <a:ext cx="12192000" cy="1471615"/>
          </a:xfrm>
          <a:prstGeom prst="rect">
            <a:avLst/>
          </a:prstGeom>
        </p:spPr>
      </p:pic>
      <p:sp>
        <p:nvSpPr>
          <p:cNvPr id="5" name="Text 2"/>
          <p:cNvSpPr/>
          <p:nvPr/>
        </p:nvSpPr>
        <p:spPr>
          <a:xfrm>
            <a:off x="3608040" y="1457101"/>
            <a:ext cx="4975919" cy="425946"/>
          </a:xfrm>
          <a:prstGeom prst="rect">
            <a:avLst/>
          </a:prstGeom>
          <a:noFill/>
          <a:ln/>
        </p:spPr>
        <p:txBody>
          <a:bodyPr wrap="none" rtlCol="0" anchor="t"/>
          <a:lstStyle/>
          <a:p>
            <a:pPr algn="ctr">
              <a:lnSpc>
                <a:spcPts val="3354"/>
              </a:lnSpc>
            </a:pPr>
            <a:r>
              <a:rPr lang="en-US" sz="2683" dirty="0">
                <a:solidFill>
                  <a:srgbClr val="38512F"/>
                </a:solidFill>
                <a:latin typeface="Times New Roman" panose="02020603050405020304" pitchFamily="18" charset="0"/>
                <a:ea typeface="Lora" pitchFamily="34" charset="-122"/>
                <a:cs typeface="Times New Roman" panose="02020603050405020304" pitchFamily="18" charset="0"/>
              </a:rPr>
              <a:t>Rationale of the Study</a:t>
            </a:r>
            <a:endParaRPr lang="en-US" sz="2683" dirty="0">
              <a:latin typeface="Times New Roman" panose="02020603050405020304" pitchFamily="18" charset="0"/>
              <a:cs typeface="Times New Roman" panose="02020603050405020304" pitchFamily="18" charset="0"/>
            </a:endParaRPr>
          </a:p>
        </p:txBody>
      </p:sp>
      <p:sp>
        <p:nvSpPr>
          <p:cNvPr id="22" name="Text 8">
            <a:extLst>
              <a:ext uri="{FF2B5EF4-FFF2-40B4-BE49-F238E27FC236}">
                <a16:creationId xmlns:a16="http://schemas.microsoft.com/office/drawing/2014/main" id="{41F1F283-9D83-4124-9355-29A6E1BD74ED}"/>
              </a:ext>
            </a:extLst>
          </p:cNvPr>
          <p:cNvSpPr/>
          <p:nvPr/>
        </p:nvSpPr>
        <p:spPr>
          <a:xfrm>
            <a:off x="370012" y="1914746"/>
            <a:ext cx="7837521" cy="872332"/>
          </a:xfrm>
          <a:prstGeom prst="rect">
            <a:avLst/>
          </a:prstGeom>
          <a:noFill/>
          <a:ln/>
        </p:spPr>
        <p:txBody>
          <a:bodyPr wrap="square" rtlCol="0" anchor="t"/>
          <a:lstStyle/>
          <a:p>
            <a:pPr>
              <a:lnSpc>
                <a:spcPct val="150000"/>
              </a:lnSpc>
            </a:pPr>
            <a:r>
              <a:rPr lang="en-GB" sz="1700" dirty="0">
                <a:solidFill>
                  <a:srgbClr val="3A3630"/>
                </a:solidFill>
                <a:latin typeface="Times New Roman" panose="02020603050405020304" pitchFamily="18" charset="0"/>
                <a:ea typeface="Source Sans Pro" pitchFamily="34" charset="-122"/>
                <a:cs typeface="Times New Roman" panose="02020603050405020304" pitchFamily="18" charset="0"/>
              </a:rPr>
              <a:t>	Understanding how emotions affect handwriting is really </a:t>
            </a:r>
            <a:r>
              <a:rPr lang="en-GB" sz="1700" b="1" dirty="0">
                <a:latin typeface="Times New Roman" panose="02020603050405020304" pitchFamily="18" charset="0"/>
                <a:ea typeface="Source Sans Pro" pitchFamily="34" charset="-122"/>
                <a:cs typeface="Times New Roman" panose="02020603050405020304" pitchFamily="18" charset="0"/>
              </a:rPr>
              <a:t>important</a:t>
            </a:r>
            <a:r>
              <a:rPr lang="en-GB" sz="1700" dirty="0">
                <a:solidFill>
                  <a:srgbClr val="3A3630"/>
                </a:solidFill>
                <a:latin typeface="Times New Roman" panose="02020603050405020304" pitchFamily="18" charset="0"/>
                <a:ea typeface="Source Sans Pro" pitchFamily="34" charset="-122"/>
                <a:cs typeface="Times New Roman" panose="02020603050405020304" pitchFamily="18" charset="0"/>
              </a:rPr>
              <a:t>. Emotions play a key role in how we think, decide, and behave. And how emotions show up in handwriting can tell us a lot about someone's feelings. Looking at handwriting has been used in fields like forensics, psychology, and even solving crimes. But now, with better technology, we can learn even more about how emotions and handwriting are linked.</a:t>
            </a:r>
          </a:p>
          <a:p>
            <a:pPr>
              <a:lnSpc>
                <a:spcPct val="150000"/>
              </a:lnSpc>
            </a:pPr>
            <a:r>
              <a:rPr lang="en-GB" sz="1700" dirty="0">
                <a:solidFill>
                  <a:srgbClr val="3A3630"/>
                </a:solidFill>
                <a:latin typeface="Times New Roman" panose="02020603050405020304" pitchFamily="18" charset="0"/>
                <a:ea typeface="Source Sans Pro" pitchFamily="34" charset="-122"/>
                <a:cs typeface="Times New Roman" panose="02020603050405020304" pitchFamily="18" charset="0"/>
              </a:rPr>
              <a:t>	If we can understand this connection, we can make new tools that could be really useful. For example, in schools, looking at how students write could help see if they're having a hard time or feeling stressed. Then, we could help them sooner. In healthcare, changes in handwriting could help spot brain or mood issues tied to how emotions are handled. And in crime work, checking handwriting for emotions could boost how we check documents and see lies.</a:t>
            </a:r>
          </a:p>
        </p:txBody>
      </p:sp>
      <p:pic>
        <p:nvPicPr>
          <p:cNvPr id="11" name="Picture 10">
            <a:extLst>
              <a:ext uri="{FF2B5EF4-FFF2-40B4-BE49-F238E27FC236}">
                <a16:creationId xmlns:a16="http://schemas.microsoft.com/office/drawing/2014/main" id="{23C603A5-00C0-4C9F-89C6-C051900BE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2486" y="3691109"/>
            <a:ext cx="4013495" cy="2943230"/>
          </a:xfrm>
          <a:prstGeom prst="rect">
            <a:avLst/>
          </a:prstGeom>
        </p:spPr>
      </p:pic>
      <p:pic>
        <p:nvPicPr>
          <p:cNvPr id="9" name="Picture 8">
            <a:extLst>
              <a:ext uri="{FF2B5EF4-FFF2-40B4-BE49-F238E27FC236}">
                <a16:creationId xmlns:a16="http://schemas.microsoft.com/office/drawing/2014/main" id="{DF574EA3-7033-4D1C-82B9-1F0CB83C69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2486" y="1908249"/>
            <a:ext cx="4050722" cy="2187390"/>
          </a:xfrm>
          <a:prstGeom prst="rect">
            <a:avLst/>
          </a:prstGeom>
        </p:spPr>
      </p:pic>
    </p:spTree>
    <p:extLst>
      <p:ext uri="{BB962C8B-B14F-4D97-AF65-F5344CB8AC3E}">
        <p14:creationId xmlns:p14="http://schemas.microsoft.com/office/powerpoint/2010/main" val="426821870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6" name="Text 3"/>
          <p:cNvSpPr/>
          <p:nvPr/>
        </p:nvSpPr>
        <p:spPr>
          <a:xfrm>
            <a:off x="1957040" y="345084"/>
            <a:ext cx="8277919" cy="1157288"/>
          </a:xfrm>
          <a:prstGeom prst="rect">
            <a:avLst/>
          </a:prstGeom>
          <a:noFill/>
          <a:ln/>
        </p:spPr>
        <p:txBody>
          <a:bodyPr wrap="square" rtlCol="0" anchor="t"/>
          <a:lstStyle/>
          <a:p>
            <a:pPr algn="ctr">
              <a:lnSpc>
                <a:spcPts val="4556"/>
              </a:lnSpc>
            </a:pPr>
            <a:r>
              <a:rPr lang="en-US" sz="3645" dirty="0">
                <a:solidFill>
                  <a:srgbClr val="38512F"/>
                </a:solidFill>
                <a:latin typeface="Times New Roman" panose="02020603050405020304" pitchFamily="18" charset="0"/>
                <a:ea typeface="Lora" pitchFamily="34" charset="-122"/>
                <a:cs typeface="Times New Roman" panose="02020603050405020304" pitchFamily="18" charset="0"/>
              </a:rPr>
              <a:t>STATEMENT OF THE PROBLEM</a:t>
            </a:r>
          </a:p>
          <a:p>
            <a:pPr algn="ctr">
              <a:lnSpc>
                <a:spcPts val="4556"/>
              </a:lnSpc>
            </a:pPr>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Addressing the Need for Emotion Recognition</a:t>
            </a:r>
            <a:endParaRPr lang="en-US" sz="2800" dirty="0">
              <a:latin typeface="Times New Roman" panose="02020603050405020304" pitchFamily="18" charset="0"/>
              <a:cs typeface="Times New Roman" panose="02020603050405020304" pitchFamily="18" charset="0"/>
            </a:endParaRPr>
          </a:p>
        </p:txBody>
      </p:sp>
      <p:sp>
        <p:nvSpPr>
          <p:cNvPr id="7" name="Shape 4"/>
          <p:cNvSpPr/>
          <p:nvPr/>
        </p:nvSpPr>
        <p:spPr>
          <a:xfrm>
            <a:off x="1957040" y="1847456"/>
            <a:ext cx="416619" cy="416619"/>
          </a:xfrm>
          <a:prstGeom prst="roundRect">
            <a:avLst>
              <a:gd name="adj" fmla="val 13333"/>
            </a:avLst>
          </a:prstGeom>
          <a:solidFill>
            <a:srgbClr val="F6E9D5"/>
          </a:solidFill>
          <a:ln/>
        </p:spPr>
      </p:sp>
      <p:sp>
        <p:nvSpPr>
          <p:cNvPr id="8" name="Text 5"/>
          <p:cNvSpPr/>
          <p:nvPr/>
        </p:nvSpPr>
        <p:spPr>
          <a:xfrm>
            <a:off x="2114798" y="1882183"/>
            <a:ext cx="101104" cy="347068"/>
          </a:xfrm>
          <a:prstGeom prst="rect">
            <a:avLst/>
          </a:prstGeom>
          <a:noFill/>
          <a:ln/>
        </p:spPr>
        <p:txBody>
          <a:bodyPr wrap="none" rtlCol="0" anchor="t"/>
          <a:lstStyle/>
          <a:p>
            <a:pPr algn="ctr">
              <a:lnSpc>
                <a:spcPts val="2734"/>
              </a:lnSpc>
            </a:pPr>
            <a:r>
              <a:rPr lang="en-US" sz="2187" dirty="0">
                <a:solidFill>
                  <a:srgbClr val="38512F"/>
                </a:solidFill>
                <a:latin typeface="Times New Roman" panose="02020603050405020304" pitchFamily="18" charset="0"/>
                <a:ea typeface="Lora" pitchFamily="34" charset="-122"/>
                <a:cs typeface="Times New Roman" panose="02020603050405020304" pitchFamily="18" charset="0"/>
              </a:rPr>
              <a:t>1</a:t>
            </a:r>
            <a:endParaRPr lang="en-US" sz="2187" dirty="0">
              <a:latin typeface="Times New Roman" panose="02020603050405020304" pitchFamily="18" charset="0"/>
              <a:cs typeface="Times New Roman" panose="02020603050405020304" pitchFamily="18" charset="0"/>
            </a:endParaRPr>
          </a:p>
        </p:txBody>
      </p:sp>
      <p:sp>
        <p:nvSpPr>
          <p:cNvPr id="9" name="Text 6"/>
          <p:cNvSpPr/>
          <p:nvPr/>
        </p:nvSpPr>
        <p:spPr>
          <a:xfrm>
            <a:off x="2558802" y="1911055"/>
            <a:ext cx="3236865" cy="289322"/>
          </a:xfrm>
          <a:prstGeom prst="rect">
            <a:avLst/>
          </a:prstGeom>
          <a:noFill/>
          <a:ln/>
        </p:spPr>
        <p:txBody>
          <a:bodyPr wrap="none" rtlCol="0" anchor="t"/>
          <a:lstStyle/>
          <a:p>
            <a:pPr>
              <a:lnSpc>
                <a:spcPts val="2278"/>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The Problem</a:t>
            </a:r>
            <a:endParaRPr lang="en-US" sz="2400" dirty="0">
              <a:latin typeface="Times New Roman" panose="02020603050405020304" pitchFamily="18" charset="0"/>
              <a:cs typeface="Times New Roman" panose="02020603050405020304" pitchFamily="18" charset="0"/>
            </a:endParaRPr>
          </a:p>
        </p:txBody>
      </p:sp>
      <p:sp>
        <p:nvSpPr>
          <p:cNvPr id="10" name="Text 7"/>
          <p:cNvSpPr/>
          <p:nvPr/>
        </p:nvSpPr>
        <p:spPr>
          <a:xfrm>
            <a:off x="2558802" y="2311403"/>
            <a:ext cx="2707367" cy="2073176"/>
          </a:xfrm>
          <a:prstGeom prst="rect">
            <a:avLst/>
          </a:prstGeom>
          <a:noFill/>
          <a:ln/>
        </p:spPr>
        <p:txBody>
          <a:bodyPr wrap="square" rtlCol="0" anchor="t"/>
          <a:lstStyle/>
          <a:p>
            <a:pPr>
              <a:lnSpc>
                <a:spcPct val="150000"/>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Despite advancements in emotion recognition, there remains a gap in integrating handwriting analysis with machine learning to accurately classify emotional states.</a:t>
            </a:r>
            <a:endParaRPr lang="en-US" sz="2000" dirty="0">
              <a:latin typeface="Times New Roman" panose="02020603050405020304" pitchFamily="18" charset="0"/>
              <a:cs typeface="Times New Roman" panose="02020603050405020304" pitchFamily="18" charset="0"/>
            </a:endParaRPr>
          </a:p>
        </p:txBody>
      </p:sp>
      <p:sp>
        <p:nvSpPr>
          <p:cNvPr id="11" name="Shape 8"/>
          <p:cNvSpPr/>
          <p:nvPr/>
        </p:nvSpPr>
        <p:spPr>
          <a:xfrm>
            <a:off x="6024947" y="1876329"/>
            <a:ext cx="416619" cy="416619"/>
          </a:xfrm>
          <a:prstGeom prst="roundRect">
            <a:avLst>
              <a:gd name="adj" fmla="val 13333"/>
            </a:avLst>
          </a:prstGeom>
          <a:solidFill>
            <a:srgbClr val="F6E9D5"/>
          </a:solidFill>
          <a:ln/>
        </p:spPr>
      </p:sp>
      <p:sp>
        <p:nvSpPr>
          <p:cNvPr id="12" name="Text 9"/>
          <p:cNvSpPr/>
          <p:nvPr/>
        </p:nvSpPr>
        <p:spPr>
          <a:xfrm>
            <a:off x="6158594" y="1911056"/>
            <a:ext cx="149225" cy="347068"/>
          </a:xfrm>
          <a:prstGeom prst="rect">
            <a:avLst/>
          </a:prstGeom>
          <a:noFill/>
          <a:ln/>
        </p:spPr>
        <p:txBody>
          <a:bodyPr wrap="none" rtlCol="0" anchor="t"/>
          <a:lstStyle/>
          <a:p>
            <a:pPr algn="ctr">
              <a:lnSpc>
                <a:spcPts val="2734"/>
              </a:lnSpc>
            </a:pPr>
            <a:r>
              <a:rPr lang="en-US" sz="2187" dirty="0">
                <a:solidFill>
                  <a:srgbClr val="38512F"/>
                </a:solidFill>
                <a:latin typeface="Times New Roman" panose="02020603050405020304" pitchFamily="18" charset="0"/>
                <a:ea typeface="Lora" pitchFamily="34" charset="-122"/>
                <a:cs typeface="Times New Roman" panose="02020603050405020304" pitchFamily="18" charset="0"/>
              </a:rPr>
              <a:t>2</a:t>
            </a:r>
            <a:endParaRPr lang="en-US" sz="2187" dirty="0">
              <a:latin typeface="Times New Roman" panose="02020603050405020304" pitchFamily="18" charset="0"/>
              <a:cs typeface="Times New Roman" panose="02020603050405020304" pitchFamily="18" charset="0"/>
            </a:endParaRPr>
          </a:p>
        </p:txBody>
      </p:sp>
      <p:sp>
        <p:nvSpPr>
          <p:cNvPr id="13" name="Text 10"/>
          <p:cNvSpPr/>
          <p:nvPr/>
        </p:nvSpPr>
        <p:spPr>
          <a:xfrm>
            <a:off x="6626708" y="1939929"/>
            <a:ext cx="3236865" cy="371474"/>
          </a:xfrm>
          <a:prstGeom prst="rect">
            <a:avLst/>
          </a:prstGeom>
          <a:noFill/>
          <a:ln/>
        </p:spPr>
        <p:txBody>
          <a:bodyPr wrap="square" rtlCol="0" anchor="t"/>
          <a:lstStyle/>
          <a:p>
            <a:pPr>
              <a:lnSpc>
                <a:spcPts val="2278"/>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The Proposed Solution</a:t>
            </a:r>
            <a:endParaRPr lang="en-US" sz="2400" dirty="0">
              <a:latin typeface="Times New Roman" panose="02020603050405020304" pitchFamily="18" charset="0"/>
              <a:cs typeface="Times New Roman" panose="02020603050405020304" pitchFamily="18" charset="0"/>
            </a:endParaRPr>
          </a:p>
        </p:txBody>
      </p:sp>
      <p:sp>
        <p:nvSpPr>
          <p:cNvPr id="14" name="Text 11"/>
          <p:cNvSpPr/>
          <p:nvPr/>
        </p:nvSpPr>
        <p:spPr>
          <a:xfrm>
            <a:off x="6626708" y="2317514"/>
            <a:ext cx="3236865" cy="2665512"/>
          </a:xfrm>
          <a:prstGeom prst="rect">
            <a:avLst/>
          </a:prstGeom>
          <a:noFill/>
          <a:ln/>
        </p:spPr>
        <p:txBody>
          <a:bodyPr wrap="square" rtlCol="0" anchor="t"/>
          <a:lstStyle/>
          <a:p>
            <a:pPr>
              <a:lnSpc>
                <a:spcPct val="150000"/>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This study aims to develop and evaluate a system that can analyze handwriting samples and determine the writer's emotional state with high accuracy, addressing the need for an effective emotion recognition system.</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15817"/>
            <a:ext cx="12192000" cy="6858000"/>
          </a:xfrm>
          <a:prstGeom prst="rect">
            <a:avLst/>
          </a:prstGeom>
          <a:solidFill>
            <a:srgbClr val="FEF5E7"/>
          </a:solidFill>
          <a:ln/>
        </p:spPr>
      </p:sp>
      <p:sp>
        <p:nvSpPr>
          <p:cNvPr id="4" name="Text 2"/>
          <p:cNvSpPr/>
          <p:nvPr/>
        </p:nvSpPr>
        <p:spPr>
          <a:xfrm>
            <a:off x="3602136" y="578658"/>
            <a:ext cx="4987727" cy="578644"/>
          </a:xfrm>
          <a:prstGeom prst="rect">
            <a:avLst/>
          </a:prstGeom>
          <a:noFill/>
          <a:ln/>
        </p:spPr>
        <p:txBody>
          <a:bodyPr wrap="none" rtlCol="0" anchor="t"/>
          <a:lstStyle/>
          <a:p>
            <a:pPr algn="ctr">
              <a:lnSpc>
                <a:spcPts val="4556"/>
              </a:lnSpc>
            </a:pPr>
            <a:r>
              <a:rPr lang="en-US" sz="3645" dirty="0">
                <a:solidFill>
                  <a:srgbClr val="38512F"/>
                </a:solidFill>
                <a:latin typeface="Times New Roman" panose="02020603050405020304" pitchFamily="18" charset="0"/>
                <a:ea typeface="Lora" pitchFamily="34" charset="-122"/>
                <a:cs typeface="Times New Roman" panose="02020603050405020304" pitchFamily="18" charset="0"/>
              </a:rPr>
              <a:t>Objectives of the Study</a:t>
            </a:r>
            <a:endParaRPr lang="en-US" sz="3645" dirty="0">
              <a:latin typeface="Times New Roman" panose="02020603050405020304" pitchFamily="18" charset="0"/>
              <a:cs typeface="Times New Roman" panose="02020603050405020304" pitchFamily="18" charset="0"/>
            </a:endParaRPr>
          </a:p>
        </p:txBody>
      </p:sp>
      <p:sp>
        <p:nvSpPr>
          <p:cNvPr id="5" name="Text 3"/>
          <p:cNvSpPr/>
          <p:nvPr/>
        </p:nvSpPr>
        <p:spPr>
          <a:xfrm>
            <a:off x="1376584" y="1531428"/>
            <a:ext cx="2314575" cy="289322"/>
          </a:xfrm>
          <a:prstGeom prst="rect">
            <a:avLst/>
          </a:prstGeom>
          <a:noFill/>
          <a:ln/>
        </p:spPr>
        <p:txBody>
          <a:bodyPr wrap="none" rtlCol="0" anchor="t"/>
          <a:lstStyle/>
          <a:p>
            <a:pPr>
              <a:lnSpc>
                <a:spcPct val="150000"/>
              </a:lnSpc>
            </a:pPr>
            <a:r>
              <a:rPr lang="en-US" sz="2200" dirty="0">
                <a:solidFill>
                  <a:srgbClr val="38512F"/>
                </a:solidFill>
                <a:latin typeface="Times New Roman" panose="02020603050405020304" pitchFamily="18" charset="0"/>
                <a:ea typeface="Lora" pitchFamily="34" charset="-122"/>
                <a:cs typeface="Times New Roman" panose="02020603050405020304" pitchFamily="18" charset="0"/>
              </a:rPr>
              <a:t>General Objective</a:t>
            </a:r>
            <a:endParaRPr lang="en-US" sz="2200" dirty="0">
              <a:latin typeface="Times New Roman" panose="02020603050405020304" pitchFamily="18" charset="0"/>
              <a:cs typeface="Times New Roman" panose="02020603050405020304" pitchFamily="18" charset="0"/>
            </a:endParaRPr>
          </a:p>
        </p:txBody>
      </p:sp>
      <p:sp>
        <p:nvSpPr>
          <p:cNvPr id="6" name="Text 4"/>
          <p:cNvSpPr/>
          <p:nvPr/>
        </p:nvSpPr>
        <p:spPr>
          <a:xfrm>
            <a:off x="1376584" y="2005892"/>
            <a:ext cx="3913088" cy="1480840"/>
          </a:xfrm>
          <a:prstGeom prst="rect">
            <a:avLst/>
          </a:prstGeom>
          <a:noFill/>
          <a:ln/>
        </p:spPr>
        <p:txBody>
          <a:bodyPr wrap="square" rtlCol="0" anchor="t"/>
          <a:lstStyle/>
          <a:p>
            <a:pPr>
              <a:lnSpc>
                <a:spcPct val="150000"/>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The general objective of this study is to develop and evaluate a machine learning system capable of classifying emotional states from student handwriting samples, leveraging advanced image processing techniques.</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6261101" y="1636068"/>
            <a:ext cx="2799293" cy="289322"/>
          </a:xfrm>
          <a:prstGeom prst="rect">
            <a:avLst/>
          </a:prstGeom>
          <a:noFill/>
          <a:ln/>
        </p:spPr>
        <p:txBody>
          <a:bodyPr wrap="none" rtlCol="0" anchor="t"/>
          <a:lstStyle/>
          <a:p>
            <a:pPr>
              <a:lnSpc>
                <a:spcPts val="2278"/>
              </a:lnSpc>
            </a:pPr>
            <a:r>
              <a:rPr lang="en-US" sz="2200" dirty="0">
                <a:solidFill>
                  <a:srgbClr val="38512F"/>
                </a:solidFill>
                <a:latin typeface="Times New Roman" panose="02020603050405020304" pitchFamily="18" charset="0"/>
                <a:ea typeface="Lora" pitchFamily="34" charset="-122"/>
                <a:cs typeface="Times New Roman" panose="02020603050405020304" pitchFamily="18" charset="0"/>
              </a:rPr>
              <a:t>Specific Objectives</a:t>
            </a:r>
            <a:endParaRPr lang="en-US" sz="2200" dirty="0">
              <a:latin typeface="Times New Roman" panose="02020603050405020304" pitchFamily="18" charset="0"/>
              <a:cs typeface="Times New Roman" panose="02020603050405020304" pitchFamily="18" charset="0"/>
            </a:endParaRPr>
          </a:p>
        </p:txBody>
      </p:sp>
      <p:sp>
        <p:nvSpPr>
          <p:cNvPr id="8" name="Text 6"/>
          <p:cNvSpPr/>
          <p:nvPr/>
        </p:nvSpPr>
        <p:spPr>
          <a:xfrm>
            <a:off x="6261101" y="2101712"/>
            <a:ext cx="5266870" cy="592336"/>
          </a:xfrm>
          <a:prstGeom prst="rect">
            <a:avLst/>
          </a:prstGeom>
          <a:noFill/>
          <a:ln/>
        </p:spPr>
        <p:txBody>
          <a:bodyPr wrap="square" rtlCol="0" anchor="t"/>
          <a:lstStyle/>
          <a:p>
            <a:pPr marL="285739" indent="-285739">
              <a:lnSpc>
                <a:spcPts val="2332"/>
              </a:lnSpc>
              <a:buSzPct val="100000"/>
              <a:buFont typeface="+mj-lt"/>
              <a:buAutoNum type="arabicPeriod"/>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Data Collection: Gather diverse handwriting samples from participants.</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6261101" y="2923490"/>
            <a:ext cx="5266870" cy="592336"/>
          </a:xfrm>
          <a:prstGeom prst="rect">
            <a:avLst/>
          </a:prstGeom>
          <a:noFill/>
          <a:ln/>
        </p:spPr>
        <p:txBody>
          <a:bodyPr wrap="square" rtlCol="0" anchor="t"/>
          <a:lstStyle/>
          <a:p>
            <a:pPr marL="285739" indent="-285739">
              <a:lnSpc>
                <a:spcPts val="2332"/>
              </a:lnSpc>
              <a:buSzPct val="100000"/>
              <a:buFont typeface="+mj-lt"/>
              <a:buAutoNum type="arabicPeriod" startAt="2"/>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Data Preprocessing: Clean and preprocess the data.</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6261101" y="3745268"/>
            <a:ext cx="5266870" cy="1184672"/>
          </a:xfrm>
          <a:prstGeom prst="rect">
            <a:avLst/>
          </a:prstGeom>
          <a:noFill/>
          <a:ln/>
        </p:spPr>
        <p:txBody>
          <a:bodyPr wrap="square" rtlCol="0" anchor="t"/>
          <a:lstStyle/>
          <a:p>
            <a:pPr marL="285739" indent="-285739">
              <a:lnSpc>
                <a:spcPts val="2332"/>
              </a:lnSpc>
              <a:buSzPct val="100000"/>
              <a:buFont typeface="+mj-lt"/>
              <a:buAutoNum type="arabicPeriod" startAt="3"/>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Model Design and Development: Design and develop a hybrid model combining Convolutional Neural Networks (CNNs) and Hidden Markov Models (HMMs).</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6261101" y="5160664"/>
            <a:ext cx="5266870" cy="592336"/>
          </a:xfrm>
          <a:prstGeom prst="rect">
            <a:avLst/>
          </a:prstGeom>
          <a:noFill/>
          <a:ln/>
        </p:spPr>
        <p:txBody>
          <a:bodyPr wrap="square" rtlCol="0" anchor="t"/>
          <a:lstStyle/>
          <a:p>
            <a:pPr marL="285739" indent="-285739">
              <a:lnSpc>
                <a:spcPts val="2332"/>
              </a:lnSpc>
              <a:buSzPct val="100000"/>
              <a:buFont typeface="+mj-lt"/>
              <a:buAutoNum type="arabicPeriod" startAt="4"/>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Model Testing and Evaluation: Test the model and determine its accuracy.</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sp>
        <p:nvSpPr>
          <p:cNvPr id="4" name="Text 2"/>
          <p:cNvSpPr/>
          <p:nvPr/>
        </p:nvSpPr>
        <p:spPr>
          <a:xfrm>
            <a:off x="4046141" y="183554"/>
            <a:ext cx="4324152" cy="467817"/>
          </a:xfrm>
          <a:prstGeom prst="rect">
            <a:avLst/>
          </a:prstGeom>
          <a:noFill/>
          <a:ln/>
        </p:spPr>
        <p:txBody>
          <a:bodyPr wrap="none" rtlCol="0" anchor="t"/>
          <a:lstStyle/>
          <a:p>
            <a:pPr algn="ctr">
              <a:lnSpc>
                <a:spcPts val="3683"/>
              </a:lnSpc>
            </a:pPr>
            <a:r>
              <a:rPr lang="en-US" sz="3200" dirty="0">
                <a:solidFill>
                  <a:srgbClr val="38512F"/>
                </a:solidFill>
                <a:latin typeface="Times New Roman" panose="02020603050405020304" pitchFamily="18" charset="0"/>
                <a:ea typeface="Lora" pitchFamily="34" charset="-122"/>
                <a:cs typeface="Times New Roman" panose="02020603050405020304" pitchFamily="18" charset="0"/>
              </a:rPr>
              <a:t>Significance of the Study</a:t>
            </a:r>
            <a:endParaRPr lang="en-US" sz="3200" dirty="0">
              <a:latin typeface="Times New Roman" panose="02020603050405020304" pitchFamily="18" charset="0"/>
              <a:cs typeface="Times New Roman" panose="02020603050405020304" pitchFamily="18" charset="0"/>
            </a:endParaRPr>
          </a:p>
        </p:txBody>
      </p:sp>
      <p:sp>
        <p:nvSpPr>
          <p:cNvPr id="6" name="Text 3"/>
          <p:cNvSpPr/>
          <p:nvPr/>
        </p:nvSpPr>
        <p:spPr>
          <a:xfrm>
            <a:off x="514945" y="2188232"/>
            <a:ext cx="2576598" cy="467718"/>
          </a:xfrm>
          <a:prstGeom prst="rect">
            <a:avLst/>
          </a:prstGeom>
          <a:noFill/>
          <a:ln/>
        </p:spPr>
        <p:txBody>
          <a:bodyPr wrap="square" rtlCol="0" anchor="t"/>
          <a:lstStyle/>
          <a:p>
            <a:pPr>
              <a:lnSpc>
                <a:spcPts val="1842"/>
              </a:lnSpc>
            </a:pPr>
            <a:r>
              <a:rPr lang="en-US" sz="2200" dirty="0">
                <a:solidFill>
                  <a:srgbClr val="38512F"/>
                </a:solidFill>
                <a:latin typeface="Times New Roman" panose="02020603050405020304" pitchFamily="18" charset="0"/>
                <a:ea typeface="Lora" pitchFamily="34" charset="-122"/>
                <a:cs typeface="Times New Roman" panose="02020603050405020304" pitchFamily="18" charset="0"/>
              </a:rPr>
              <a:t>Human-Computer Interaction (HCI)</a:t>
            </a:r>
            <a:endParaRPr lang="en-US" sz="2200" dirty="0">
              <a:latin typeface="Times New Roman" panose="02020603050405020304" pitchFamily="18" charset="0"/>
              <a:cs typeface="Times New Roman" panose="02020603050405020304" pitchFamily="18" charset="0"/>
            </a:endParaRPr>
          </a:p>
        </p:txBody>
      </p:sp>
      <p:sp>
        <p:nvSpPr>
          <p:cNvPr id="7" name="Text 4"/>
          <p:cNvSpPr/>
          <p:nvPr/>
        </p:nvSpPr>
        <p:spPr>
          <a:xfrm>
            <a:off x="514945" y="2759457"/>
            <a:ext cx="2576598" cy="3113683"/>
          </a:xfrm>
          <a:prstGeom prst="rect">
            <a:avLst/>
          </a:prstGeom>
          <a:noFill/>
          <a:ln/>
        </p:spPr>
        <p:txBody>
          <a:bodyPr wrap="square" rtlCol="0" anchor="t"/>
          <a:lstStyle/>
          <a:p>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By developing a novel emotion recognition system from handwriting, this research enhances how humans interact with technology. It offers the potential for more emotionally sensitive interfaces and adaptive systems that personalize user experiences.</a:t>
            </a:r>
            <a:endParaRPr lang="en-US" dirty="0">
              <a:latin typeface="Times New Roman" panose="02020603050405020304" pitchFamily="18" charset="0"/>
              <a:cs typeface="Times New Roman" panose="02020603050405020304" pitchFamily="18" charset="0"/>
            </a:endParaRPr>
          </a:p>
        </p:txBody>
      </p:sp>
      <p:sp>
        <p:nvSpPr>
          <p:cNvPr id="9" name="Text 5"/>
          <p:cNvSpPr/>
          <p:nvPr/>
        </p:nvSpPr>
        <p:spPr>
          <a:xfrm>
            <a:off x="3368753" y="2188503"/>
            <a:ext cx="2576769" cy="467718"/>
          </a:xfrm>
          <a:prstGeom prst="rect">
            <a:avLst/>
          </a:prstGeom>
          <a:noFill/>
          <a:ln/>
        </p:spPr>
        <p:txBody>
          <a:bodyPr wrap="square" rtlCol="0" anchor="t"/>
          <a:lstStyle/>
          <a:p>
            <a:pPr>
              <a:lnSpc>
                <a:spcPts val="1842"/>
              </a:lnSpc>
            </a:pPr>
            <a:r>
              <a:rPr lang="en-US" sz="2200" dirty="0">
                <a:solidFill>
                  <a:srgbClr val="38512F"/>
                </a:solidFill>
                <a:latin typeface="Times New Roman" panose="02020603050405020304" pitchFamily="18" charset="0"/>
                <a:ea typeface="Lora" pitchFamily="34" charset="-122"/>
                <a:cs typeface="Times New Roman" panose="02020603050405020304" pitchFamily="18" charset="0"/>
              </a:rPr>
              <a:t>Emotional Intelligence</a:t>
            </a:r>
            <a:endParaRPr lang="en-US" sz="2200" dirty="0">
              <a:latin typeface="Times New Roman" panose="02020603050405020304" pitchFamily="18" charset="0"/>
              <a:cs typeface="Times New Roman" panose="02020603050405020304" pitchFamily="18" charset="0"/>
            </a:endParaRPr>
          </a:p>
        </p:txBody>
      </p:sp>
      <p:sp>
        <p:nvSpPr>
          <p:cNvPr id="10" name="Text 6"/>
          <p:cNvSpPr/>
          <p:nvPr/>
        </p:nvSpPr>
        <p:spPr>
          <a:xfrm>
            <a:off x="3368753" y="2759457"/>
            <a:ext cx="2576769" cy="3592711"/>
          </a:xfrm>
          <a:prstGeom prst="rect">
            <a:avLst/>
          </a:prstGeom>
          <a:noFill/>
          <a:ln/>
        </p:spPr>
        <p:txBody>
          <a:bodyPr wrap="square" rtlCol="0" anchor="t"/>
          <a:lstStyle/>
          <a:p>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Understanding the link between handwriting and emotions helps unravel the complexities of human emotional expression. This study could inform future development of tools that assist individuals in understanding their own emotions and potentially augment emotional self-regulation.</a:t>
            </a:r>
            <a:endParaRPr lang="en-US" dirty="0">
              <a:latin typeface="Times New Roman" panose="02020603050405020304" pitchFamily="18" charset="0"/>
              <a:cs typeface="Times New Roman" panose="02020603050405020304" pitchFamily="18" charset="0"/>
            </a:endParaRPr>
          </a:p>
        </p:txBody>
      </p:sp>
      <p:sp>
        <p:nvSpPr>
          <p:cNvPr id="12" name="Text 7"/>
          <p:cNvSpPr/>
          <p:nvPr/>
        </p:nvSpPr>
        <p:spPr>
          <a:xfrm>
            <a:off x="6222732" y="2188503"/>
            <a:ext cx="2576598" cy="467718"/>
          </a:xfrm>
          <a:prstGeom prst="rect">
            <a:avLst/>
          </a:prstGeom>
          <a:noFill/>
          <a:ln/>
        </p:spPr>
        <p:txBody>
          <a:bodyPr wrap="square" rtlCol="0" anchor="t"/>
          <a:lstStyle/>
          <a:p>
            <a:pPr>
              <a:lnSpc>
                <a:spcPts val="1842"/>
              </a:lnSpc>
            </a:pPr>
            <a:r>
              <a:rPr lang="en-US" sz="2200" dirty="0">
                <a:solidFill>
                  <a:srgbClr val="38512F"/>
                </a:solidFill>
                <a:latin typeface="Times New Roman" panose="02020603050405020304" pitchFamily="18" charset="0"/>
                <a:ea typeface="Lora" pitchFamily="34" charset="-122"/>
                <a:cs typeface="Times New Roman" panose="02020603050405020304" pitchFamily="18" charset="0"/>
              </a:rPr>
              <a:t>Psychology and Education</a:t>
            </a:r>
            <a:endParaRPr lang="en-US" sz="2200" dirty="0">
              <a:latin typeface="Times New Roman" panose="02020603050405020304" pitchFamily="18" charset="0"/>
              <a:cs typeface="Times New Roman" panose="02020603050405020304" pitchFamily="18" charset="0"/>
            </a:endParaRPr>
          </a:p>
        </p:txBody>
      </p:sp>
      <p:sp>
        <p:nvSpPr>
          <p:cNvPr id="13" name="Text 8"/>
          <p:cNvSpPr/>
          <p:nvPr/>
        </p:nvSpPr>
        <p:spPr>
          <a:xfrm>
            <a:off x="6222732" y="2759457"/>
            <a:ext cx="2576598" cy="3353197"/>
          </a:xfrm>
          <a:prstGeom prst="rect">
            <a:avLst/>
          </a:prstGeom>
          <a:noFill/>
          <a:ln/>
        </p:spPr>
        <p:txBody>
          <a:bodyPr wrap="square" rtlCol="0" anchor="t"/>
          <a:lstStyle/>
          <a:p>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This study could provide valuable insights for psychologists seeking supplementary methods for assessing emotional states. Within education, emotion-aware technologies could help tailor learning experiences and create supportive environments for students.</a:t>
            </a:r>
            <a:endParaRPr lang="en-US" dirty="0">
              <a:latin typeface="Times New Roman" panose="02020603050405020304" pitchFamily="18" charset="0"/>
              <a:cs typeface="Times New Roman" panose="02020603050405020304" pitchFamily="18" charset="0"/>
            </a:endParaRPr>
          </a:p>
        </p:txBody>
      </p:sp>
      <p:sp>
        <p:nvSpPr>
          <p:cNvPr id="15" name="Text 9"/>
          <p:cNvSpPr/>
          <p:nvPr/>
        </p:nvSpPr>
        <p:spPr>
          <a:xfrm>
            <a:off x="9100459" y="2188232"/>
            <a:ext cx="2576769" cy="233858"/>
          </a:xfrm>
          <a:prstGeom prst="rect">
            <a:avLst/>
          </a:prstGeom>
          <a:noFill/>
          <a:ln/>
        </p:spPr>
        <p:txBody>
          <a:bodyPr wrap="none" rtlCol="0" anchor="t"/>
          <a:lstStyle/>
          <a:p>
            <a:pPr>
              <a:lnSpc>
                <a:spcPts val="1842"/>
              </a:lnSpc>
            </a:pPr>
            <a:r>
              <a:rPr lang="en-US" sz="2200" dirty="0">
                <a:solidFill>
                  <a:srgbClr val="38512F"/>
                </a:solidFill>
                <a:latin typeface="Times New Roman" panose="02020603050405020304" pitchFamily="18" charset="0"/>
                <a:ea typeface="Lora" pitchFamily="34" charset="-122"/>
                <a:cs typeface="Times New Roman" panose="02020603050405020304" pitchFamily="18" charset="0"/>
              </a:rPr>
              <a:t>Healthcare</a:t>
            </a:r>
            <a:endParaRPr lang="en-US" sz="2200" dirty="0">
              <a:latin typeface="Times New Roman" panose="02020603050405020304" pitchFamily="18" charset="0"/>
              <a:cs typeface="Times New Roman" panose="02020603050405020304" pitchFamily="18" charset="0"/>
            </a:endParaRPr>
          </a:p>
        </p:txBody>
      </p:sp>
      <p:sp>
        <p:nvSpPr>
          <p:cNvPr id="16" name="Text 10"/>
          <p:cNvSpPr/>
          <p:nvPr/>
        </p:nvSpPr>
        <p:spPr>
          <a:xfrm>
            <a:off x="9100459" y="2759457"/>
            <a:ext cx="2576769" cy="2874169"/>
          </a:xfrm>
          <a:prstGeom prst="rect">
            <a:avLst/>
          </a:prstGeom>
          <a:noFill/>
          <a:ln/>
        </p:spPr>
        <p:txBody>
          <a:bodyPr wrap="square" rtlCol="0" anchor="t"/>
          <a:lstStyle/>
          <a:p>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This study could lay the groundwork for future exploration of handwriting-based emotion detection as a potential supplementary tool in mental health screening or monitoring.</a:t>
            </a:r>
            <a:endParaRPr lang="en-US" dirty="0">
              <a:latin typeface="Times New Roman" panose="02020603050405020304" pitchFamily="18" charset="0"/>
              <a:cs typeface="Times New Roman" panose="02020603050405020304" pitchFamily="18" charset="0"/>
            </a:endParaRPr>
          </a:p>
        </p:txBody>
      </p:sp>
      <p:sp>
        <p:nvSpPr>
          <p:cNvPr id="21" name="Freeform 6">
            <a:extLst>
              <a:ext uri="{FF2B5EF4-FFF2-40B4-BE49-F238E27FC236}">
                <a16:creationId xmlns:a16="http://schemas.microsoft.com/office/drawing/2014/main" id="{2D4DD2FD-56D3-41B7-BCE1-B238C7391CF8}"/>
              </a:ext>
            </a:extLst>
          </p:cNvPr>
          <p:cNvSpPr/>
          <p:nvPr/>
        </p:nvSpPr>
        <p:spPr>
          <a:xfrm>
            <a:off x="964554" y="970989"/>
            <a:ext cx="1092519" cy="1152027"/>
          </a:xfrm>
          <a:custGeom>
            <a:avLst/>
            <a:gdLst/>
            <a:ahLst/>
            <a:cxnLst/>
            <a:rect l="l" t="t" r="r" b="b"/>
            <a:pathLst>
              <a:path w="2466741" h="2923938">
                <a:moveTo>
                  <a:pt x="0" y="0"/>
                </a:moveTo>
                <a:lnTo>
                  <a:pt x="2466740" y="0"/>
                </a:lnTo>
                <a:lnTo>
                  <a:pt x="2466740" y="2923938"/>
                </a:lnTo>
                <a:lnTo>
                  <a:pt x="0" y="29239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7">
            <a:extLst>
              <a:ext uri="{FF2B5EF4-FFF2-40B4-BE49-F238E27FC236}">
                <a16:creationId xmlns:a16="http://schemas.microsoft.com/office/drawing/2014/main" id="{B4FD8433-AE71-46E6-BCB9-712EF0A19A7A}"/>
              </a:ext>
            </a:extLst>
          </p:cNvPr>
          <p:cNvSpPr/>
          <p:nvPr/>
        </p:nvSpPr>
        <p:spPr>
          <a:xfrm>
            <a:off x="6687338" y="1056100"/>
            <a:ext cx="1056005" cy="1071720"/>
          </a:xfrm>
          <a:custGeom>
            <a:avLst/>
            <a:gdLst/>
            <a:ahLst/>
            <a:cxnLst/>
            <a:rect l="l" t="t" r="r" b="b"/>
            <a:pathLst>
              <a:path w="2384298" h="2720114">
                <a:moveTo>
                  <a:pt x="0" y="0"/>
                </a:moveTo>
                <a:lnTo>
                  <a:pt x="2384298" y="0"/>
                </a:lnTo>
                <a:lnTo>
                  <a:pt x="2384298" y="2720114"/>
                </a:lnTo>
                <a:lnTo>
                  <a:pt x="0" y="272011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8">
            <a:extLst>
              <a:ext uri="{FF2B5EF4-FFF2-40B4-BE49-F238E27FC236}">
                <a16:creationId xmlns:a16="http://schemas.microsoft.com/office/drawing/2014/main" id="{FCE3BA99-ADED-4213-A745-E38FE452C81B}"/>
              </a:ext>
            </a:extLst>
          </p:cNvPr>
          <p:cNvSpPr/>
          <p:nvPr/>
        </p:nvSpPr>
        <p:spPr>
          <a:xfrm>
            <a:off x="9606032" y="1020212"/>
            <a:ext cx="1247724" cy="1109961"/>
          </a:xfrm>
          <a:custGeom>
            <a:avLst/>
            <a:gdLst/>
            <a:ahLst/>
            <a:cxnLst/>
            <a:rect l="l" t="t" r="r" b="b"/>
            <a:pathLst>
              <a:path w="2817171" h="2817171">
                <a:moveTo>
                  <a:pt x="0" y="0"/>
                </a:moveTo>
                <a:lnTo>
                  <a:pt x="2817170" y="0"/>
                </a:lnTo>
                <a:lnTo>
                  <a:pt x="2817170" y="2817171"/>
                </a:lnTo>
                <a:lnTo>
                  <a:pt x="0" y="281717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9">
            <a:extLst>
              <a:ext uri="{FF2B5EF4-FFF2-40B4-BE49-F238E27FC236}">
                <a16:creationId xmlns:a16="http://schemas.microsoft.com/office/drawing/2014/main" id="{8808281E-B897-4D43-89B2-69AE0760FC07}"/>
              </a:ext>
            </a:extLst>
          </p:cNvPr>
          <p:cNvSpPr/>
          <p:nvPr/>
        </p:nvSpPr>
        <p:spPr>
          <a:xfrm>
            <a:off x="3857368" y="1011126"/>
            <a:ext cx="1270686" cy="1111890"/>
          </a:xfrm>
          <a:custGeom>
            <a:avLst/>
            <a:gdLst/>
            <a:ahLst/>
            <a:cxnLst/>
            <a:rect l="l" t="t" r="r" b="b"/>
            <a:pathLst>
              <a:path w="2869014" h="2822067">
                <a:moveTo>
                  <a:pt x="0" y="0"/>
                </a:moveTo>
                <a:lnTo>
                  <a:pt x="2869015" y="0"/>
                </a:lnTo>
                <a:lnTo>
                  <a:pt x="2869015" y="2822067"/>
                </a:lnTo>
                <a:lnTo>
                  <a:pt x="0" y="282206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6" name="Text 3"/>
          <p:cNvSpPr/>
          <p:nvPr/>
        </p:nvSpPr>
        <p:spPr>
          <a:xfrm>
            <a:off x="3704381" y="486023"/>
            <a:ext cx="4783237" cy="578644"/>
          </a:xfrm>
          <a:prstGeom prst="rect">
            <a:avLst/>
          </a:prstGeom>
          <a:noFill/>
          <a:ln/>
        </p:spPr>
        <p:txBody>
          <a:bodyPr wrap="none" rtlCol="0" anchor="t"/>
          <a:lstStyle/>
          <a:p>
            <a:pPr algn="ctr">
              <a:lnSpc>
                <a:spcPts val="4556"/>
              </a:lnSpc>
            </a:pPr>
            <a:r>
              <a:rPr lang="en-US" sz="3600" dirty="0">
                <a:solidFill>
                  <a:srgbClr val="38512F"/>
                </a:solidFill>
                <a:latin typeface="Times New Roman" panose="02020603050405020304" pitchFamily="18" charset="0"/>
                <a:ea typeface="Lora" pitchFamily="34" charset="-122"/>
                <a:cs typeface="Times New Roman" panose="02020603050405020304" pitchFamily="18" charset="0"/>
              </a:rPr>
              <a:t>Scope and Limitations</a:t>
            </a:r>
            <a:endParaRPr lang="en-US" sz="36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4"/>
          <a:stretch>
            <a:fillRect/>
          </a:stretch>
        </p:blipFill>
        <p:spPr>
          <a:xfrm>
            <a:off x="1244061" y="1394659"/>
            <a:ext cx="4138910" cy="740568"/>
          </a:xfrm>
          <a:prstGeom prst="rect">
            <a:avLst/>
          </a:prstGeom>
        </p:spPr>
      </p:pic>
      <p:sp>
        <p:nvSpPr>
          <p:cNvPr id="8" name="Text 4"/>
          <p:cNvSpPr/>
          <p:nvPr/>
        </p:nvSpPr>
        <p:spPr>
          <a:xfrm>
            <a:off x="1429203" y="2363514"/>
            <a:ext cx="2314575" cy="289322"/>
          </a:xfrm>
          <a:prstGeom prst="rect">
            <a:avLst/>
          </a:prstGeom>
          <a:noFill/>
          <a:ln/>
        </p:spPr>
        <p:txBody>
          <a:bodyPr wrap="none" rtlCol="0" anchor="t"/>
          <a:lstStyle/>
          <a:p>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Scope</a:t>
            </a:r>
            <a:endParaRPr lang="en-US" sz="2800" dirty="0">
              <a:latin typeface="Times New Roman" panose="02020603050405020304" pitchFamily="18" charset="0"/>
              <a:cs typeface="Times New Roman" panose="02020603050405020304" pitchFamily="18" charset="0"/>
            </a:endParaRPr>
          </a:p>
        </p:txBody>
      </p:sp>
      <p:sp>
        <p:nvSpPr>
          <p:cNvPr id="9" name="Text 5"/>
          <p:cNvSpPr/>
          <p:nvPr/>
        </p:nvSpPr>
        <p:spPr>
          <a:xfrm>
            <a:off x="1429203" y="2763862"/>
            <a:ext cx="3768626" cy="1480840"/>
          </a:xfrm>
          <a:prstGeom prst="rect">
            <a:avLst/>
          </a:prstGeom>
          <a:noFill/>
          <a:ln/>
        </p:spPr>
        <p:txBody>
          <a:bodyPr wrap="square" rtlCol="0" anchor="t"/>
          <a:lstStyle/>
          <a:p>
            <a:pPr>
              <a:lnSpc>
                <a:spcPct val="150000"/>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Developing a new emotion recognition system from handwriting data that can identify emotions like happiness and sadness, using an approach that integrates CNNs, HMMs, and image processing techniques.</a:t>
            </a:r>
            <a:endParaRPr lang="en-US" sz="20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5"/>
          <a:stretch>
            <a:fillRect/>
          </a:stretch>
        </p:blipFill>
        <p:spPr>
          <a:xfrm>
            <a:off x="6804478" y="1345232"/>
            <a:ext cx="4139009" cy="740568"/>
          </a:xfrm>
          <a:prstGeom prst="rect">
            <a:avLst/>
          </a:prstGeom>
        </p:spPr>
      </p:pic>
      <p:sp>
        <p:nvSpPr>
          <p:cNvPr id="11" name="Text 6"/>
          <p:cNvSpPr/>
          <p:nvPr/>
        </p:nvSpPr>
        <p:spPr>
          <a:xfrm>
            <a:off x="6989620" y="2363514"/>
            <a:ext cx="2314575" cy="289322"/>
          </a:xfrm>
          <a:prstGeom prst="rect">
            <a:avLst/>
          </a:prstGeom>
          <a:noFill/>
          <a:ln/>
        </p:spPr>
        <p:txBody>
          <a:bodyPr wrap="none" rtlCol="0" anchor="t"/>
          <a:lstStyle/>
          <a:p>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Limitations</a:t>
            </a:r>
            <a:endParaRPr lang="en-US" sz="2800" dirty="0">
              <a:latin typeface="Times New Roman" panose="02020603050405020304" pitchFamily="18" charset="0"/>
              <a:cs typeface="Times New Roman" panose="02020603050405020304" pitchFamily="18" charset="0"/>
            </a:endParaRPr>
          </a:p>
        </p:txBody>
      </p:sp>
      <p:sp>
        <p:nvSpPr>
          <p:cNvPr id="12" name="Text 7"/>
          <p:cNvSpPr/>
          <p:nvPr/>
        </p:nvSpPr>
        <p:spPr>
          <a:xfrm>
            <a:off x="6989620" y="2763862"/>
            <a:ext cx="3768725" cy="1777008"/>
          </a:xfrm>
          <a:prstGeom prst="rect">
            <a:avLst/>
          </a:prstGeom>
          <a:noFill/>
          <a:ln/>
        </p:spPr>
        <p:txBody>
          <a:bodyPr wrap="square" rtlCol="0" anchor="t"/>
          <a:lstStyle/>
          <a:p>
            <a:pPr>
              <a:lnSpc>
                <a:spcPct val="150000"/>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The system's accuracy will depend on the quality and diversity of the handwriting samples, as well as the reliability of the emotional annotations. Factors like real-world deployment, noise, and ethical concerns will also need to be carefully considered.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6350" y="0"/>
            <a:ext cx="4572000" cy="6858000"/>
          </a:xfrm>
          <a:prstGeom prst="rect">
            <a:avLst/>
          </a:prstGeom>
        </p:spPr>
      </p:pic>
      <p:sp>
        <p:nvSpPr>
          <p:cNvPr id="5" name="Text 2"/>
          <p:cNvSpPr/>
          <p:nvPr/>
        </p:nvSpPr>
        <p:spPr>
          <a:xfrm>
            <a:off x="5263158" y="1831975"/>
            <a:ext cx="6231334" cy="1597025"/>
          </a:xfrm>
          <a:prstGeom prst="rect">
            <a:avLst/>
          </a:prstGeom>
          <a:noFill/>
          <a:ln/>
        </p:spPr>
        <p:txBody>
          <a:bodyPr wrap="square" rtlCol="0" anchor="t"/>
          <a:lstStyle/>
          <a:p>
            <a:pPr>
              <a:lnSpc>
                <a:spcPts val="6287"/>
              </a:lnSpc>
            </a:pPr>
            <a:r>
              <a:rPr lang="en-US" sz="5400" dirty="0">
                <a:solidFill>
                  <a:srgbClr val="38512F"/>
                </a:solidFill>
                <a:latin typeface="Times New Roman" panose="02020603050405020304" pitchFamily="18" charset="0"/>
                <a:ea typeface="Lora" pitchFamily="34" charset="-122"/>
                <a:cs typeface="Times New Roman" panose="02020603050405020304" pitchFamily="18" charset="0"/>
              </a:rPr>
              <a:t>Review of Related Literature</a:t>
            </a:r>
            <a:endParaRPr lang="en-US" sz="5400" dirty="0">
              <a:latin typeface="Times New Roman" panose="02020603050405020304" pitchFamily="18" charset="0"/>
              <a:cs typeface="Times New Roman" panose="02020603050405020304" pitchFamily="18" charset="0"/>
            </a:endParaRPr>
          </a:p>
        </p:txBody>
      </p:sp>
      <p:sp>
        <p:nvSpPr>
          <p:cNvPr id="7" name="Shape 4"/>
          <p:cNvSpPr/>
          <p:nvPr/>
        </p:nvSpPr>
        <p:spPr>
          <a:xfrm>
            <a:off x="5266333" y="5210869"/>
            <a:ext cx="296168" cy="296168"/>
          </a:xfrm>
          <a:prstGeom prst="roundRect">
            <a:avLst>
              <a:gd name="adj" fmla="val 25726039"/>
            </a:avLst>
          </a:prstGeom>
          <a:noFill/>
          <a:ln w="7620">
            <a:solidFill>
              <a:srgbClr val="FFFFFF"/>
            </a:solidFill>
            <a:prstDash val="solid"/>
          </a:ln>
        </p:spPr>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1" y="0"/>
            <a:ext cx="12192000" cy="6858000"/>
          </a:xfrm>
          <a:prstGeom prst="rect">
            <a:avLst/>
          </a:prstGeom>
          <a:solidFill>
            <a:srgbClr val="FEF5E7"/>
          </a:solidFill>
          <a:ln/>
        </p:spPr>
      </p:sp>
      <p:sp>
        <p:nvSpPr>
          <p:cNvPr id="4" name="Text 2"/>
          <p:cNvSpPr/>
          <p:nvPr/>
        </p:nvSpPr>
        <p:spPr>
          <a:xfrm>
            <a:off x="3781423" y="383169"/>
            <a:ext cx="4629150" cy="578644"/>
          </a:xfrm>
          <a:prstGeom prst="rect">
            <a:avLst/>
          </a:prstGeom>
          <a:noFill/>
          <a:ln/>
        </p:spPr>
        <p:txBody>
          <a:bodyPr wrap="none" rtlCol="0" anchor="t"/>
          <a:lstStyle/>
          <a:p>
            <a:pPr algn="ctr">
              <a:lnSpc>
                <a:spcPts val="4556"/>
              </a:lnSpc>
            </a:pPr>
            <a:r>
              <a:rPr lang="en-US" sz="3645" dirty="0">
                <a:solidFill>
                  <a:srgbClr val="38512F"/>
                </a:solidFill>
                <a:latin typeface="Times New Roman" panose="02020603050405020304" pitchFamily="18" charset="0"/>
                <a:ea typeface="Lora" pitchFamily="34" charset="-122"/>
                <a:cs typeface="Times New Roman" panose="02020603050405020304" pitchFamily="18" charset="0"/>
              </a:rPr>
              <a:t>Related Studies</a:t>
            </a:r>
            <a:endParaRPr lang="en-US" sz="3645" dirty="0">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EE5E70A4-2F93-422F-8374-3629E4EE0345}"/>
              </a:ext>
            </a:extLst>
          </p:cNvPr>
          <p:cNvGraphicFramePr>
            <a:graphicFrameLocks noGrp="1"/>
          </p:cNvGraphicFramePr>
          <p:nvPr>
            <p:extLst>
              <p:ext uri="{D42A27DB-BD31-4B8C-83A1-F6EECF244321}">
                <p14:modId xmlns:p14="http://schemas.microsoft.com/office/powerpoint/2010/main" val="2462453139"/>
              </p:ext>
            </p:extLst>
          </p:nvPr>
        </p:nvGraphicFramePr>
        <p:xfrm>
          <a:off x="361948" y="1344982"/>
          <a:ext cx="11468101" cy="11391011"/>
        </p:xfrm>
        <a:graphic>
          <a:graphicData uri="http://schemas.openxmlformats.org/drawingml/2006/table">
            <a:tbl>
              <a:tblPr firstRow="1" firstCol="1" bandRow="1">
                <a:tableStyleId>{E8B1032C-EA38-4F05-BA0D-38AFFFC7BED3}</a:tableStyleId>
              </a:tblPr>
              <a:tblGrid>
                <a:gridCol w="2305050">
                  <a:extLst>
                    <a:ext uri="{9D8B030D-6E8A-4147-A177-3AD203B41FA5}">
                      <a16:colId xmlns:a16="http://schemas.microsoft.com/office/drawing/2014/main" val="40914367"/>
                    </a:ext>
                  </a:extLst>
                </a:gridCol>
                <a:gridCol w="3429397">
                  <a:extLst>
                    <a:ext uri="{9D8B030D-6E8A-4147-A177-3AD203B41FA5}">
                      <a16:colId xmlns:a16="http://schemas.microsoft.com/office/drawing/2014/main" val="122351610"/>
                    </a:ext>
                  </a:extLst>
                </a:gridCol>
                <a:gridCol w="2866827">
                  <a:extLst>
                    <a:ext uri="{9D8B030D-6E8A-4147-A177-3AD203B41FA5}">
                      <a16:colId xmlns:a16="http://schemas.microsoft.com/office/drawing/2014/main" val="621835726"/>
                    </a:ext>
                  </a:extLst>
                </a:gridCol>
                <a:gridCol w="2866827">
                  <a:extLst>
                    <a:ext uri="{9D8B030D-6E8A-4147-A177-3AD203B41FA5}">
                      <a16:colId xmlns:a16="http://schemas.microsoft.com/office/drawing/2014/main" val="4272373042"/>
                    </a:ext>
                  </a:extLst>
                </a:gridCol>
              </a:tblGrid>
              <a:tr h="27930">
                <a:tc>
                  <a:txBody>
                    <a:bodyPr/>
                    <a:lstStyle/>
                    <a:p>
                      <a:pPr>
                        <a:lnSpc>
                          <a:spcPct val="107000"/>
                        </a:lnSpc>
                        <a:spcAft>
                          <a:spcPts val="0"/>
                        </a:spcAft>
                      </a:pPr>
                      <a:r>
                        <a:rPr lang="en-PH" sz="1600" dirty="0">
                          <a:effectLst/>
                        </a:rPr>
                        <a:t>Title &amp; Publication Year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07000"/>
                        </a:lnSpc>
                        <a:spcAft>
                          <a:spcPts val="0"/>
                        </a:spcAft>
                      </a:pPr>
                      <a:r>
                        <a:rPr lang="en-PH" sz="1600" dirty="0">
                          <a:effectLst/>
                        </a:rPr>
                        <a:t>Description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07000"/>
                        </a:lnSpc>
                        <a:spcAft>
                          <a:spcPts val="0"/>
                        </a:spcAft>
                      </a:pPr>
                      <a:r>
                        <a:rPr lang="en-PH" sz="1600" dirty="0">
                          <a:effectLst/>
                        </a:rPr>
                        <a:t>Method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07000"/>
                        </a:lnSpc>
                        <a:spcAft>
                          <a:spcPts val="0"/>
                        </a:spcAft>
                      </a:pPr>
                      <a:r>
                        <a:rPr lang="en-PH" sz="1600" dirty="0">
                          <a:effectLst/>
                        </a:rPr>
                        <a:t>Results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2741601344"/>
                  </a:ext>
                </a:extLst>
              </a:tr>
              <a:tr h="1028628">
                <a:tc>
                  <a:txBody>
                    <a:bodyPr/>
                    <a:lstStyle/>
                    <a:p>
                      <a:pPr marR="5080">
                        <a:lnSpc>
                          <a:spcPct val="150000"/>
                        </a:lnSpc>
                        <a:spcAft>
                          <a:spcPts val="0"/>
                        </a:spcAft>
                      </a:pPr>
                      <a:r>
                        <a:rPr lang="en-PH" sz="1600" dirty="0">
                          <a:effectLst/>
                        </a:rPr>
                        <a:t>EMOTHAW: A Novel Database for Emotional State Recognition From Handwriting and Drawing by </a:t>
                      </a:r>
                      <a:r>
                        <a:rPr lang="en-PH" sz="1600" dirty="0" err="1">
                          <a:effectLst/>
                        </a:rPr>
                        <a:t>Likforman-Sulem</a:t>
                      </a:r>
                      <a:r>
                        <a:rPr lang="en-PH" sz="1600" dirty="0">
                          <a:effectLst/>
                        </a:rPr>
                        <a:t> et al. (2017)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7780">
                        <a:lnSpc>
                          <a:spcPct val="150000"/>
                        </a:lnSpc>
                        <a:spcAft>
                          <a:spcPts val="0"/>
                        </a:spcAft>
                      </a:pPr>
                      <a:r>
                        <a:rPr lang="en-PH" sz="1600" dirty="0">
                          <a:effectLst/>
                        </a:rPr>
                        <a:t>Developed a database for emotion recognition from handwriting and drawing samples, exploring connections between handwriting features and anxiety, depression, and stress measures.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Used random forests machine learning on timing and pen pressure features extracted from handwriting from a tablet.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23495">
                        <a:lnSpc>
                          <a:spcPct val="150000"/>
                        </a:lnSpc>
                        <a:spcAft>
                          <a:spcPts val="0"/>
                        </a:spcAft>
                      </a:pPr>
                      <a:r>
                        <a:rPr lang="en-PH" sz="1600" dirty="0">
                          <a:effectLst/>
                        </a:rPr>
                        <a:t>Achieved promising results in classifying anxiety and stress emotional states from handwriting cues.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4191669292"/>
                  </a:ext>
                </a:extLst>
              </a:tr>
              <a:tr h="1245642">
                <a:tc>
                  <a:txBody>
                    <a:bodyPr/>
                    <a:lstStyle/>
                    <a:p>
                      <a:pPr>
                        <a:lnSpc>
                          <a:spcPct val="150000"/>
                        </a:lnSpc>
                        <a:spcAft>
                          <a:spcPts val="0"/>
                        </a:spcAft>
                      </a:pPr>
                      <a:r>
                        <a:rPr lang="en-PH" sz="1600" dirty="0">
                          <a:effectLst/>
                        </a:rPr>
                        <a:t>Automatic Emotion Recognition through Handwriting Analysis: A Review by </a:t>
                      </a:r>
                      <a:r>
                        <a:rPr lang="en-PH" sz="1600" dirty="0" err="1">
                          <a:effectLst/>
                        </a:rPr>
                        <a:t>Kedar</a:t>
                      </a:r>
                      <a:r>
                        <a:rPr lang="en-PH" sz="1600" dirty="0">
                          <a:effectLst/>
                        </a:rPr>
                        <a:t> et al. (2015)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5240">
                        <a:lnSpc>
                          <a:spcPct val="150000"/>
                        </a:lnSpc>
                        <a:spcAft>
                          <a:spcPts val="0"/>
                        </a:spcAft>
                      </a:pPr>
                      <a:r>
                        <a:rPr lang="en-PH" sz="1600" dirty="0">
                          <a:effectLst/>
                        </a:rPr>
                        <a:t>Comprehensive review examining the potential of handwriting analysis for automatic emotion recognition, highlighting handwriting characteristics like baseline, slant, pen pressure, size, etc. as potential emotional cues.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a:effectLst/>
                        </a:rPr>
                        <a:t>Review of existing methodologies and machine learning techniques applied to handwriting analysis for emotion recognition.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5"/>
                        </a:spcAft>
                      </a:pPr>
                      <a:r>
                        <a:rPr lang="en-PH" sz="1600">
                          <a:effectLst/>
                        </a:rPr>
                        <a:t>Highlighted the potential of handwriting analysis as a tool for identifying individuals in emotional </a:t>
                      </a:r>
                    </a:p>
                    <a:p>
                      <a:pPr>
                        <a:lnSpc>
                          <a:spcPct val="150000"/>
                        </a:lnSpc>
                        <a:spcAft>
                          <a:spcPts val="0"/>
                        </a:spcAft>
                      </a:pPr>
                      <a:r>
                        <a:rPr lang="en-PH" sz="1600">
                          <a:effectLst/>
                        </a:rPr>
                        <a:t>distress who may require psychological support.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2230942034"/>
                  </a:ext>
                </a:extLst>
              </a:tr>
              <a:tr h="1028628">
                <a:tc>
                  <a:txBody>
                    <a:bodyPr/>
                    <a:lstStyle/>
                    <a:p>
                      <a:pPr>
                        <a:lnSpc>
                          <a:spcPct val="150000"/>
                        </a:lnSpc>
                        <a:spcAft>
                          <a:spcPts val="0"/>
                        </a:spcAft>
                      </a:pPr>
                      <a:r>
                        <a:rPr lang="en-PH" sz="1600">
                          <a:effectLst/>
                        </a:rPr>
                        <a:t>Unveiling Emotions through </a:t>
                      </a:r>
                    </a:p>
                    <a:p>
                      <a:pPr>
                        <a:lnSpc>
                          <a:spcPct val="150000"/>
                        </a:lnSpc>
                        <a:spcAft>
                          <a:spcPts val="0"/>
                        </a:spcAft>
                      </a:pPr>
                      <a:r>
                        <a:rPr lang="en-PH" sz="1600">
                          <a:effectLst/>
                        </a:rPr>
                        <a:t>Handwriting: A Data Analysis </a:t>
                      </a:r>
                    </a:p>
                    <a:p>
                      <a:pPr>
                        <a:lnSpc>
                          <a:spcPct val="150000"/>
                        </a:lnSpc>
                        <a:spcAft>
                          <a:spcPts val="0"/>
                        </a:spcAft>
                      </a:pPr>
                      <a:r>
                        <a:rPr lang="en-PH" sz="1600">
                          <a:effectLst/>
                        </a:rPr>
                        <a:t>Approach by Azmi et al. (2023)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6985">
                        <a:lnSpc>
                          <a:spcPct val="150000"/>
                        </a:lnSpc>
                        <a:spcAft>
                          <a:spcPts val="0"/>
                        </a:spcAft>
                      </a:pPr>
                      <a:r>
                        <a:rPr lang="en-PH" sz="1600" dirty="0">
                          <a:effectLst/>
                        </a:rPr>
                        <a:t>Explored the feasibility of detecting emotions from handwriting using a dataset of 129 users, analyzing relationships between handwriting features and emotional states.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Employed correlation analysis, dimensionality reduction, and a Random Forest model for emotion classification from handwriting.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270">
                        <a:lnSpc>
                          <a:spcPct val="150000"/>
                        </a:lnSpc>
                        <a:spcAft>
                          <a:spcPts val="0"/>
                        </a:spcAft>
                      </a:pPr>
                      <a:r>
                        <a:rPr lang="en-PH" sz="1600">
                          <a:effectLst/>
                        </a:rPr>
                        <a:t>Demonstrated promising accuracy in classifying emotions from handwriting, indicating the potential of handwriting analysis as a non-invasive emotional detection tool.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2373968693"/>
                  </a:ext>
                </a:extLst>
              </a:tr>
              <a:tr h="1133632">
                <a:tc>
                  <a:txBody>
                    <a:bodyPr/>
                    <a:lstStyle/>
                    <a:p>
                      <a:pPr marR="7620">
                        <a:lnSpc>
                          <a:spcPct val="150000"/>
                        </a:lnSpc>
                        <a:spcAft>
                          <a:spcPts val="0"/>
                        </a:spcAft>
                      </a:pPr>
                      <a:r>
                        <a:rPr lang="en-PH" sz="1600">
                          <a:effectLst/>
                        </a:rPr>
                        <a:t>TEmoDec: Emotion Detection from Handwritten Text using Agglomerative Clustering by </a:t>
                      </a:r>
                    </a:p>
                    <a:p>
                      <a:pPr>
                        <a:lnSpc>
                          <a:spcPct val="150000"/>
                        </a:lnSpc>
                        <a:spcAft>
                          <a:spcPts val="0"/>
                        </a:spcAft>
                      </a:pPr>
                      <a:r>
                        <a:rPr lang="en-PH" sz="1600">
                          <a:effectLst/>
                        </a:rPr>
                        <a:t>Bhattacharya et al. (2022)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Proposed an unsupervised approach to detect emotions like anger, sadness, depression, happiness, and excitement from handwritten text samples using agglomerative hierarchical clustering.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Clustered image pixels based on intra-cluster distances, bypassing the need for expert interpretation of handwriting.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635">
                        <a:lnSpc>
                          <a:spcPct val="150000"/>
                        </a:lnSpc>
                        <a:spcAft>
                          <a:spcPts val="0"/>
                        </a:spcAft>
                      </a:pPr>
                      <a:r>
                        <a:rPr lang="en-PH" sz="1600" dirty="0">
                          <a:effectLst/>
                        </a:rPr>
                        <a:t>Achieved promising accuracy rates in emotion classification, suggesting potential applications in mental health assessment, human resources, and criminal investigations.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4153444263"/>
                  </a:ext>
                </a:extLst>
              </a:tr>
              <a:tr h="1088952">
                <a:tc>
                  <a:txBody>
                    <a:bodyPr/>
                    <a:lstStyle/>
                    <a:p>
                      <a:pPr>
                        <a:lnSpc>
                          <a:spcPct val="150000"/>
                        </a:lnSpc>
                        <a:spcAft>
                          <a:spcPts val="0"/>
                        </a:spcAft>
                      </a:pPr>
                      <a:r>
                        <a:rPr lang="en-PH" sz="1600">
                          <a:effectLst/>
                        </a:rPr>
                        <a:t>Handwriting and Drawing </a:t>
                      </a:r>
                    </a:p>
                    <a:p>
                      <a:pPr>
                        <a:lnSpc>
                          <a:spcPct val="150000"/>
                        </a:lnSpc>
                        <a:spcAft>
                          <a:spcPts val="0"/>
                        </a:spcAft>
                      </a:pPr>
                      <a:r>
                        <a:rPr lang="en-PH" sz="1600">
                          <a:effectLst/>
                        </a:rPr>
                        <a:t>Features for Detecting Personality </a:t>
                      </a:r>
                    </a:p>
                    <a:p>
                      <a:pPr>
                        <a:lnSpc>
                          <a:spcPct val="150000"/>
                        </a:lnSpc>
                        <a:spcAft>
                          <a:spcPts val="0"/>
                        </a:spcAft>
                      </a:pPr>
                      <a:r>
                        <a:rPr lang="en-PH" sz="1600">
                          <a:effectLst/>
                        </a:rPr>
                        <a:t>Traits by Esposito et al. (2019)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5"/>
                        </a:spcAft>
                      </a:pPr>
                      <a:r>
                        <a:rPr lang="en-PH" sz="1600" dirty="0">
                          <a:effectLst/>
                        </a:rPr>
                        <a:t>Explored the relationship between quantitative handwriting and drawing features and personality traits measured by the Big Five </a:t>
                      </a:r>
                    </a:p>
                    <a:p>
                      <a:pPr>
                        <a:lnSpc>
                          <a:spcPct val="150000"/>
                        </a:lnSpc>
                        <a:spcAft>
                          <a:spcPts val="0"/>
                        </a:spcAft>
                      </a:pPr>
                      <a:r>
                        <a:rPr lang="en-PH" sz="1600" dirty="0">
                          <a:effectLst/>
                        </a:rPr>
                        <a:t>Personality questionnaire (BFQ).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4605">
                        <a:lnSpc>
                          <a:spcPct val="150000"/>
                        </a:lnSpc>
                        <a:spcAft>
                          <a:spcPts val="0"/>
                        </a:spcAft>
                      </a:pPr>
                      <a:r>
                        <a:rPr lang="en-PH" sz="1600">
                          <a:effectLst/>
                        </a:rPr>
                        <a:t>Analyzed data from 78 participants, examining differences in features like pressure, speed, and spacing between individuals scoring low, typical, and high on BFQ dimensions.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Found significant differences in handwriting features across BFQ dimensions, suggesting a connection between graphology and personality measurement.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1896710584"/>
                  </a:ext>
                </a:extLst>
              </a:tr>
            </a:tbl>
          </a:graphicData>
        </a:graphic>
      </p:graphicFrame>
    </p:spTree>
    <p:extLst>
      <p:ext uri="{BB962C8B-B14F-4D97-AF65-F5344CB8AC3E}">
        <p14:creationId xmlns:p14="http://schemas.microsoft.com/office/powerpoint/2010/main" val="2281758716"/>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1" y="0"/>
            <a:ext cx="12192000" cy="6858000"/>
          </a:xfrm>
          <a:prstGeom prst="rect">
            <a:avLst/>
          </a:prstGeom>
          <a:solidFill>
            <a:srgbClr val="FEF5E7"/>
          </a:solidFill>
          <a:ln/>
        </p:spPr>
      </p:sp>
      <p:graphicFrame>
        <p:nvGraphicFramePr>
          <p:cNvPr id="12" name="Table 11">
            <a:extLst>
              <a:ext uri="{FF2B5EF4-FFF2-40B4-BE49-F238E27FC236}">
                <a16:creationId xmlns:a16="http://schemas.microsoft.com/office/drawing/2014/main" id="{EE5E70A4-2F93-422F-8374-3629E4EE0345}"/>
              </a:ext>
            </a:extLst>
          </p:cNvPr>
          <p:cNvGraphicFramePr>
            <a:graphicFrameLocks noGrp="1"/>
          </p:cNvGraphicFramePr>
          <p:nvPr>
            <p:extLst>
              <p:ext uri="{D42A27DB-BD31-4B8C-83A1-F6EECF244321}">
                <p14:modId xmlns:p14="http://schemas.microsoft.com/office/powerpoint/2010/main" val="1257279228"/>
              </p:ext>
            </p:extLst>
          </p:nvPr>
        </p:nvGraphicFramePr>
        <p:xfrm>
          <a:off x="361948" y="-4502023"/>
          <a:ext cx="11468101" cy="11360023"/>
        </p:xfrm>
        <a:graphic>
          <a:graphicData uri="http://schemas.openxmlformats.org/drawingml/2006/table">
            <a:tbl>
              <a:tblPr firstRow="1" firstCol="1" bandRow="1">
                <a:tableStyleId>{E8B1032C-EA38-4F05-BA0D-38AFFFC7BED3}</a:tableStyleId>
              </a:tblPr>
              <a:tblGrid>
                <a:gridCol w="2305050">
                  <a:extLst>
                    <a:ext uri="{9D8B030D-6E8A-4147-A177-3AD203B41FA5}">
                      <a16:colId xmlns:a16="http://schemas.microsoft.com/office/drawing/2014/main" val="40914367"/>
                    </a:ext>
                  </a:extLst>
                </a:gridCol>
                <a:gridCol w="3429397">
                  <a:extLst>
                    <a:ext uri="{9D8B030D-6E8A-4147-A177-3AD203B41FA5}">
                      <a16:colId xmlns:a16="http://schemas.microsoft.com/office/drawing/2014/main" val="122351610"/>
                    </a:ext>
                  </a:extLst>
                </a:gridCol>
                <a:gridCol w="2866827">
                  <a:extLst>
                    <a:ext uri="{9D8B030D-6E8A-4147-A177-3AD203B41FA5}">
                      <a16:colId xmlns:a16="http://schemas.microsoft.com/office/drawing/2014/main" val="621835726"/>
                    </a:ext>
                  </a:extLst>
                </a:gridCol>
                <a:gridCol w="2866827">
                  <a:extLst>
                    <a:ext uri="{9D8B030D-6E8A-4147-A177-3AD203B41FA5}">
                      <a16:colId xmlns:a16="http://schemas.microsoft.com/office/drawing/2014/main" val="4272373042"/>
                    </a:ext>
                  </a:extLst>
                </a:gridCol>
              </a:tblGrid>
              <a:tr h="27930">
                <a:tc>
                  <a:txBody>
                    <a:bodyPr/>
                    <a:lstStyle/>
                    <a:p>
                      <a:pPr>
                        <a:lnSpc>
                          <a:spcPct val="107000"/>
                        </a:lnSpc>
                        <a:spcAft>
                          <a:spcPts val="0"/>
                        </a:spcAft>
                      </a:pPr>
                      <a:r>
                        <a:rPr lang="en-PH" sz="1400" dirty="0">
                          <a:effectLst/>
                        </a:rPr>
                        <a:t>Title &amp; Publication Year </a:t>
                      </a:r>
                      <a:endParaRPr lang="en-PH"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07000"/>
                        </a:lnSpc>
                        <a:spcAft>
                          <a:spcPts val="0"/>
                        </a:spcAft>
                      </a:pPr>
                      <a:r>
                        <a:rPr lang="en-PH" sz="1400" dirty="0">
                          <a:effectLst/>
                        </a:rPr>
                        <a:t>Description </a:t>
                      </a:r>
                      <a:endParaRPr lang="en-PH"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07000"/>
                        </a:lnSpc>
                        <a:spcAft>
                          <a:spcPts val="0"/>
                        </a:spcAft>
                      </a:pPr>
                      <a:r>
                        <a:rPr lang="en-PH" sz="1400" dirty="0">
                          <a:effectLst/>
                        </a:rPr>
                        <a:t>Method </a:t>
                      </a:r>
                      <a:endParaRPr lang="en-PH"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07000"/>
                        </a:lnSpc>
                        <a:spcAft>
                          <a:spcPts val="0"/>
                        </a:spcAft>
                      </a:pPr>
                      <a:r>
                        <a:rPr lang="en-PH" sz="1400" dirty="0">
                          <a:effectLst/>
                        </a:rPr>
                        <a:t>Results </a:t>
                      </a:r>
                      <a:endParaRPr lang="en-PH" sz="1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2741601344"/>
                  </a:ext>
                </a:extLst>
              </a:tr>
              <a:tr h="1028628">
                <a:tc>
                  <a:txBody>
                    <a:bodyPr/>
                    <a:lstStyle/>
                    <a:p>
                      <a:pPr marR="5080">
                        <a:lnSpc>
                          <a:spcPct val="150000"/>
                        </a:lnSpc>
                        <a:spcAft>
                          <a:spcPts val="0"/>
                        </a:spcAft>
                      </a:pPr>
                      <a:r>
                        <a:rPr lang="en-PH" sz="1600" dirty="0">
                          <a:effectLst/>
                        </a:rPr>
                        <a:t>EMOTHAW: A Novel Database for Emotional State Recognition From Handwriting and Drawing by </a:t>
                      </a:r>
                      <a:r>
                        <a:rPr lang="en-PH" sz="1600" dirty="0" err="1">
                          <a:effectLst/>
                        </a:rPr>
                        <a:t>Likforman-Sulem</a:t>
                      </a:r>
                      <a:r>
                        <a:rPr lang="en-PH" sz="1600" dirty="0">
                          <a:effectLst/>
                        </a:rPr>
                        <a:t> et al. (2017)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7780">
                        <a:lnSpc>
                          <a:spcPct val="150000"/>
                        </a:lnSpc>
                        <a:spcAft>
                          <a:spcPts val="0"/>
                        </a:spcAft>
                      </a:pPr>
                      <a:r>
                        <a:rPr lang="en-PH" sz="1600" dirty="0">
                          <a:effectLst/>
                        </a:rPr>
                        <a:t>Developed a database for emotion recognition from handwriting and drawing samples, exploring connections between handwriting features and anxiety, depression, and stress measures.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Used random forests machine learning on timing and pen pressure features extracted from handwriting from a tablet.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23495">
                        <a:lnSpc>
                          <a:spcPct val="150000"/>
                        </a:lnSpc>
                        <a:spcAft>
                          <a:spcPts val="0"/>
                        </a:spcAft>
                      </a:pPr>
                      <a:r>
                        <a:rPr lang="en-PH" sz="1600" dirty="0">
                          <a:effectLst/>
                        </a:rPr>
                        <a:t>Achieved promising results in classifying anxiety and stress emotional states from handwriting cues.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4191669292"/>
                  </a:ext>
                </a:extLst>
              </a:tr>
              <a:tr h="1245642">
                <a:tc>
                  <a:txBody>
                    <a:bodyPr/>
                    <a:lstStyle/>
                    <a:p>
                      <a:pPr>
                        <a:lnSpc>
                          <a:spcPct val="150000"/>
                        </a:lnSpc>
                        <a:spcAft>
                          <a:spcPts val="0"/>
                        </a:spcAft>
                      </a:pPr>
                      <a:r>
                        <a:rPr lang="en-PH" sz="1600" dirty="0">
                          <a:effectLst/>
                        </a:rPr>
                        <a:t>Automatic Emotion Recognition through Handwriting Analysis: A Review by </a:t>
                      </a:r>
                      <a:r>
                        <a:rPr lang="en-PH" sz="1600" dirty="0" err="1">
                          <a:effectLst/>
                        </a:rPr>
                        <a:t>Kedar</a:t>
                      </a:r>
                      <a:r>
                        <a:rPr lang="en-PH" sz="1600" dirty="0">
                          <a:effectLst/>
                        </a:rPr>
                        <a:t> et al. (2015)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5240">
                        <a:lnSpc>
                          <a:spcPct val="150000"/>
                        </a:lnSpc>
                        <a:spcAft>
                          <a:spcPts val="0"/>
                        </a:spcAft>
                      </a:pPr>
                      <a:r>
                        <a:rPr lang="en-PH" sz="1600" dirty="0">
                          <a:effectLst/>
                        </a:rPr>
                        <a:t>Comprehensive review examining the potential of handwriting analysis for automatic emotion recognition, highlighting handwriting characteristics like baseline, slant, pen pressure, size, etc. as potential emotional cues.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a:effectLst/>
                        </a:rPr>
                        <a:t>Review of existing methodologies and machine learning techniques applied to handwriting analysis for emotion recognition.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5"/>
                        </a:spcAft>
                      </a:pPr>
                      <a:r>
                        <a:rPr lang="en-PH" sz="1600" dirty="0">
                          <a:effectLst/>
                        </a:rPr>
                        <a:t>Highlighted the potential of handwriting analysis as a tool for identifying individuals in emotional </a:t>
                      </a:r>
                    </a:p>
                    <a:p>
                      <a:pPr>
                        <a:lnSpc>
                          <a:spcPct val="150000"/>
                        </a:lnSpc>
                        <a:spcAft>
                          <a:spcPts val="0"/>
                        </a:spcAft>
                      </a:pPr>
                      <a:r>
                        <a:rPr lang="en-PH" sz="1600" dirty="0">
                          <a:effectLst/>
                        </a:rPr>
                        <a:t>distress who may require psychological support.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2230942034"/>
                  </a:ext>
                </a:extLst>
              </a:tr>
              <a:tr h="1028628">
                <a:tc>
                  <a:txBody>
                    <a:bodyPr/>
                    <a:lstStyle/>
                    <a:p>
                      <a:pPr>
                        <a:lnSpc>
                          <a:spcPct val="150000"/>
                        </a:lnSpc>
                        <a:spcAft>
                          <a:spcPts val="0"/>
                        </a:spcAft>
                      </a:pPr>
                      <a:r>
                        <a:rPr lang="en-PH" sz="1600" dirty="0">
                          <a:effectLst/>
                        </a:rPr>
                        <a:t>Unveiling Emotions through </a:t>
                      </a:r>
                    </a:p>
                    <a:p>
                      <a:pPr>
                        <a:lnSpc>
                          <a:spcPct val="150000"/>
                        </a:lnSpc>
                        <a:spcAft>
                          <a:spcPts val="0"/>
                        </a:spcAft>
                      </a:pPr>
                      <a:r>
                        <a:rPr lang="en-PH" sz="1600" dirty="0">
                          <a:effectLst/>
                        </a:rPr>
                        <a:t>Handwriting: A Data Analysis </a:t>
                      </a:r>
                    </a:p>
                    <a:p>
                      <a:pPr>
                        <a:lnSpc>
                          <a:spcPct val="150000"/>
                        </a:lnSpc>
                        <a:spcAft>
                          <a:spcPts val="0"/>
                        </a:spcAft>
                      </a:pPr>
                      <a:r>
                        <a:rPr lang="en-PH" sz="1600" dirty="0">
                          <a:effectLst/>
                        </a:rPr>
                        <a:t>Approach by Azmi et al. (2023)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6985">
                        <a:lnSpc>
                          <a:spcPct val="150000"/>
                        </a:lnSpc>
                        <a:spcAft>
                          <a:spcPts val="0"/>
                        </a:spcAft>
                      </a:pPr>
                      <a:r>
                        <a:rPr lang="en-PH" sz="1600">
                          <a:effectLst/>
                        </a:rPr>
                        <a:t>Explored the feasibility of detecting emotions from handwriting using a dataset of 129 users, analyzing relationships between handwriting features and emotional states.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Employed correlation analysis, dimensionality reduction, and a Random Forest model for emotion classification from handwriting.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270">
                        <a:lnSpc>
                          <a:spcPct val="150000"/>
                        </a:lnSpc>
                        <a:spcAft>
                          <a:spcPts val="0"/>
                        </a:spcAft>
                      </a:pPr>
                      <a:r>
                        <a:rPr lang="en-PH" sz="1600">
                          <a:effectLst/>
                        </a:rPr>
                        <a:t>Demonstrated promising accuracy in classifying emotions from handwriting, indicating the potential of handwriting analysis as a non-invasive emotional detection tool.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2373968693"/>
                  </a:ext>
                </a:extLst>
              </a:tr>
              <a:tr h="1133632">
                <a:tc>
                  <a:txBody>
                    <a:bodyPr/>
                    <a:lstStyle/>
                    <a:p>
                      <a:pPr marR="7620">
                        <a:lnSpc>
                          <a:spcPct val="150000"/>
                        </a:lnSpc>
                        <a:spcAft>
                          <a:spcPts val="0"/>
                        </a:spcAft>
                      </a:pPr>
                      <a:r>
                        <a:rPr lang="en-PH" sz="1600">
                          <a:effectLst/>
                        </a:rPr>
                        <a:t>TEmoDec: Emotion Detection from Handwritten Text using Agglomerative Clustering by </a:t>
                      </a:r>
                    </a:p>
                    <a:p>
                      <a:pPr>
                        <a:lnSpc>
                          <a:spcPct val="150000"/>
                        </a:lnSpc>
                        <a:spcAft>
                          <a:spcPts val="0"/>
                        </a:spcAft>
                      </a:pPr>
                      <a:r>
                        <a:rPr lang="en-PH" sz="1600">
                          <a:effectLst/>
                        </a:rPr>
                        <a:t>Bhattacharya et al. (2022)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Proposed an unsupervised approach to detect emotions like anger, sadness, depression, happiness, and excitement from handwritten text samples using agglomerative hierarchical clustering.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Clustered image pixels based on intra-cluster distances, bypassing the need for expert interpretation of handwriting.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635">
                        <a:lnSpc>
                          <a:spcPct val="150000"/>
                        </a:lnSpc>
                        <a:spcAft>
                          <a:spcPts val="0"/>
                        </a:spcAft>
                      </a:pPr>
                      <a:r>
                        <a:rPr lang="en-PH" sz="1600" dirty="0">
                          <a:effectLst/>
                        </a:rPr>
                        <a:t>Achieved promising accuracy rates in emotion classification, suggesting potential applications in mental health assessment, human resources, and criminal investigations.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4153444263"/>
                  </a:ext>
                </a:extLst>
              </a:tr>
              <a:tr h="1088952">
                <a:tc>
                  <a:txBody>
                    <a:bodyPr/>
                    <a:lstStyle/>
                    <a:p>
                      <a:pPr>
                        <a:lnSpc>
                          <a:spcPct val="150000"/>
                        </a:lnSpc>
                        <a:spcAft>
                          <a:spcPts val="0"/>
                        </a:spcAft>
                      </a:pPr>
                      <a:r>
                        <a:rPr lang="en-PH" sz="1600">
                          <a:effectLst/>
                        </a:rPr>
                        <a:t>Handwriting and Drawing </a:t>
                      </a:r>
                    </a:p>
                    <a:p>
                      <a:pPr>
                        <a:lnSpc>
                          <a:spcPct val="150000"/>
                        </a:lnSpc>
                        <a:spcAft>
                          <a:spcPts val="0"/>
                        </a:spcAft>
                      </a:pPr>
                      <a:r>
                        <a:rPr lang="en-PH" sz="1600">
                          <a:effectLst/>
                        </a:rPr>
                        <a:t>Features for Detecting Personality </a:t>
                      </a:r>
                    </a:p>
                    <a:p>
                      <a:pPr>
                        <a:lnSpc>
                          <a:spcPct val="150000"/>
                        </a:lnSpc>
                        <a:spcAft>
                          <a:spcPts val="0"/>
                        </a:spcAft>
                      </a:pPr>
                      <a:r>
                        <a:rPr lang="en-PH" sz="1600">
                          <a:effectLst/>
                        </a:rPr>
                        <a:t>Traits by Esposito et al. (2019)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5"/>
                        </a:spcAft>
                      </a:pPr>
                      <a:r>
                        <a:rPr lang="en-PH" sz="1600" dirty="0">
                          <a:effectLst/>
                        </a:rPr>
                        <a:t>Explored the relationship between quantitative handwriting and drawing features and personality traits measured by the Big Five </a:t>
                      </a:r>
                    </a:p>
                    <a:p>
                      <a:pPr>
                        <a:lnSpc>
                          <a:spcPct val="150000"/>
                        </a:lnSpc>
                        <a:spcAft>
                          <a:spcPts val="0"/>
                        </a:spcAft>
                      </a:pPr>
                      <a:r>
                        <a:rPr lang="en-PH" sz="1600" dirty="0">
                          <a:effectLst/>
                        </a:rPr>
                        <a:t>Personality questionnaire (BFQ).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marR="14605">
                        <a:lnSpc>
                          <a:spcPct val="150000"/>
                        </a:lnSpc>
                        <a:spcAft>
                          <a:spcPts val="0"/>
                        </a:spcAft>
                      </a:pPr>
                      <a:r>
                        <a:rPr lang="en-PH" sz="1600">
                          <a:effectLst/>
                        </a:rPr>
                        <a:t>Analyzed data from 78 participants, examining differences in features like pressure, speed, and spacing between individuals scoring low, typical, and high on BFQ dimensions. </a:t>
                      </a:r>
                      <a:endParaRPr lang="en-PH" sz="16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tc>
                  <a:txBody>
                    <a:bodyPr/>
                    <a:lstStyle/>
                    <a:p>
                      <a:pPr>
                        <a:lnSpc>
                          <a:spcPct val="150000"/>
                        </a:lnSpc>
                        <a:spcAft>
                          <a:spcPts val="0"/>
                        </a:spcAft>
                      </a:pPr>
                      <a:r>
                        <a:rPr lang="en-PH" sz="1600" dirty="0">
                          <a:effectLst/>
                        </a:rPr>
                        <a:t>Found significant differences in handwriting features across BFQ dimensions, suggesting a connection between graphology and personality measurement. </a:t>
                      </a:r>
                      <a:endParaRPr lang="en-PH"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7942" marR="47942" marT="0" marB="0"/>
                </a:tc>
                <a:extLst>
                  <a:ext uri="{0D108BD9-81ED-4DB2-BD59-A6C34878D82A}">
                    <a16:rowId xmlns:a16="http://schemas.microsoft.com/office/drawing/2014/main" val="1896710584"/>
                  </a:ext>
                </a:extLst>
              </a:tr>
            </a:tbl>
          </a:graphicData>
        </a:graphic>
      </p:graphicFrame>
    </p:spTree>
    <p:extLst>
      <p:ext uri="{BB962C8B-B14F-4D97-AF65-F5344CB8AC3E}">
        <p14:creationId xmlns:p14="http://schemas.microsoft.com/office/powerpoint/2010/main" val="334577677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hape 1">
            <a:extLst>
              <a:ext uri="{FF2B5EF4-FFF2-40B4-BE49-F238E27FC236}">
                <a16:creationId xmlns:a16="http://schemas.microsoft.com/office/drawing/2014/main" id="{45B6DA08-DD53-4324-AED3-E1CDA6BD9863}"/>
              </a:ext>
            </a:extLst>
          </p:cNvPr>
          <p:cNvSpPr/>
          <p:nvPr/>
        </p:nvSpPr>
        <p:spPr>
          <a:xfrm>
            <a:off x="0" y="0"/>
            <a:ext cx="12192000" cy="6858794"/>
          </a:xfrm>
          <a:prstGeom prst="rect">
            <a:avLst/>
          </a:prstGeom>
          <a:solidFill>
            <a:srgbClr val="FEF5E7"/>
          </a:solidFill>
          <a:ln/>
        </p:spPr>
      </p:sp>
      <p:sp>
        <p:nvSpPr>
          <p:cNvPr id="46" name="Shape 1">
            <a:extLst>
              <a:ext uri="{FF2B5EF4-FFF2-40B4-BE49-F238E27FC236}">
                <a16:creationId xmlns:a16="http://schemas.microsoft.com/office/drawing/2014/main" id="{9BEFE0B0-8E83-4A36-B7D8-0667BC1F9FB5}"/>
              </a:ext>
            </a:extLst>
          </p:cNvPr>
          <p:cNvSpPr/>
          <p:nvPr/>
        </p:nvSpPr>
        <p:spPr>
          <a:xfrm>
            <a:off x="0" y="1"/>
            <a:ext cx="12192000" cy="6858794"/>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6350" y="0"/>
            <a:ext cx="3048000" cy="6858000"/>
          </a:xfrm>
          <a:prstGeom prst="rect">
            <a:avLst/>
          </a:prstGeom>
        </p:spPr>
      </p:pic>
      <p:sp>
        <p:nvSpPr>
          <p:cNvPr id="5" name="Text 2"/>
          <p:cNvSpPr/>
          <p:nvPr/>
        </p:nvSpPr>
        <p:spPr>
          <a:xfrm>
            <a:off x="3703687" y="355894"/>
            <a:ext cx="6223099" cy="578644"/>
          </a:xfrm>
          <a:prstGeom prst="rect">
            <a:avLst/>
          </a:prstGeom>
          <a:noFill/>
          <a:ln/>
        </p:spPr>
        <p:txBody>
          <a:bodyPr wrap="none" rtlCol="0" anchor="t"/>
          <a:lstStyle/>
          <a:p>
            <a:pPr>
              <a:lnSpc>
                <a:spcPts val="4556"/>
              </a:lnSpc>
            </a:pPr>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Emotion Recognition Models</a:t>
            </a:r>
            <a:endParaRPr lang="en-US" sz="2800" dirty="0">
              <a:latin typeface="Times New Roman" panose="02020603050405020304" pitchFamily="18" charset="0"/>
              <a:cs typeface="Times New Roman" panose="02020603050405020304" pitchFamily="18" charset="0"/>
            </a:endParaRPr>
          </a:p>
        </p:txBody>
      </p:sp>
      <p:sp>
        <p:nvSpPr>
          <p:cNvPr id="25" name="Text 3">
            <a:extLst>
              <a:ext uri="{FF2B5EF4-FFF2-40B4-BE49-F238E27FC236}">
                <a16:creationId xmlns:a16="http://schemas.microsoft.com/office/drawing/2014/main" id="{63F60205-7995-4794-B294-D80847FA162F}"/>
              </a:ext>
            </a:extLst>
          </p:cNvPr>
          <p:cNvSpPr/>
          <p:nvPr/>
        </p:nvSpPr>
        <p:spPr>
          <a:xfrm>
            <a:off x="3703687" y="1290431"/>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Model</a:t>
            </a:r>
            <a:endParaRPr lang="en-US" sz="2000" dirty="0">
              <a:latin typeface="Times New Roman" panose="02020603050405020304" pitchFamily="18" charset="0"/>
              <a:cs typeface="Times New Roman" panose="02020603050405020304" pitchFamily="18" charset="0"/>
            </a:endParaRPr>
          </a:p>
        </p:txBody>
      </p:sp>
      <p:sp>
        <p:nvSpPr>
          <p:cNvPr id="26" name="Text 4">
            <a:extLst>
              <a:ext uri="{FF2B5EF4-FFF2-40B4-BE49-F238E27FC236}">
                <a16:creationId xmlns:a16="http://schemas.microsoft.com/office/drawing/2014/main" id="{233C7746-59F4-4EF3-BA80-CACBE0A8368A}"/>
              </a:ext>
            </a:extLst>
          </p:cNvPr>
          <p:cNvSpPr/>
          <p:nvPr/>
        </p:nvSpPr>
        <p:spPr>
          <a:xfrm>
            <a:off x="5832389" y="1290431"/>
            <a:ext cx="2963403"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Approach</a:t>
            </a:r>
            <a:endParaRPr lang="en-US" sz="2000" dirty="0">
              <a:latin typeface="Times New Roman" panose="02020603050405020304" pitchFamily="18" charset="0"/>
              <a:cs typeface="Times New Roman" panose="02020603050405020304" pitchFamily="18" charset="0"/>
            </a:endParaRPr>
          </a:p>
        </p:txBody>
      </p:sp>
      <p:sp>
        <p:nvSpPr>
          <p:cNvPr id="27" name="Text 5">
            <a:extLst>
              <a:ext uri="{FF2B5EF4-FFF2-40B4-BE49-F238E27FC236}">
                <a16:creationId xmlns:a16="http://schemas.microsoft.com/office/drawing/2014/main" id="{F4E3817E-1785-45DA-A178-DE8299A30D48}"/>
              </a:ext>
            </a:extLst>
          </p:cNvPr>
          <p:cNvSpPr/>
          <p:nvPr/>
        </p:nvSpPr>
        <p:spPr>
          <a:xfrm>
            <a:off x="9168655" y="1290431"/>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Accuracy</a:t>
            </a:r>
            <a:endParaRPr lang="en-US" sz="2000" dirty="0">
              <a:latin typeface="Times New Roman" panose="02020603050405020304" pitchFamily="18" charset="0"/>
              <a:cs typeface="Times New Roman" panose="02020603050405020304" pitchFamily="18" charset="0"/>
            </a:endParaRPr>
          </a:p>
        </p:txBody>
      </p:sp>
      <p:sp>
        <p:nvSpPr>
          <p:cNvPr id="28" name="Shape 6">
            <a:extLst>
              <a:ext uri="{FF2B5EF4-FFF2-40B4-BE49-F238E27FC236}">
                <a16:creationId xmlns:a16="http://schemas.microsoft.com/office/drawing/2014/main" id="{A9866306-11D9-44BC-A8B4-91C72274D1F9}"/>
              </a:ext>
            </a:extLst>
          </p:cNvPr>
          <p:cNvSpPr/>
          <p:nvPr/>
        </p:nvSpPr>
        <p:spPr>
          <a:xfrm>
            <a:off x="3520033" y="1699907"/>
            <a:ext cx="8193583" cy="818952"/>
          </a:xfrm>
          <a:prstGeom prst="rect">
            <a:avLst/>
          </a:prstGeom>
          <a:solidFill>
            <a:srgbClr val="F6E9D5"/>
          </a:solidFill>
          <a:ln/>
        </p:spPr>
      </p:sp>
      <p:sp>
        <p:nvSpPr>
          <p:cNvPr id="29" name="Text 7">
            <a:extLst>
              <a:ext uri="{FF2B5EF4-FFF2-40B4-BE49-F238E27FC236}">
                <a16:creationId xmlns:a16="http://schemas.microsoft.com/office/drawing/2014/main" id="{E8C494DB-D4C5-42B0-B14D-DA9BEA005FDC}"/>
              </a:ext>
            </a:extLst>
          </p:cNvPr>
          <p:cNvSpPr/>
          <p:nvPr/>
        </p:nvSpPr>
        <p:spPr>
          <a:xfrm>
            <a:off x="3703687" y="1816192"/>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EMOTHAW</a:t>
            </a:r>
            <a:endParaRPr lang="en-US" sz="2000" dirty="0">
              <a:latin typeface="Times New Roman" panose="02020603050405020304" pitchFamily="18" charset="0"/>
              <a:cs typeface="Times New Roman" panose="02020603050405020304" pitchFamily="18" charset="0"/>
            </a:endParaRPr>
          </a:p>
        </p:txBody>
      </p:sp>
      <p:sp>
        <p:nvSpPr>
          <p:cNvPr id="30" name="Text 8">
            <a:extLst>
              <a:ext uri="{FF2B5EF4-FFF2-40B4-BE49-F238E27FC236}">
                <a16:creationId xmlns:a16="http://schemas.microsoft.com/office/drawing/2014/main" id="{1F87C94B-6A3C-43C8-A456-81ED8DA03942}"/>
              </a:ext>
            </a:extLst>
          </p:cNvPr>
          <p:cNvSpPr/>
          <p:nvPr/>
        </p:nvSpPr>
        <p:spPr>
          <a:xfrm>
            <a:off x="5832389" y="1816192"/>
            <a:ext cx="2963403"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Random Forests on handwriting/drawing features</a:t>
            </a:r>
            <a:endParaRPr lang="en-US" sz="1600" dirty="0">
              <a:latin typeface="Times New Roman" panose="02020603050405020304" pitchFamily="18" charset="0"/>
              <a:cs typeface="Times New Roman" panose="02020603050405020304" pitchFamily="18" charset="0"/>
            </a:endParaRPr>
          </a:p>
        </p:txBody>
      </p:sp>
      <p:sp>
        <p:nvSpPr>
          <p:cNvPr id="31" name="Text 9">
            <a:extLst>
              <a:ext uri="{FF2B5EF4-FFF2-40B4-BE49-F238E27FC236}">
                <a16:creationId xmlns:a16="http://schemas.microsoft.com/office/drawing/2014/main" id="{5E196755-EA56-4F12-B4B1-615B05FD72DB}"/>
              </a:ext>
            </a:extLst>
          </p:cNvPr>
          <p:cNvSpPr/>
          <p:nvPr/>
        </p:nvSpPr>
        <p:spPr>
          <a:xfrm>
            <a:off x="9168655" y="1816192"/>
            <a:ext cx="2361208"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71.6% for anxiety, 70.8% for stress</a:t>
            </a:r>
            <a:endParaRPr lang="en-US" sz="1600" dirty="0">
              <a:latin typeface="Times New Roman" panose="02020603050405020304" pitchFamily="18" charset="0"/>
              <a:cs typeface="Times New Roman" panose="02020603050405020304" pitchFamily="18" charset="0"/>
            </a:endParaRPr>
          </a:p>
        </p:txBody>
      </p:sp>
      <p:sp>
        <p:nvSpPr>
          <p:cNvPr id="32" name="Text 10">
            <a:extLst>
              <a:ext uri="{FF2B5EF4-FFF2-40B4-BE49-F238E27FC236}">
                <a16:creationId xmlns:a16="http://schemas.microsoft.com/office/drawing/2014/main" id="{8322872F-5678-4717-BB5B-84B169487079}"/>
              </a:ext>
            </a:extLst>
          </p:cNvPr>
          <p:cNvSpPr/>
          <p:nvPr/>
        </p:nvSpPr>
        <p:spPr>
          <a:xfrm>
            <a:off x="3703687" y="2635144"/>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Fuzzy Model</a:t>
            </a:r>
            <a:endParaRPr lang="en-US" sz="2000" dirty="0">
              <a:latin typeface="Times New Roman" panose="02020603050405020304" pitchFamily="18" charset="0"/>
              <a:cs typeface="Times New Roman" panose="02020603050405020304" pitchFamily="18" charset="0"/>
            </a:endParaRPr>
          </a:p>
        </p:txBody>
      </p:sp>
      <p:sp>
        <p:nvSpPr>
          <p:cNvPr id="33" name="Text 11">
            <a:extLst>
              <a:ext uri="{FF2B5EF4-FFF2-40B4-BE49-F238E27FC236}">
                <a16:creationId xmlns:a16="http://schemas.microsoft.com/office/drawing/2014/main" id="{4C35BBDD-3350-44DB-922E-020B0C1E2152}"/>
              </a:ext>
            </a:extLst>
          </p:cNvPr>
          <p:cNvSpPr/>
          <p:nvPr/>
        </p:nvSpPr>
        <p:spPr>
          <a:xfrm>
            <a:off x="5832389" y="2635144"/>
            <a:ext cx="2963403"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Fuzzy Inference System on handwriting features</a:t>
            </a:r>
            <a:endParaRPr lang="en-US" sz="1600" dirty="0">
              <a:latin typeface="Times New Roman" panose="02020603050405020304" pitchFamily="18" charset="0"/>
              <a:cs typeface="Times New Roman" panose="02020603050405020304" pitchFamily="18" charset="0"/>
            </a:endParaRPr>
          </a:p>
        </p:txBody>
      </p:sp>
      <p:sp>
        <p:nvSpPr>
          <p:cNvPr id="34" name="Text 12">
            <a:extLst>
              <a:ext uri="{FF2B5EF4-FFF2-40B4-BE49-F238E27FC236}">
                <a16:creationId xmlns:a16="http://schemas.microsoft.com/office/drawing/2014/main" id="{C4AE3212-8EA7-4531-98F3-DC79D49FA76C}"/>
              </a:ext>
            </a:extLst>
          </p:cNvPr>
          <p:cNvSpPr/>
          <p:nvPr/>
        </p:nvSpPr>
        <p:spPr>
          <a:xfrm>
            <a:off x="9168655" y="2635144"/>
            <a:ext cx="2361208"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82% for anger, fear, happiness, sadness</a:t>
            </a:r>
            <a:endParaRPr lang="en-US" sz="1600" dirty="0">
              <a:latin typeface="Times New Roman" panose="02020603050405020304" pitchFamily="18" charset="0"/>
              <a:cs typeface="Times New Roman" panose="02020603050405020304" pitchFamily="18" charset="0"/>
            </a:endParaRPr>
          </a:p>
        </p:txBody>
      </p:sp>
      <p:sp>
        <p:nvSpPr>
          <p:cNvPr id="35" name="Shape 13">
            <a:extLst>
              <a:ext uri="{FF2B5EF4-FFF2-40B4-BE49-F238E27FC236}">
                <a16:creationId xmlns:a16="http://schemas.microsoft.com/office/drawing/2014/main" id="{E4C49A65-16CA-4E66-AD22-570DF2728364}"/>
              </a:ext>
            </a:extLst>
          </p:cNvPr>
          <p:cNvSpPr/>
          <p:nvPr/>
        </p:nvSpPr>
        <p:spPr>
          <a:xfrm>
            <a:off x="3520033" y="3337810"/>
            <a:ext cx="8193583" cy="818952"/>
          </a:xfrm>
          <a:prstGeom prst="rect">
            <a:avLst/>
          </a:prstGeom>
          <a:solidFill>
            <a:srgbClr val="F6E9D5"/>
          </a:solidFill>
          <a:ln/>
        </p:spPr>
      </p:sp>
      <p:sp>
        <p:nvSpPr>
          <p:cNvPr id="36" name="Text 14">
            <a:extLst>
              <a:ext uri="{FF2B5EF4-FFF2-40B4-BE49-F238E27FC236}">
                <a16:creationId xmlns:a16="http://schemas.microsoft.com/office/drawing/2014/main" id="{40E787E3-15CE-42C3-9295-F4F45A9AE305}"/>
              </a:ext>
            </a:extLst>
          </p:cNvPr>
          <p:cNvSpPr/>
          <p:nvPr/>
        </p:nvSpPr>
        <p:spPr>
          <a:xfrm>
            <a:off x="3703687" y="3454094"/>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HMM-Model</a:t>
            </a:r>
            <a:endParaRPr lang="en-US" sz="2000" dirty="0">
              <a:latin typeface="Times New Roman" panose="02020603050405020304" pitchFamily="18" charset="0"/>
              <a:cs typeface="Times New Roman" panose="02020603050405020304" pitchFamily="18" charset="0"/>
            </a:endParaRPr>
          </a:p>
        </p:txBody>
      </p:sp>
      <p:sp>
        <p:nvSpPr>
          <p:cNvPr id="37" name="Text 15">
            <a:extLst>
              <a:ext uri="{FF2B5EF4-FFF2-40B4-BE49-F238E27FC236}">
                <a16:creationId xmlns:a16="http://schemas.microsoft.com/office/drawing/2014/main" id="{CAD95676-DD52-48ED-BF0D-45800270CAF8}"/>
              </a:ext>
            </a:extLst>
          </p:cNvPr>
          <p:cNvSpPr/>
          <p:nvPr/>
        </p:nvSpPr>
        <p:spPr>
          <a:xfrm>
            <a:off x="5832389" y="3454095"/>
            <a:ext cx="2963403"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Hidden Markov Models on online handwriting</a:t>
            </a:r>
            <a:endParaRPr lang="en-US" sz="1600" dirty="0">
              <a:latin typeface="Times New Roman" panose="02020603050405020304" pitchFamily="18" charset="0"/>
              <a:cs typeface="Times New Roman" panose="02020603050405020304" pitchFamily="18" charset="0"/>
            </a:endParaRPr>
          </a:p>
        </p:txBody>
      </p:sp>
      <p:sp>
        <p:nvSpPr>
          <p:cNvPr id="38" name="Text 16">
            <a:extLst>
              <a:ext uri="{FF2B5EF4-FFF2-40B4-BE49-F238E27FC236}">
                <a16:creationId xmlns:a16="http://schemas.microsoft.com/office/drawing/2014/main" id="{B84D49AF-0DE2-4D7D-B4C4-ADFE9594B54A}"/>
              </a:ext>
            </a:extLst>
          </p:cNvPr>
          <p:cNvSpPr/>
          <p:nvPr/>
        </p:nvSpPr>
        <p:spPr>
          <a:xfrm>
            <a:off x="9168655" y="3454095"/>
            <a:ext cx="2361208"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81% for anger, happiness, sadness</a:t>
            </a:r>
            <a:endParaRPr lang="en-US" sz="1600" dirty="0">
              <a:latin typeface="Times New Roman" panose="02020603050405020304" pitchFamily="18" charset="0"/>
              <a:cs typeface="Times New Roman" panose="02020603050405020304" pitchFamily="18" charset="0"/>
            </a:endParaRPr>
          </a:p>
        </p:txBody>
      </p:sp>
      <p:sp>
        <p:nvSpPr>
          <p:cNvPr id="39" name="Text 17">
            <a:extLst>
              <a:ext uri="{FF2B5EF4-FFF2-40B4-BE49-F238E27FC236}">
                <a16:creationId xmlns:a16="http://schemas.microsoft.com/office/drawing/2014/main" id="{8F1A511D-7F00-437E-AAC4-CC0C1A00BCEC}"/>
              </a:ext>
            </a:extLst>
          </p:cNvPr>
          <p:cNvSpPr/>
          <p:nvPr/>
        </p:nvSpPr>
        <p:spPr>
          <a:xfrm>
            <a:off x="3703687" y="4273046"/>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TEmoDec</a:t>
            </a:r>
            <a:endParaRPr lang="en-US" sz="2000" dirty="0">
              <a:latin typeface="Times New Roman" panose="02020603050405020304" pitchFamily="18" charset="0"/>
              <a:cs typeface="Times New Roman" panose="02020603050405020304" pitchFamily="18" charset="0"/>
            </a:endParaRPr>
          </a:p>
        </p:txBody>
      </p:sp>
      <p:sp>
        <p:nvSpPr>
          <p:cNvPr id="40" name="Text 18">
            <a:extLst>
              <a:ext uri="{FF2B5EF4-FFF2-40B4-BE49-F238E27FC236}">
                <a16:creationId xmlns:a16="http://schemas.microsoft.com/office/drawing/2014/main" id="{9E730E0D-4608-4A63-B5E3-FD73E1119EC0}"/>
              </a:ext>
            </a:extLst>
          </p:cNvPr>
          <p:cNvSpPr/>
          <p:nvPr/>
        </p:nvSpPr>
        <p:spPr>
          <a:xfrm>
            <a:off x="5832389" y="4273046"/>
            <a:ext cx="2963403"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Agglomerative Hierarchical Clustering on handwritten text</a:t>
            </a:r>
            <a:endParaRPr lang="en-US" sz="1600" dirty="0">
              <a:latin typeface="Times New Roman" panose="02020603050405020304" pitchFamily="18" charset="0"/>
              <a:cs typeface="Times New Roman" panose="02020603050405020304" pitchFamily="18" charset="0"/>
            </a:endParaRPr>
          </a:p>
        </p:txBody>
      </p:sp>
      <p:sp>
        <p:nvSpPr>
          <p:cNvPr id="41" name="Text 19">
            <a:extLst>
              <a:ext uri="{FF2B5EF4-FFF2-40B4-BE49-F238E27FC236}">
                <a16:creationId xmlns:a16="http://schemas.microsoft.com/office/drawing/2014/main" id="{8C7EE1B4-B1DA-4FC4-8E62-2339C957B10F}"/>
              </a:ext>
            </a:extLst>
          </p:cNvPr>
          <p:cNvSpPr/>
          <p:nvPr/>
        </p:nvSpPr>
        <p:spPr>
          <a:xfrm>
            <a:off x="9168655" y="4273047"/>
            <a:ext cx="2361208" cy="879574"/>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71.6% for anger, sadness, depression, happiness, excitement</a:t>
            </a:r>
            <a:endParaRPr lang="en-US" sz="1600" dirty="0">
              <a:latin typeface="Times New Roman" panose="02020603050405020304" pitchFamily="18" charset="0"/>
              <a:cs typeface="Times New Roman" panose="02020603050405020304" pitchFamily="18" charset="0"/>
            </a:endParaRPr>
          </a:p>
        </p:txBody>
      </p:sp>
      <p:sp>
        <p:nvSpPr>
          <p:cNvPr id="42" name="Shape 20">
            <a:extLst>
              <a:ext uri="{FF2B5EF4-FFF2-40B4-BE49-F238E27FC236}">
                <a16:creationId xmlns:a16="http://schemas.microsoft.com/office/drawing/2014/main" id="{3E194B78-4A70-4F79-8593-29B04C8DE54D}"/>
              </a:ext>
            </a:extLst>
          </p:cNvPr>
          <p:cNvSpPr/>
          <p:nvPr/>
        </p:nvSpPr>
        <p:spPr>
          <a:xfrm>
            <a:off x="3520033" y="5268905"/>
            <a:ext cx="8193583" cy="818952"/>
          </a:xfrm>
          <a:prstGeom prst="rect">
            <a:avLst/>
          </a:prstGeom>
          <a:solidFill>
            <a:srgbClr val="F6E9D5"/>
          </a:solidFill>
          <a:ln/>
        </p:spPr>
      </p:sp>
      <p:sp>
        <p:nvSpPr>
          <p:cNvPr id="43" name="Text 21">
            <a:extLst>
              <a:ext uri="{FF2B5EF4-FFF2-40B4-BE49-F238E27FC236}">
                <a16:creationId xmlns:a16="http://schemas.microsoft.com/office/drawing/2014/main" id="{BDBDE1BD-C37C-49D0-90AD-05F72EF1340B}"/>
              </a:ext>
            </a:extLst>
          </p:cNvPr>
          <p:cNvSpPr/>
          <p:nvPr/>
        </p:nvSpPr>
        <p:spPr>
          <a:xfrm>
            <a:off x="3703687" y="5385189"/>
            <a:ext cx="2361208" cy="293192"/>
          </a:xfrm>
          <a:prstGeom prst="rect">
            <a:avLst/>
          </a:prstGeom>
          <a:noFill/>
          <a:ln/>
        </p:spPr>
        <p:txBody>
          <a:bodyPr wrap="none" rtlCol="0" anchor="t"/>
          <a:lstStyle/>
          <a:p>
            <a:pPr>
              <a:lnSpc>
                <a:spcPts val="2309"/>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SVM-Based</a:t>
            </a:r>
            <a:endParaRPr lang="en-US" sz="2000" dirty="0">
              <a:latin typeface="Times New Roman" panose="02020603050405020304" pitchFamily="18" charset="0"/>
              <a:cs typeface="Times New Roman" panose="02020603050405020304" pitchFamily="18" charset="0"/>
            </a:endParaRPr>
          </a:p>
        </p:txBody>
      </p:sp>
      <p:sp>
        <p:nvSpPr>
          <p:cNvPr id="44" name="Text 22">
            <a:extLst>
              <a:ext uri="{FF2B5EF4-FFF2-40B4-BE49-F238E27FC236}">
                <a16:creationId xmlns:a16="http://schemas.microsoft.com/office/drawing/2014/main" id="{19FB7573-CA16-41E7-86CF-FE2F19A83A46}"/>
              </a:ext>
            </a:extLst>
          </p:cNvPr>
          <p:cNvSpPr/>
          <p:nvPr/>
        </p:nvSpPr>
        <p:spPr>
          <a:xfrm>
            <a:off x="5832389" y="5385190"/>
            <a:ext cx="2963403"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Support Vector Machines on handwriting features</a:t>
            </a:r>
            <a:endParaRPr lang="en-US" sz="1600" dirty="0">
              <a:latin typeface="Times New Roman" panose="02020603050405020304" pitchFamily="18" charset="0"/>
              <a:cs typeface="Times New Roman" panose="02020603050405020304" pitchFamily="18" charset="0"/>
            </a:endParaRPr>
          </a:p>
        </p:txBody>
      </p:sp>
      <p:sp>
        <p:nvSpPr>
          <p:cNvPr id="45" name="Text 23">
            <a:extLst>
              <a:ext uri="{FF2B5EF4-FFF2-40B4-BE49-F238E27FC236}">
                <a16:creationId xmlns:a16="http://schemas.microsoft.com/office/drawing/2014/main" id="{C96C4CD4-54E8-464A-8958-535613947E63}"/>
              </a:ext>
            </a:extLst>
          </p:cNvPr>
          <p:cNvSpPr/>
          <p:nvPr/>
        </p:nvSpPr>
        <p:spPr>
          <a:xfrm>
            <a:off x="9168655" y="5385190"/>
            <a:ext cx="2361208" cy="586383"/>
          </a:xfrm>
          <a:prstGeom prst="rect">
            <a:avLst/>
          </a:prstGeom>
          <a:noFill/>
          <a:ln/>
        </p:spPr>
        <p:txBody>
          <a:bodyPr wrap="square" rtlCol="0" anchor="t"/>
          <a:lstStyle/>
          <a:p>
            <a:pPr>
              <a:lnSpc>
                <a:spcPts val="2309"/>
              </a:lnSpc>
            </a:pPr>
            <a:r>
              <a:rPr lang="en-US" sz="1600" dirty="0">
                <a:solidFill>
                  <a:srgbClr val="3A3630"/>
                </a:solidFill>
                <a:latin typeface="Times New Roman" panose="02020603050405020304" pitchFamily="18" charset="0"/>
                <a:ea typeface="Source Sans Pro" pitchFamily="34" charset="-122"/>
                <a:cs typeface="Times New Roman" panose="02020603050405020304" pitchFamily="18" charset="0"/>
              </a:rPr>
              <a:t>70-75% for extraversion and neuroticism</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794"/>
          </a:xfrm>
          <a:prstGeom prst="rect">
            <a:avLst/>
          </a:prstGeom>
          <a:solidFill>
            <a:srgbClr val="FEF5E7"/>
          </a:solidFill>
          <a:ln/>
        </p:spPr>
      </p:sp>
      <p:sp>
        <p:nvSpPr>
          <p:cNvPr id="4" name="Text 2"/>
          <p:cNvSpPr/>
          <p:nvPr/>
        </p:nvSpPr>
        <p:spPr>
          <a:xfrm>
            <a:off x="4019698" y="244278"/>
            <a:ext cx="4152603" cy="504032"/>
          </a:xfrm>
          <a:prstGeom prst="rect">
            <a:avLst/>
          </a:prstGeom>
          <a:noFill/>
          <a:ln/>
        </p:spPr>
        <p:txBody>
          <a:bodyPr wrap="none" rtlCol="0" anchor="t"/>
          <a:lstStyle/>
          <a:p>
            <a:pPr algn="ctr">
              <a:lnSpc>
                <a:spcPts val="3968"/>
              </a:lnSpc>
            </a:pPr>
            <a:r>
              <a:rPr lang="en-US" sz="4000" dirty="0">
                <a:solidFill>
                  <a:srgbClr val="38512F"/>
                </a:solidFill>
                <a:latin typeface="Times New Roman" panose="02020603050405020304" pitchFamily="18" charset="0"/>
                <a:ea typeface="Lora" pitchFamily="34" charset="-122"/>
                <a:cs typeface="Times New Roman" panose="02020603050405020304" pitchFamily="18" charset="0"/>
              </a:rPr>
              <a:t>Technical Background</a:t>
            </a:r>
            <a:endParaRPr lang="en-US" sz="4000" dirty="0">
              <a:latin typeface="Times New Roman" panose="02020603050405020304" pitchFamily="18" charset="0"/>
              <a:cs typeface="Times New Roman" panose="02020603050405020304" pitchFamily="18" charset="0"/>
            </a:endParaRPr>
          </a:p>
        </p:txBody>
      </p:sp>
      <p:sp>
        <p:nvSpPr>
          <p:cNvPr id="5" name="Text 3"/>
          <p:cNvSpPr/>
          <p:nvPr/>
        </p:nvSpPr>
        <p:spPr>
          <a:xfrm>
            <a:off x="583902" y="1092488"/>
            <a:ext cx="2142699" cy="504032"/>
          </a:xfrm>
          <a:prstGeom prst="rect">
            <a:avLst/>
          </a:prstGeom>
          <a:noFill/>
          <a:ln/>
        </p:spPr>
        <p:txBody>
          <a:bodyPr wrap="square" rtlCol="0" anchor="t"/>
          <a:lstStyle/>
          <a:p>
            <a:pPr>
              <a:lnSpc>
                <a:spcPts val="1984"/>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Emotion Recognition</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583901" y="1757750"/>
            <a:ext cx="2295223" cy="1805782"/>
          </a:xfrm>
          <a:prstGeom prst="rect">
            <a:avLst/>
          </a:prstGeom>
          <a:noFill/>
          <a:ln/>
        </p:spPr>
        <p:txBody>
          <a:bodyPr wrap="square" rtlCol="0" anchor="t"/>
          <a:lstStyle/>
          <a:p>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This involves identifying and interpreting human emotions, which can be influenced by factors like knowledge and experience.</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3326917" y="1092488"/>
            <a:ext cx="2142699" cy="504032"/>
          </a:xfrm>
          <a:prstGeom prst="rect">
            <a:avLst/>
          </a:prstGeom>
          <a:noFill/>
          <a:ln/>
        </p:spPr>
        <p:txBody>
          <a:bodyPr wrap="square" rtlCol="0" anchor="t"/>
          <a:lstStyle/>
          <a:p>
            <a:pPr>
              <a:lnSpc>
                <a:spcPts val="1984"/>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Handwriting Analysis</a:t>
            </a:r>
            <a:endParaRPr lang="en-US" sz="2400" dirty="0">
              <a:latin typeface="Times New Roman" panose="02020603050405020304" pitchFamily="18" charset="0"/>
              <a:cs typeface="Times New Roman" panose="02020603050405020304" pitchFamily="18" charset="0"/>
            </a:endParaRPr>
          </a:p>
        </p:txBody>
      </p:sp>
      <p:sp>
        <p:nvSpPr>
          <p:cNvPr id="8" name="Text 6"/>
          <p:cNvSpPr/>
          <p:nvPr/>
        </p:nvSpPr>
        <p:spPr>
          <a:xfrm>
            <a:off x="3326916" y="1757750"/>
            <a:ext cx="2295223" cy="2063750"/>
          </a:xfrm>
          <a:prstGeom prst="rect">
            <a:avLst/>
          </a:prstGeom>
          <a:noFill/>
          <a:ln/>
        </p:spPr>
        <p:txBody>
          <a:bodyPr wrap="square" rtlCol="0" anchor="t"/>
          <a:lstStyle/>
          <a:p>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This focuses on understanding personality traits and emotional states through handwriting features like slant, spacing, and letterforms.</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6305450" y="1092489"/>
            <a:ext cx="2142699" cy="504032"/>
          </a:xfrm>
          <a:prstGeom prst="rect">
            <a:avLst/>
          </a:prstGeom>
          <a:noFill/>
          <a:ln/>
        </p:spPr>
        <p:txBody>
          <a:bodyPr wrap="square" rtlCol="0" anchor="t"/>
          <a:lstStyle/>
          <a:p>
            <a:pPr>
              <a:lnSpc>
                <a:spcPts val="1984"/>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Image Processing</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6299099" y="1757750"/>
            <a:ext cx="2295223" cy="1547813"/>
          </a:xfrm>
          <a:prstGeom prst="rect">
            <a:avLst/>
          </a:prstGeom>
          <a:noFill/>
          <a:ln/>
        </p:spPr>
        <p:txBody>
          <a:bodyPr wrap="square" rtlCol="0" anchor="t"/>
          <a:lstStyle/>
          <a:p>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This involves transforming input images into output images or extracting image characteristics for further analysis.</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9427468" y="1076335"/>
            <a:ext cx="2347598" cy="504032"/>
          </a:xfrm>
          <a:prstGeom prst="rect">
            <a:avLst/>
          </a:prstGeom>
          <a:noFill/>
          <a:ln/>
        </p:spPr>
        <p:txBody>
          <a:bodyPr wrap="square" rtlCol="0" anchor="t"/>
          <a:lstStyle/>
          <a:p>
            <a:pPr>
              <a:lnSpc>
                <a:spcPts val="1984"/>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Machine Learning</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9427467" y="1757750"/>
            <a:ext cx="2295223" cy="2579688"/>
          </a:xfrm>
          <a:prstGeom prst="rect">
            <a:avLst/>
          </a:prstGeom>
          <a:noFill/>
          <a:ln/>
        </p:spPr>
        <p:txBody>
          <a:bodyPr wrap="square" rtlCol="0" anchor="t"/>
          <a:lstStyle/>
          <a:p>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This branch of computer science uses existing data to make predictions about future data, employing techniques like mathematical optimization, statistics, and algorithm design.</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508805" y="5003799"/>
            <a:ext cx="4183141" cy="252016"/>
          </a:xfrm>
          <a:prstGeom prst="rect">
            <a:avLst/>
          </a:prstGeom>
          <a:noFill/>
          <a:ln/>
        </p:spPr>
        <p:txBody>
          <a:bodyPr wrap="none" rtlCol="0" anchor="t"/>
          <a:lstStyle/>
          <a:p>
            <a:pPr>
              <a:lnSpc>
                <a:spcPts val="1984"/>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Convolutional Neural Networks</a:t>
            </a:r>
            <a:endParaRPr lang="en-US" sz="2400" dirty="0">
              <a:latin typeface="Times New Roman" panose="02020603050405020304" pitchFamily="18" charset="0"/>
              <a:cs typeface="Times New Roman" panose="02020603050405020304" pitchFamily="18" charset="0"/>
            </a:endParaRPr>
          </a:p>
        </p:txBody>
      </p:sp>
      <p:sp>
        <p:nvSpPr>
          <p:cNvPr id="14" name="Text 12"/>
          <p:cNvSpPr/>
          <p:nvPr/>
        </p:nvSpPr>
        <p:spPr>
          <a:xfrm>
            <a:off x="508804" y="5417045"/>
            <a:ext cx="4864443" cy="773906"/>
          </a:xfrm>
          <a:prstGeom prst="rect">
            <a:avLst/>
          </a:prstGeom>
          <a:noFill/>
          <a:ln/>
        </p:spPr>
        <p:txBody>
          <a:bodyPr wrap="square" rtlCol="0" anchor="t"/>
          <a:lstStyle/>
          <a:p>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These are deep learning algorithms specifically designed for image processing and recognition tasks.</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5824151" y="5003799"/>
            <a:ext cx="3086405" cy="252016"/>
          </a:xfrm>
          <a:prstGeom prst="rect">
            <a:avLst/>
          </a:prstGeom>
          <a:noFill/>
          <a:ln/>
        </p:spPr>
        <p:txBody>
          <a:bodyPr wrap="none" rtlCol="0" anchor="t"/>
          <a:lstStyle/>
          <a:p>
            <a:pPr>
              <a:lnSpc>
                <a:spcPts val="1984"/>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Hidden Markov Models</a:t>
            </a:r>
            <a:endParaRPr lang="en-US" sz="2400" dirty="0">
              <a:latin typeface="Times New Roman" panose="02020603050405020304" pitchFamily="18" charset="0"/>
              <a:cs typeface="Times New Roman" panose="02020603050405020304" pitchFamily="18" charset="0"/>
            </a:endParaRPr>
          </a:p>
        </p:txBody>
      </p:sp>
      <p:sp>
        <p:nvSpPr>
          <p:cNvPr id="16" name="Text 14"/>
          <p:cNvSpPr/>
          <p:nvPr/>
        </p:nvSpPr>
        <p:spPr>
          <a:xfrm>
            <a:off x="5824151" y="5417045"/>
            <a:ext cx="4864443" cy="773906"/>
          </a:xfrm>
          <a:prstGeom prst="rect">
            <a:avLst/>
          </a:prstGeom>
          <a:noFill/>
          <a:ln/>
        </p:spPr>
        <p:txBody>
          <a:bodyPr wrap="square" rtlCol="0" anchor="t"/>
          <a:lstStyle/>
          <a:p>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These model the relationship between hidden states and observations using transition and emission probabilities.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sp>
        <p:nvSpPr>
          <p:cNvPr id="5" name="Text 2"/>
          <p:cNvSpPr/>
          <p:nvPr/>
        </p:nvSpPr>
        <p:spPr>
          <a:xfrm>
            <a:off x="694333" y="3021806"/>
            <a:ext cx="6231334" cy="760909"/>
          </a:xfrm>
          <a:prstGeom prst="rect">
            <a:avLst/>
          </a:prstGeom>
          <a:noFill/>
          <a:ln/>
        </p:spPr>
        <p:txBody>
          <a:bodyPr wrap="square" rtlCol="0" anchor="t"/>
          <a:lstStyle/>
          <a:p>
            <a:pPr>
              <a:lnSpc>
                <a:spcPts val="4556"/>
              </a:lnSpc>
            </a:pPr>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Research Environment and Respondents</a:t>
            </a:r>
            <a:endParaRPr lang="en-US" sz="2800" dirty="0">
              <a:latin typeface="Times New Roman" panose="02020603050405020304" pitchFamily="18" charset="0"/>
              <a:cs typeface="Times New Roman" panose="02020603050405020304" pitchFamily="18" charset="0"/>
            </a:endParaRPr>
          </a:p>
        </p:txBody>
      </p:sp>
      <p:sp>
        <p:nvSpPr>
          <p:cNvPr id="6" name="Text 3"/>
          <p:cNvSpPr/>
          <p:nvPr/>
        </p:nvSpPr>
        <p:spPr>
          <a:xfrm>
            <a:off x="694333" y="3782715"/>
            <a:ext cx="6231334" cy="1184672"/>
          </a:xfrm>
          <a:prstGeom prst="rect">
            <a:avLst/>
          </a:prstGeom>
          <a:noFill/>
          <a:ln/>
        </p:spPr>
        <p:txBody>
          <a:bodyPr wrap="square" rtlCol="0" anchor="t"/>
          <a:lstStyle/>
          <a:p>
            <a:pPr algn="just">
              <a:lnSpc>
                <a:spcPts val="2332"/>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 The research will be conducted in a controlled university setting. Respondents/Participants will be required from the general population, with a focus on right-handed young adults of a specific age range(e.g., 18-23 years old) who have a cursive handwriting style to reduce variability due to age differences and handwriting style.</a:t>
            </a: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41F24E1-18FA-4804-B258-3310E1AB6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0"/>
            <a:ext cx="7176655" cy="6858000"/>
          </a:xfrm>
          <a:prstGeom prst="rect">
            <a:avLst/>
          </a:prstGeom>
        </p:spPr>
      </p:pic>
      <p:sp>
        <p:nvSpPr>
          <p:cNvPr id="10" name="Text 2">
            <a:extLst>
              <a:ext uri="{FF2B5EF4-FFF2-40B4-BE49-F238E27FC236}">
                <a16:creationId xmlns:a16="http://schemas.microsoft.com/office/drawing/2014/main" id="{E0537B0B-A122-4299-8291-66BD538E9659}"/>
              </a:ext>
            </a:extLst>
          </p:cNvPr>
          <p:cNvSpPr/>
          <p:nvPr/>
        </p:nvSpPr>
        <p:spPr>
          <a:xfrm>
            <a:off x="694333" y="712391"/>
            <a:ext cx="6231334" cy="1597025"/>
          </a:xfrm>
          <a:prstGeom prst="rect">
            <a:avLst/>
          </a:prstGeom>
          <a:noFill/>
          <a:ln/>
        </p:spPr>
        <p:txBody>
          <a:bodyPr wrap="square" rtlCol="0" anchor="t"/>
          <a:lstStyle/>
          <a:p>
            <a:pPr>
              <a:lnSpc>
                <a:spcPts val="6287"/>
              </a:lnSpc>
            </a:pPr>
            <a:r>
              <a:rPr lang="en-US" sz="5030" dirty="0">
                <a:solidFill>
                  <a:srgbClr val="38512F"/>
                </a:solidFill>
                <a:latin typeface="Times New Roman" panose="02020603050405020304" pitchFamily="18" charset="0"/>
                <a:ea typeface="Lora" pitchFamily="34" charset="-122"/>
                <a:cs typeface="Times New Roman" panose="02020603050405020304" pitchFamily="18" charset="0"/>
              </a:rPr>
              <a:t>Design and Methodology</a:t>
            </a:r>
            <a:endParaRPr lang="en-US" sz="5030"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9"/>
                                        </p:tgtEl>
                                      </p:cBhvr>
                                    </p:animEffect>
                                    <p:set>
                                      <p:cBhvr>
                                        <p:cTn id="13"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sp>
        <p:nvSpPr>
          <p:cNvPr id="5" name="Text 2"/>
          <p:cNvSpPr/>
          <p:nvPr/>
        </p:nvSpPr>
        <p:spPr>
          <a:xfrm>
            <a:off x="694333" y="3021806"/>
            <a:ext cx="6231334" cy="760909"/>
          </a:xfrm>
          <a:prstGeom prst="rect">
            <a:avLst/>
          </a:prstGeom>
          <a:noFill/>
          <a:ln/>
        </p:spPr>
        <p:txBody>
          <a:bodyPr wrap="square" rtlCol="0" anchor="t"/>
          <a:lstStyle/>
          <a:p>
            <a:pPr>
              <a:lnSpc>
                <a:spcPts val="4556"/>
              </a:lnSpc>
            </a:pPr>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Research Instrument or Source of Data</a:t>
            </a:r>
            <a:endParaRPr lang="en-US" sz="2800" dirty="0">
              <a:latin typeface="Times New Roman" panose="02020603050405020304" pitchFamily="18" charset="0"/>
              <a:cs typeface="Times New Roman" panose="02020603050405020304" pitchFamily="18" charset="0"/>
            </a:endParaRPr>
          </a:p>
        </p:txBody>
      </p:sp>
      <p:sp>
        <p:nvSpPr>
          <p:cNvPr id="6" name="Text 3"/>
          <p:cNvSpPr/>
          <p:nvPr/>
        </p:nvSpPr>
        <p:spPr>
          <a:xfrm>
            <a:off x="694333" y="3782715"/>
            <a:ext cx="6039842" cy="1184672"/>
          </a:xfrm>
          <a:prstGeom prst="rect">
            <a:avLst/>
          </a:prstGeom>
          <a:noFill/>
          <a:ln/>
        </p:spPr>
        <p:txBody>
          <a:bodyPr wrap="square" rtlCol="0" anchor="t"/>
          <a:lstStyle/>
          <a:p>
            <a:pPr algn="just">
              <a:lnSpc>
                <a:spcPts val="2332"/>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The research instrument will consist of a 3-paged assessment handout, that consist 1</a:t>
            </a:r>
            <a:r>
              <a:rPr lang="en-US" sz="2000" baseline="30000" dirty="0">
                <a:solidFill>
                  <a:srgbClr val="3A3630"/>
                </a:solidFill>
                <a:latin typeface="Times New Roman" panose="02020603050405020304" pitchFamily="18" charset="0"/>
                <a:ea typeface="Source Sans Pro" pitchFamily="34" charset="-122"/>
                <a:cs typeface="Times New Roman" panose="02020603050405020304" pitchFamily="18" charset="0"/>
              </a:rPr>
              <a:t>st</a:t>
            </a: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 page the instructions, 2</a:t>
            </a:r>
            <a:r>
              <a:rPr lang="en-US" sz="2000" baseline="30000" dirty="0">
                <a:solidFill>
                  <a:srgbClr val="3A3630"/>
                </a:solidFill>
                <a:latin typeface="Times New Roman" panose="02020603050405020304" pitchFamily="18" charset="0"/>
                <a:ea typeface="Source Sans Pro" pitchFamily="34" charset="-122"/>
                <a:cs typeface="Times New Roman" panose="02020603050405020304" pitchFamily="18" charset="0"/>
              </a:rPr>
              <a:t>nd</a:t>
            </a: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 page the self –report questionnaire, and the 3</a:t>
            </a:r>
            <a:r>
              <a:rPr lang="en-US" sz="2000" baseline="30000" dirty="0">
                <a:solidFill>
                  <a:srgbClr val="3A3630"/>
                </a:solidFill>
                <a:latin typeface="Times New Roman" panose="02020603050405020304" pitchFamily="18" charset="0"/>
                <a:ea typeface="Source Sans Pro" pitchFamily="34" charset="-122"/>
                <a:cs typeface="Times New Roman" panose="02020603050405020304" pitchFamily="18" charset="0"/>
              </a:rPr>
              <a:t>rd</a:t>
            </a: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 page the rewriting words and sentences. A Flatbed Scanner will be used to scan the assessment filled out by the participants on A4 paper using a 0.3 black pen which will be provided by the researcher.</a:t>
            </a:r>
            <a:endParaRPr lang="en-US" sz="20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0537B0B-A122-4299-8291-66BD538E9659}"/>
              </a:ext>
            </a:extLst>
          </p:cNvPr>
          <p:cNvSpPr/>
          <p:nvPr/>
        </p:nvSpPr>
        <p:spPr>
          <a:xfrm>
            <a:off x="694333" y="712391"/>
            <a:ext cx="6231334" cy="1597025"/>
          </a:xfrm>
          <a:prstGeom prst="rect">
            <a:avLst/>
          </a:prstGeom>
          <a:noFill/>
          <a:ln/>
        </p:spPr>
        <p:txBody>
          <a:bodyPr wrap="square" rtlCol="0" anchor="t"/>
          <a:lstStyle/>
          <a:p>
            <a:pPr>
              <a:lnSpc>
                <a:spcPts val="6287"/>
              </a:lnSpc>
            </a:pPr>
            <a:r>
              <a:rPr lang="en-US" sz="5030" dirty="0">
                <a:solidFill>
                  <a:srgbClr val="38512F"/>
                </a:solidFill>
                <a:latin typeface="Times New Roman" panose="02020603050405020304" pitchFamily="18" charset="0"/>
                <a:ea typeface="Lora" pitchFamily="34" charset="-122"/>
                <a:cs typeface="Times New Roman" panose="02020603050405020304" pitchFamily="18" charset="0"/>
              </a:rPr>
              <a:t>Design and Methodology</a:t>
            </a:r>
            <a:endParaRPr lang="en-US" sz="503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7595B96-7786-4EF2-A41E-66223297F3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7139" y="3429000"/>
            <a:ext cx="6325621" cy="4135582"/>
          </a:xfrm>
          <a:prstGeom prst="rect">
            <a:avLst/>
          </a:prstGeom>
        </p:spPr>
      </p:pic>
      <p:pic>
        <p:nvPicPr>
          <p:cNvPr id="11" name="Picture 10">
            <a:extLst>
              <a:ext uri="{FF2B5EF4-FFF2-40B4-BE49-F238E27FC236}">
                <a16:creationId xmlns:a16="http://schemas.microsoft.com/office/drawing/2014/main" id="{2D88CC78-EAF6-4DAD-AF20-D34E0C9139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7139" y="-453942"/>
            <a:ext cx="5939194" cy="3882943"/>
          </a:xfrm>
          <a:prstGeom prst="rect">
            <a:avLst/>
          </a:prstGeom>
        </p:spPr>
      </p:pic>
    </p:spTree>
    <p:extLst>
      <p:ext uri="{BB962C8B-B14F-4D97-AF65-F5344CB8AC3E}">
        <p14:creationId xmlns:p14="http://schemas.microsoft.com/office/powerpoint/2010/main" val="311560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24714"/>
            <a:ext cx="12152908" cy="6808572"/>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6350" y="24714"/>
            <a:ext cx="3048000" cy="6858000"/>
          </a:xfrm>
          <a:prstGeom prst="rect">
            <a:avLst/>
          </a:prstGeom>
        </p:spPr>
      </p:pic>
      <p:sp>
        <p:nvSpPr>
          <p:cNvPr id="5" name="Text 2"/>
          <p:cNvSpPr/>
          <p:nvPr/>
        </p:nvSpPr>
        <p:spPr>
          <a:xfrm>
            <a:off x="3742333" y="286692"/>
            <a:ext cx="4629150" cy="578644"/>
          </a:xfrm>
          <a:prstGeom prst="rect">
            <a:avLst/>
          </a:prstGeom>
          <a:noFill/>
          <a:ln/>
        </p:spPr>
        <p:txBody>
          <a:bodyPr wrap="none" rtlCol="0" anchor="t"/>
          <a:lstStyle/>
          <a:p>
            <a:pPr>
              <a:lnSpc>
                <a:spcPts val="4556"/>
              </a:lnSpc>
            </a:pPr>
            <a:r>
              <a:rPr lang="en-US" sz="4800" dirty="0">
                <a:solidFill>
                  <a:srgbClr val="38512F"/>
                </a:solidFill>
                <a:latin typeface="Times New Roman" panose="02020603050405020304" pitchFamily="18" charset="0"/>
                <a:ea typeface="Lora" pitchFamily="34" charset="-122"/>
                <a:cs typeface="Times New Roman" panose="02020603050405020304" pitchFamily="18" charset="0"/>
              </a:rPr>
              <a:t>Research Procedure</a:t>
            </a:r>
            <a:endParaRPr lang="en-US" sz="4800" dirty="0">
              <a:latin typeface="Times New Roman" panose="02020603050405020304" pitchFamily="18" charset="0"/>
              <a:cs typeface="Times New Roman" panose="02020603050405020304" pitchFamily="18" charset="0"/>
            </a:endParaRPr>
          </a:p>
        </p:txBody>
      </p:sp>
      <p:sp>
        <p:nvSpPr>
          <p:cNvPr id="6" name="Shape 3"/>
          <p:cNvSpPr/>
          <p:nvPr/>
        </p:nvSpPr>
        <p:spPr>
          <a:xfrm>
            <a:off x="3969494" y="1152028"/>
            <a:ext cx="76173" cy="5165645"/>
          </a:xfrm>
          <a:prstGeom prst="rect">
            <a:avLst/>
          </a:prstGeom>
          <a:solidFill>
            <a:srgbClr val="38512F"/>
          </a:solidFill>
          <a:ln/>
        </p:spPr>
      </p:sp>
      <p:sp>
        <p:nvSpPr>
          <p:cNvPr id="7" name="Shape 4"/>
          <p:cNvSpPr/>
          <p:nvPr/>
        </p:nvSpPr>
        <p:spPr>
          <a:xfrm>
            <a:off x="4207742" y="1510615"/>
            <a:ext cx="647998" cy="23118"/>
          </a:xfrm>
          <a:prstGeom prst="rect">
            <a:avLst/>
          </a:prstGeom>
          <a:solidFill>
            <a:srgbClr val="38512F"/>
          </a:solidFill>
          <a:ln/>
        </p:spPr>
      </p:sp>
      <p:sp>
        <p:nvSpPr>
          <p:cNvPr id="8" name="Shape 5"/>
          <p:cNvSpPr/>
          <p:nvPr/>
        </p:nvSpPr>
        <p:spPr>
          <a:xfrm>
            <a:off x="3791123" y="1313914"/>
            <a:ext cx="416619" cy="416619"/>
          </a:xfrm>
          <a:prstGeom prst="roundRect">
            <a:avLst>
              <a:gd name="adj" fmla="val 13333"/>
            </a:avLst>
          </a:prstGeom>
          <a:solidFill>
            <a:srgbClr val="F6E9D5"/>
          </a:solidFill>
          <a:ln/>
        </p:spPr>
      </p:sp>
      <p:sp>
        <p:nvSpPr>
          <p:cNvPr id="9" name="Text 6"/>
          <p:cNvSpPr/>
          <p:nvPr/>
        </p:nvSpPr>
        <p:spPr>
          <a:xfrm>
            <a:off x="3948881" y="1348640"/>
            <a:ext cx="101104" cy="347068"/>
          </a:xfrm>
          <a:prstGeom prst="rect">
            <a:avLst/>
          </a:prstGeom>
          <a:noFill/>
          <a:ln/>
        </p:spPr>
        <p:txBody>
          <a:bodyPr wrap="none" rtlCol="0" anchor="t"/>
          <a:lstStyle/>
          <a:p>
            <a:pPr algn="ctr">
              <a:lnSpc>
                <a:spcPts val="2734"/>
              </a:lnSpc>
            </a:pPr>
            <a:r>
              <a:rPr lang="en-US" sz="3200" dirty="0">
                <a:solidFill>
                  <a:srgbClr val="38512F"/>
                </a:solidFill>
                <a:latin typeface="Times New Roman" panose="02020603050405020304" pitchFamily="18" charset="0"/>
                <a:ea typeface="Lora" pitchFamily="34" charset="-122"/>
                <a:cs typeface="Times New Roman" panose="02020603050405020304" pitchFamily="18" charset="0"/>
              </a:rPr>
              <a:t>1</a:t>
            </a:r>
            <a:endParaRPr lang="en-US" sz="3200" dirty="0">
              <a:latin typeface="Times New Roman" panose="02020603050405020304" pitchFamily="18" charset="0"/>
              <a:cs typeface="Times New Roman" panose="02020603050405020304" pitchFamily="18" charset="0"/>
            </a:endParaRPr>
          </a:p>
        </p:txBody>
      </p:sp>
      <p:sp>
        <p:nvSpPr>
          <p:cNvPr id="10" name="Text 7"/>
          <p:cNvSpPr/>
          <p:nvPr/>
        </p:nvSpPr>
        <p:spPr>
          <a:xfrm>
            <a:off x="5017814" y="1354395"/>
            <a:ext cx="2314575" cy="289322"/>
          </a:xfrm>
          <a:prstGeom prst="rect">
            <a:avLst/>
          </a:prstGeom>
          <a:noFill/>
          <a:ln/>
        </p:spPr>
        <p:txBody>
          <a:bodyPr wrap="none" rtlCol="0" anchor="t"/>
          <a:lstStyle/>
          <a:p>
            <a:pPr>
              <a:lnSpc>
                <a:spcPts val="2278"/>
              </a:lnSpc>
            </a:pPr>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Gathering of Data</a:t>
            </a:r>
            <a:endParaRPr lang="en-US" sz="2800" dirty="0">
              <a:latin typeface="Times New Roman" panose="02020603050405020304" pitchFamily="18" charset="0"/>
              <a:cs typeface="Times New Roman" panose="02020603050405020304" pitchFamily="18" charset="0"/>
            </a:endParaRPr>
          </a:p>
        </p:txBody>
      </p:sp>
      <p:sp>
        <p:nvSpPr>
          <p:cNvPr id="11" name="Text 8"/>
          <p:cNvSpPr/>
          <p:nvPr/>
        </p:nvSpPr>
        <p:spPr>
          <a:xfrm>
            <a:off x="5017814" y="1754743"/>
            <a:ext cx="6459240" cy="888504"/>
          </a:xfrm>
          <a:prstGeom prst="rect">
            <a:avLst/>
          </a:prstGeom>
          <a:noFill/>
          <a:ln/>
        </p:spPr>
        <p:txBody>
          <a:bodyPr wrap="square" rtlCol="0" anchor="t"/>
          <a:lstStyle/>
          <a:p>
            <a:pPr algn="just">
              <a:lnSpc>
                <a:spcPts val="2332"/>
              </a:lnSpc>
            </a:pPr>
            <a:r>
              <a:rPr lang="en-US" sz="2000" dirty="0">
                <a:solidFill>
                  <a:srgbClr val="3A3630"/>
                </a:solidFill>
                <a:latin typeface="Times New Roman" panose="02020603050405020304" pitchFamily="18" charset="0"/>
                <a:cs typeface="Times New Roman" panose="02020603050405020304" pitchFamily="18" charset="0"/>
              </a:rPr>
              <a:t>Provide participants with the 3-page assessment handout. On page 1, provide instructions for the participants to follow. On page 2, have the participants complete the self-report questionnaire to assess their emotional state. On page 3, have the participants rewrite </a:t>
            </a: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words and sentences </a:t>
            </a:r>
            <a:r>
              <a:rPr lang="en-US" sz="2000" dirty="0">
                <a:solidFill>
                  <a:srgbClr val="3A3630"/>
                </a:solidFill>
                <a:latin typeface="Times New Roman" panose="02020603050405020304" pitchFamily="18" charset="0"/>
                <a:cs typeface="Times New Roman" panose="02020603050405020304" pitchFamily="18" charset="0"/>
              </a:rPr>
              <a:t>in cursive handwriting style. Scan the completed 3-page assessment using the Flatbed Scanner to capture handwriting data. Then store the handwriting data in an appropriate file formats.</a:t>
            </a:r>
            <a:endParaRPr lang="en-US" sz="2000" dirty="0">
              <a:latin typeface="Times New Roman" panose="02020603050405020304" pitchFamily="18" charset="0"/>
              <a:cs typeface="Times New Roman" panose="02020603050405020304" pitchFamily="18" charset="0"/>
            </a:endParaRPr>
          </a:p>
        </p:txBody>
      </p:sp>
      <p:sp>
        <p:nvSpPr>
          <p:cNvPr id="12" name="Shape 9"/>
          <p:cNvSpPr/>
          <p:nvPr/>
        </p:nvSpPr>
        <p:spPr>
          <a:xfrm>
            <a:off x="4228356" y="4681192"/>
            <a:ext cx="647998" cy="23118"/>
          </a:xfrm>
          <a:prstGeom prst="rect">
            <a:avLst/>
          </a:prstGeom>
          <a:solidFill>
            <a:srgbClr val="38512F"/>
          </a:solidFill>
          <a:ln/>
        </p:spPr>
      </p:sp>
      <p:sp>
        <p:nvSpPr>
          <p:cNvPr id="13" name="Shape 10"/>
          <p:cNvSpPr/>
          <p:nvPr/>
        </p:nvSpPr>
        <p:spPr>
          <a:xfrm>
            <a:off x="3811737" y="4484491"/>
            <a:ext cx="416619" cy="416619"/>
          </a:xfrm>
          <a:prstGeom prst="roundRect">
            <a:avLst>
              <a:gd name="adj" fmla="val 13333"/>
            </a:avLst>
          </a:prstGeom>
          <a:solidFill>
            <a:srgbClr val="F6E9D5"/>
          </a:solidFill>
          <a:ln/>
        </p:spPr>
      </p:sp>
      <p:sp>
        <p:nvSpPr>
          <p:cNvPr id="14" name="Text 11"/>
          <p:cNvSpPr/>
          <p:nvPr/>
        </p:nvSpPr>
        <p:spPr>
          <a:xfrm>
            <a:off x="3945384" y="4519218"/>
            <a:ext cx="149225" cy="347068"/>
          </a:xfrm>
          <a:prstGeom prst="rect">
            <a:avLst/>
          </a:prstGeom>
          <a:noFill/>
          <a:ln/>
        </p:spPr>
        <p:txBody>
          <a:bodyPr wrap="none" rtlCol="0" anchor="t"/>
          <a:lstStyle/>
          <a:p>
            <a:pPr algn="ctr">
              <a:lnSpc>
                <a:spcPts val="2734"/>
              </a:lnSpc>
            </a:pPr>
            <a:r>
              <a:rPr lang="en-US" sz="3200" dirty="0">
                <a:solidFill>
                  <a:srgbClr val="38512F"/>
                </a:solidFill>
                <a:latin typeface="Times New Roman" panose="02020603050405020304" pitchFamily="18" charset="0"/>
                <a:ea typeface="Lora" pitchFamily="34" charset="-122"/>
                <a:cs typeface="Times New Roman" panose="02020603050405020304" pitchFamily="18" charset="0"/>
              </a:rPr>
              <a:t>2</a:t>
            </a:r>
            <a:endParaRPr lang="en-US" sz="3200" dirty="0">
              <a:latin typeface="Times New Roman" panose="02020603050405020304" pitchFamily="18" charset="0"/>
              <a:cs typeface="Times New Roman" panose="02020603050405020304" pitchFamily="18" charset="0"/>
            </a:endParaRPr>
          </a:p>
        </p:txBody>
      </p:sp>
      <p:sp>
        <p:nvSpPr>
          <p:cNvPr id="15" name="Text 12"/>
          <p:cNvSpPr/>
          <p:nvPr/>
        </p:nvSpPr>
        <p:spPr>
          <a:xfrm>
            <a:off x="5038428" y="4524971"/>
            <a:ext cx="2314575" cy="289322"/>
          </a:xfrm>
          <a:prstGeom prst="rect">
            <a:avLst/>
          </a:prstGeom>
          <a:noFill/>
          <a:ln/>
        </p:spPr>
        <p:txBody>
          <a:bodyPr wrap="none" rtlCol="0" anchor="t"/>
          <a:lstStyle/>
          <a:p>
            <a:pPr>
              <a:lnSpc>
                <a:spcPts val="2278"/>
              </a:lnSpc>
            </a:pPr>
            <a:r>
              <a:rPr lang="en-US" sz="2800" dirty="0">
                <a:solidFill>
                  <a:srgbClr val="38512F"/>
                </a:solidFill>
                <a:latin typeface="Times New Roman" panose="02020603050405020304" pitchFamily="18" charset="0"/>
                <a:ea typeface="Lora" pitchFamily="34" charset="-122"/>
                <a:cs typeface="Times New Roman" panose="02020603050405020304" pitchFamily="18" charset="0"/>
              </a:rPr>
              <a:t>Treatment of Data</a:t>
            </a:r>
            <a:endParaRPr lang="en-US" sz="2800" dirty="0">
              <a:latin typeface="Times New Roman" panose="02020603050405020304" pitchFamily="18" charset="0"/>
              <a:cs typeface="Times New Roman" panose="02020603050405020304" pitchFamily="18" charset="0"/>
            </a:endParaRPr>
          </a:p>
        </p:txBody>
      </p:sp>
      <p:sp>
        <p:nvSpPr>
          <p:cNvPr id="16" name="Text 13"/>
          <p:cNvSpPr/>
          <p:nvPr/>
        </p:nvSpPr>
        <p:spPr>
          <a:xfrm>
            <a:off x="5038428" y="4925320"/>
            <a:ext cx="6459240" cy="1184672"/>
          </a:xfrm>
          <a:prstGeom prst="rect">
            <a:avLst/>
          </a:prstGeom>
          <a:noFill/>
          <a:ln/>
        </p:spPr>
        <p:txBody>
          <a:bodyPr wrap="square" rtlCol="0" anchor="t"/>
          <a:lstStyle/>
          <a:p>
            <a:pPr algn="just">
              <a:lnSpc>
                <a:spcPts val="2332"/>
              </a:lnSpc>
            </a:pPr>
            <a:r>
              <a:rPr lang="en-US" sz="2000" dirty="0">
                <a:solidFill>
                  <a:srgbClr val="3A3630"/>
                </a:solidFill>
                <a:latin typeface="Times New Roman" panose="02020603050405020304" pitchFamily="18" charset="0"/>
                <a:ea typeface="Source Sans Pro" pitchFamily="34" charset="-122"/>
                <a:cs typeface="Times New Roman" panose="02020603050405020304" pitchFamily="18" charset="0"/>
              </a:rPr>
              <a:t>We'll preprocess the handwriting data, filter out irrelevant or erroneous data points, and extract relevant features like timing-based and ductus-based features. The data will be labeled with the corresponding emotional states based on the results verified by a psychologist.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
            <a:extLst>
              <a:ext uri="{FF2B5EF4-FFF2-40B4-BE49-F238E27FC236}">
                <a16:creationId xmlns:a16="http://schemas.microsoft.com/office/drawing/2014/main" id="{E1C6545B-9114-4B54-B99C-11A1A00BAF6A}"/>
              </a:ext>
            </a:extLst>
          </p:cNvPr>
          <p:cNvSpPr/>
          <p:nvPr/>
        </p:nvSpPr>
        <p:spPr>
          <a:xfrm>
            <a:off x="0" y="0"/>
            <a:ext cx="12192000" cy="6858000"/>
          </a:xfrm>
          <a:prstGeom prst="rect">
            <a:avLst/>
          </a:prstGeom>
          <a:solidFill>
            <a:srgbClr val="FEF5E7"/>
          </a:solidFill>
          <a:ln/>
        </p:spPr>
      </p:sp>
      <p:sp>
        <p:nvSpPr>
          <p:cNvPr id="3" name="TextBox 3"/>
          <p:cNvSpPr txBox="1"/>
          <p:nvPr/>
        </p:nvSpPr>
        <p:spPr>
          <a:xfrm>
            <a:off x="684770" y="430284"/>
            <a:ext cx="5048512" cy="474489"/>
          </a:xfrm>
          <a:prstGeom prst="rect">
            <a:avLst/>
          </a:prstGeom>
        </p:spPr>
        <p:txBody>
          <a:bodyPr wrap="square" lIns="0" tIns="0" rIns="0" bIns="0" rtlCol="0" anchor="t">
            <a:spAutoFit/>
          </a:bodyPr>
          <a:lstStyle/>
          <a:p>
            <a:pPr>
              <a:lnSpc>
                <a:spcPts val="3683"/>
              </a:lnSpc>
            </a:pPr>
            <a:r>
              <a:rPr lang="en-US" sz="3200" spc="-88" dirty="0">
                <a:solidFill>
                  <a:srgbClr val="38512F"/>
                </a:solidFill>
                <a:latin typeface="Times New Roman" panose="02020603050405020304" pitchFamily="18" charset="0"/>
                <a:cs typeface="Times New Roman" panose="02020603050405020304" pitchFamily="18" charset="0"/>
              </a:rPr>
              <a:t>Conceptual Framework</a:t>
            </a:r>
          </a:p>
        </p:txBody>
      </p:sp>
      <p:sp>
        <p:nvSpPr>
          <p:cNvPr id="4" name="TextBox 4"/>
          <p:cNvSpPr txBox="1"/>
          <p:nvPr/>
        </p:nvSpPr>
        <p:spPr>
          <a:xfrm>
            <a:off x="5861221" y="812899"/>
            <a:ext cx="5847849" cy="5232202"/>
          </a:xfrm>
          <a:prstGeom prst="rect">
            <a:avLst/>
          </a:prstGeom>
        </p:spPr>
        <p:txBody>
          <a:bodyPr wrap="square" lIns="0" tIns="0" rIns="0" bIns="0" rtlCol="0" anchor="t">
            <a:spAutoFit/>
          </a:bodyPr>
          <a:lstStyle/>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Preliminary Assessment</a:t>
            </a:r>
            <a:r>
              <a:rPr lang="en-US" sz="2000" dirty="0">
                <a:solidFill>
                  <a:srgbClr val="38512F"/>
                </a:solidFill>
                <a:latin typeface="Times New Roman" panose="02020603050405020304" pitchFamily="18" charset="0"/>
                <a:cs typeface="Times New Roman" panose="02020603050405020304" pitchFamily="18" charset="0"/>
              </a:rPr>
              <a:t>: Participant will answer an assessment regarding to his/her current emotion.</a:t>
            </a:r>
          </a:p>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Data Collection</a:t>
            </a:r>
            <a:r>
              <a:rPr lang="en-US" sz="2000" dirty="0">
                <a:solidFill>
                  <a:srgbClr val="38512F"/>
                </a:solidFill>
                <a:latin typeface="Times New Roman" panose="02020603050405020304" pitchFamily="18" charset="0"/>
                <a:cs typeface="Times New Roman" panose="02020603050405020304" pitchFamily="18" charset="0"/>
              </a:rPr>
              <a:t>: Varied and representative handwriting samples are gathered from participants.</a:t>
            </a:r>
          </a:p>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Data Preprocessing</a:t>
            </a:r>
            <a:r>
              <a:rPr lang="en-US" sz="2000" dirty="0">
                <a:solidFill>
                  <a:srgbClr val="38512F"/>
                </a:solidFill>
                <a:latin typeface="Times New Roman" panose="02020603050405020304" pitchFamily="18" charset="0"/>
                <a:cs typeface="Times New Roman" panose="02020603050405020304" pitchFamily="18" charset="0"/>
              </a:rPr>
              <a:t>: Collected data is cleaned, normalized, and preprocessed for further analysis.</a:t>
            </a:r>
          </a:p>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Feature Extraction</a:t>
            </a:r>
            <a:r>
              <a:rPr lang="en-US" sz="2000" dirty="0">
                <a:solidFill>
                  <a:srgbClr val="38512F"/>
                </a:solidFill>
                <a:latin typeface="Times New Roman" panose="02020603050405020304" pitchFamily="18" charset="0"/>
                <a:cs typeface="Times New Roman" panose="02020603050405020304" pitchFamily="18" charset="0"/>
              </a:rPr>
              <a:t>: Image processing techniques are applied to extract relevant features from preprocessed data.</a:t>
            </a:r>
          </a:p>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Model Design</a:t>
            </a:r>
            <a:r>
              <a:rPr lang="en-US" sz="2000" dirty="0">
                <a:solidFill>
                  <a:srgbClr val="38512F"/>
                </a:solidFill>
                <a:latin typeface="Times New Roman" panose="02020603050405020304" pitchFamily="18" charset="0"/>
                <a:cs typeface="Times New Roman" panose="02020603050405020304" pitchFamily="18" charset="0"/>
              </a:rPr>
              <a:t>: CNNs are developed for feature extraction and HMMs for emotion classification.</a:t>
            </a:r>
          </a:p>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Model Testing</a:t>
            </a:r>
            <a:r>
              <a:rPr lang="en-US" sz="2000" dirty="0">
                <a:solidFill>
                  <a:srgbClr val="38512F"/>
                </a:solidFill>
                <a:latin typeface="Times New Roman" panose="02020603050405020304" pitchFamily="18" charset="0"/>
                <a:cs typeface="Times New Roman" panose="02020603050405020304" pitchFamily="18" charset="0"/>
              </a:rPr>
              <a:t>: The combined CNN-HMM model is tested using cross-validation and performance metrics to establish its accuracy and effectiveness.</a:t>
            </a:r>
          </a:p>
          <a:p>
            <a:pPr marL="359851" lvl="1" indent="-179926"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Results and Discussion</a:t>
            </a:r>
            <a:r>
              <a:rPr lang="en-US" sz="2000" dirty="0">
                <a:solidFill>
                  <a:srgbClr val="38512F"/>
                </a:solidFill>
                <a:latin typeface="Times New Roman" panose="02020603050405020304" pitchFamily="18" charset="0"/>
                <a:cs typeface="Times New Roman" panose="02020603050405020304" pitchFamily="18" charset="0"/>
              </a:rPr>
              <a:t>: Model performance is interpreted to provide implications and insights into potential applications or improvements.</a:t>
            </a:r>
          </a:p>
        </p:txBody>
      </p:sp>
      <p:pic>
        <p:nvPicPr>
          <p:cNvPr id="5" name="Picture 4">
            <a:extLst>
              <a:ext uri="{FF2B5EF4-FFF2-40B4-BE49-F238E27FC236}">
                <a16:creationId xmlns:a16="http://schemas.microsoft.com/office/drawing/2014/main" id="{17BE0F76-F68B-45C8-82A2-221E9DD75387}"/>
              </a:ext>
            </a:extLst>
          </p:cNvPr>
          <p:cNvPicPr/>
          <p:nvPr/>
        </p:nvPicPr>
        <p:blipFill>
          <a:blip r:embed="rId2">
            <a:extLst>
              <a:ext uri="{28A0092B-C50C-407E-A947-70E740481C1C}">
                <a14:useLocalDpi xmlns:a14="http://schemas.microsoft.com/office/drawing/2010/main" val="0"/>
              </a:ext>
            </a:extLst>
          </a:blip>
          <a:stretch>
            <a:fillRect/>
          </a:stretch>
        </p:blipFill>
        <p:spPr>
          <a:xfrm>
            <a:off x="193724" y="904773"/>
            <a:ext cx="5667497" cy="5382061"/>
          </a:xfrm>
          <a:prstGeom prst="rect">
            <a:avLst/>
          </a:prstGeom>
        </p:spPr>
      </p:pic>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
            <a:extLst>
              <a:ext uri="{FF2B5EF4-FFF2-40B4-BE49-F238E27FC236}">
                <a16:creationId xmlns:a16="http://schemas.microsoft.com/office/drawing/2014/main" id="{0D52B31F-9977-4DF3-8863-1C849B2B4CFB}"/>
              </a:ext>
            </a:extLst>
          </p:cNvPr>
          <p:cNvSpPr/>
          <p:nvPr/>
        </p:nvSpPr>
        <p:spPr>
          <a:xfrm>
            <a:off x="0" y="0"/>
            <a:ext cx="12192000" cy="6858000"/>
          </a:xfrm>
          <a:prstGeom prst="rect">
            <a:avLst/>
          </a:prstGeom>
          <a:solidFill>
            <a:srgbClr val="FEF5E7"/>
          </a:solidFill>
          <a:ln/>
        </p:spPr>
      </p:sp>
      <p:sp>
        <p:nvSpPr>
          <p:cNvPr id="3" name="TextBox 3"/>
          <p:cNvSpPr txBox="1"/>
          <p:nvPr/>
        </p:nvSpPr>
        <p:spPr>
          <a:xfrm>
            <a:off x="457200" y="279400"/>
            <a:ext cx="5537199" cy="474489"/>
          </a:xfrm>
          <a:prstGeom prst="rect">
            <a:avLst/>
          </a:prstGeom>
        </p:spPr>
        <p:txBody>
          <a:bodyPr wrap="square" lIns="0" tIns="0" rIns="0" bIns="0" rtlCol="0" anchor="t">
            <a:spAutoFit/>
          </a:bodyPr>
          <a:lstStyle/>
          <a:p>
            <a:pPr>
              <a:lnSpc>
                <a:spcPts val="3683"/>
              </a:lnSpc>
            </a:pPr>
            <a:r>
              <a:rPr lang="en-US" sz="3200" spc="-88" dirty="0">
                <a:solidFill>
                  <a:srgbClr val="38512F"/>
                </a:solidFill>
                <a:latin typeface="Times New Roman" panose="02020603050405020304" pitchFamily="18" charset="0"/>
                <a:cs typeface="Times New Roman" panose="02020603050405020304" pitchFamily="18" charset="0"/>
              </a:rPr>
              <a:t>Analysis and Design Framework</a:t>
            </a:r>
          </a:p>
        </p:txBody>
      </p:sp>
      <p:sp>
        <p:nvSpPr>
          <p:cNvPr id="4" name="TextBox 4"/>
          <p:cNvSpPr txBox="1"/>
          <p:nvPr/>
        </p:nvSpPr>
        <p:spPr>
          <a:xfrm>
            <a:off x="249852" y="1154785"/>
            <a:ext cx="6053754" cy="4308872"/>
          </a:xfrm>
          <a:prstGeom prst="rect">
            <a:avLst/>
          </a:prstGeom>
        </p:spPr>
        <p:txBody>
          <a:bodyPr wrap="square" lIns="0" tIns="0" rIns="0" bIns="0" rtlCol="0" anchor="t">
            <a:spAutoFit/>
          </a:bodyPr>
          <a:lstStyle/>
          <a:p>
            <a:pPr marL="345457" lvl="1" indent="-172729"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Preliminary Assessment and Data Preparation</a:t>
            </a:r>
            <a:r>
              <a:rPr lang="en-US" sz="2000" dirty="0">
                <a:solidFill>
                  <a:srgbClr val="38512F"/>
                </a:solidFill>
                <a:latin typeface="Times New Roman" panose="02020603050405020304" pitchFamily="18" charset="0"/>
                <a:cs typeface="Times New Roman" panose="02020603050405020304" pitchFamily="18" charset="0"/>
              </a:rPr>
              <a:t>: The process commences with assessment analysis and data preparation.</a:t>
            </a:r>
          </a:p>
          <a:p>
            <a:pPr marL="345457" lvl="1" indent="-172729"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Feature Extraction using CNN</a:t>
            </a:r>
            <a:r>
              <a:rPr lang="en-US" sz="2000" dirty="0">
                <a:solidFill>
                  <a:srgbClr val="38512F"/>
                </a:solidFill>
                <a:latin typeface="Times New Roman" panose="02020603050405020304" pitchFamily="18" charset="0"/>
                <a:cs typeface="Times New Roman" panose="02020603050405020304" pitchFamily="18" charset="0"/>
              </a:rPr>
              <a:t>: Pre-processed image data is fed into a CNN to extract features.</a:t>
            </a:r>
          </a:p>
          <a:p>
            <a:pPr marL="345457" lvl="1" indent="-172729"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Dynamic Modelling using HMM</a:t>
            </a:r>
            <a:r>
              <a:rPr lang="en-US" sz="2000" dirty="0">
                <a:solidFill>
                  <a:srgbClr val="38512F"/>
                </a:solidFill>
                <a:latin typeface="Times New Roman" panose="02020603050405020304" pitchFamily="18" charset="0"/>
                <a:cs typeface="Times New Roman" panose="02020603050405020304" pitchFamily="18" charset="0"/>
              </a:rPr>
              <a:t>: Emotions are modelled as time-series using a Hidden Markov Model.</a:t>
            </a:r>
          </a:p>
          <a:p>
            <a:pPr marL="345457" lvl="1" indent="-172729"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Feature Combination and Classification</a:t>
            </a:r>
            <a:r>
              <a:rPr lang="en-US" sz="2000" dirty="0">
                <a:solidFill>
                  <a:srgbClr val="38512F"/>
                </a:solidFill>
                <a:latin typeface="Times New Roman" panose="02020603050405020304" pitchFamily="18" charset="0"/>
                <a:cs typeface="Times New Roman" panose="02020603050405020304" pitchFamily="18" charset="0"/>
              </a:rPr>
              <a:t>: Extracted features and dynamic modelling are combined for the classification of emotions into two categories such as happiness, and sadness.</a:t>
            </a:r>
          </a:p>
          <a:p>
            <a:pPr marL="345457" lvl="1" indent="-172729" algn="just">
              <a:buFont typeface="Arial"/>
              <a:buChar char="•"/>
            </a:pPr>
            <a:r>
              <a:rPr lang="en-US" sz="2000" b="1" dirty="0">
                <a:solidFill>
                  <a:srgbClr val="38512F"/>
                </a:solidFill>
                <a:latin typeface="Times New Roman" panose="02020603050405020304" pitchFamily="18" charset="0"/>
                <a:cs typeface="Times New Roman" panose="02020603050405020304" pitchFamily="18" charset="0"/>
              </a:rPr>
              <a:t>Result</a:t>
            </a:r>
            <a:r>
              <a:rPr lang="en-US" sz="2000" dirty="0">
                <a:solidFill>
                  <a:srgbClr val="38512F"/>
                </a:solidFill>
                <a:latin typeface="Times New Roman" panose="02020603050405020304" pitchFamily="18" charset="0"/>
                <a:cs typeface="Times New Roman" panose="02020603050405020304" pitchFamily="18" charset="0"/>
              </a:rPr>
              <a:t>: The system identifies and classifies emotions and could be useful in human-computer interaction and emotional intelligence analysis.</a:t>
            </a:r>
          </a:p>
        </p:txBody>
      </p:sp>
      <p:pic>
        <p:nvPicPr>
          <p:cNvPr id="5" name="Picture 4">
            <a:extLst>
              <a:ext uri="{FF2B5EF4-FFF2-40B4-BE49-F238E27FC236}">
                <a16:creationId xmlns:a16="http://schemas.microsoft.com/office/drawing/2014/main" id="{38738633-AF0A-4D8D-AFB1-41A6A4CE01AB}"/>
              </a:ext>
            </a:extLst>
          </p:cNvPr>
          <p:cNvPicPr/>
          <p:nvPr/>
        </p:nvPicPr>
        <p:blipFill>
          <a:blip r:embed="rId2">
            <a:extLst>
              <a:ext uri="{28A0092B-C50C-407E-A947-70E740481C1C}">
                <a14:useLocalDpi xmlns:a14="http://schemas.microsoft.com/office/drawing/2010/main" val="0"/>
              </a:ext>
            </a:extLst>
          </a:blip>
          <a:stretch>
            <a:fillRect/>
          </a:stretch>
        </p:blipFill>
        <p:spPr>
          <a:xfrm>
            <a:off x="6565900" y="789142"/>
            <a:ext cx="5363806" cy="5040158"/>
          </a:xfrm>
          <a:prstGeom prst="rect">
            <a:avLst/>
          </a:prstGeom>
        </p:spPr>
      </p:pic>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1">
            <a:extLst>
              <a:ext uri="{FF2B5EF4-FFF2-40B4-BE49-F238E27FC236}">
                <a16:creationId xmlns:a16="http://schemas.microsoft.com/office/drawing/2014/main" id="{1A0177A3-F195-4AD3-BE0C-7082732A2A59}"/>
              </a:ext>
            </a:extLst>
          </p:cNvPr>
          <p:cNvSpPr/>
          <p:nvPr/>
        </p:nvSpPr>
        <p:spPr>
          <a:xfrm>
            <a:off x="0" y="0"/>
            <a:ext cx="12192000" cy="6858000"/>
          </a:xfrm>
          <a:prstGeom prst="rect">
            <a:avLst/>
          </a:prstGeom>
          <a:solidFill>
            <a:srgbClr val="FEF5E7"/>
          </a:solidFill>
          <a:ln/>
        </p:spPr>
      </p:sp>
      <p:sp>
        <p:nvSpPr>
          <p:cNvPr id="19" name="Rectangle: Rounded Corners 18">
            <a:extLst>
              <a:ext uri="{FF2B5EF4-FFF2-40B4-BE49-F238E27FC236}">
                <a16:creationId xmlns:a16="http://schemas.microsoft.com/office/drawing/2014/main" id="{A52849D9-49B0-4546-B5A6-3E4FD126B4C8}"/>
              </a:ext>
            </a:extLst>
          </p:cNvPr>
          <p:cNvSpPr/>
          <p:nvPr/>
        </p:nvSpPr>
        <p:spPr>
          <a:xfrm>
            <a:off x="6303924" y="3259122"/>
            <a:ext cx="5578865" cy="2133600"/>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sz="1867">
              <a:solidFill>
                <a:srgbClr val="38512F"/>
              </a:solidFill>
              <a:latin typeface="Times New Roman" panose="02020603050405020304" pitchFamily="18" charset="0"/>
              <a:cs typeface="Times New Roman" panose="02020603050405020304" pitchFamily="18" charset="0"/>
            </a:endParaRPr>
          </a:p>
        </p:txBody>
      </p:sp>
      <p:sp>
        <p:nvSpPr>
          <p:cNvPr id="2" name="TextBox 3">
            <a:extLst>
              <a:ext uri="{FF2B5EF4-FFF2-40B4-BE49-F238E27FC236}">
                <a16:creationId xmlns:a16="http://schemas.microsoft.com/office/drawing/2014/main" id="{F95964B6-0C01-468F-8728-CF4B10BF8C64}"/>
              </a:ext>
            </a:extLst>
          </p:cNvPr>
          <p:cNvSpPr txBox="1"/>
          <p:nvPr/>
        </p:nvSpPr>
        <p:spPr>
          <a:xfrm>
            <a:off x="349364" y="487206"/>
            <a:ext cx="5611276" cy="436081"/>
          </a:xfrm>
          <a:prstGeom prst="rect">
            <a:avLst/>
          </a:prstGeom>
        </p:spPr>
        <p:txBody>
          <a:bodyPr wrap="square" lIns="0" tIns="0" rIns="0" bIns="0" rtlCol="0" anchor="t">
            <a:spAutoFit/>
          </a:bodyPr>
          <a:lstStyle/>
          <a:p>
            <a:pPr>
              <a:lnSpc>
                <a:spcPts val="3683"/>
              </a:lnSpc>
            </a:pPr>
            <a:r>
              <a:rPr lang="en-US" sz="2667" spc="-88" dirty="0">
                <a:solidFill>
                  <a:srgbClr val="38512F"/>
                </a:solidFill>
                <a:latin typeface="Times New Roman" panose="02020603050405020304" pitchFamily="18" charset="0"/>
                <a:cs typeface="Times New Roman" panose="02020603050405020304" pitchFamily="18" charset="0"/>
              </a:rPr>
              <a:t>Development Model</a:t>
            </a:r>
          </a:p>
        </p:txBody>
      </p:sp>
      <p:pic>
        <p:nvPicPr>
          <p:cNvPr id="3" name="Picture 2">
            <a:extLst>
              <a:ext uri="{FF2B5EF4-FFF2-40B4-BE49-F238E27FC236}">
                <a16:creationId xmlns:a16="http://schemas.microsoft.com/office/drawing/2014/main" id="{1D9F25BF-899C-45A8-ABB2-782968E3810B}"/>
              </a:ext>
            </a:extLst>
          </p:cNvPr>
          <p:cNvPicPr/>
          <p:nvPr/>
        </p:nvPicPr>
        <p:blipFill rotWithShape="1">
          <a:blip r:embed="rId2" cstate="print">
            <a:extLst>
              <a:ext uri="{28A0092B-C50C-407E-A947-70E740481C1C}">
                <a14:useLocalDpi xmlns:a14="http://schemas.microsoft.com/office/drawing/2010/main" val="0"/>
              </a:ext>
            </a:extLst>
          </a:blip>
          <a:srcRect t="17261" b="14841"/>
          <a:stretch/>
        </p:blipFill>
        <p:spPr bwMode="auto">
          <a:xfrm>
            <a:off x="6135373" y="336452"/>
            <a:ext cx="5915967" cy="2829401"/>
          </a:xfrm>
          <a:prstGeom prst="rect">
            <a:avLst/>
          </a:prstGeom>
          <a:ln>
            <a:noFill/>
          </a:ln>
          <a:extLst>
            <a:ext uri="{53640926-AAD7-44D8-BBD7-CCE9431645EC}">
              <a14:shadowObscured xmlns:a14="http://schemas.microsoft.com/office/drawing/2010/main"/>
            </a:ext>
          </a:extLst>
        </p:spPr>
      </p:pic>
      <p:sp>
        <p:nvSpPr>
          <p:cNvPr id="4" name="TextBox 4">
            <a:extLst>
              <a:ext uri="{FF2B5EF4-FFF2-40B4-BE49-F238E27FC236}">
                <a16:creationId xmlns:a16="http://schemas.microsoft.com/office/drawing/2014/main" id="{31E7DFF5-3F90-4336-B1D8-755304BA8A01}"/>
              </a:ext>
            </a:extLst>
          </p:cNvPr>
          <p:cNvSpPr txBox="1"/>
          <p:nvPr/>
        </p:nvSpPr>
        <p:spPr>
          <a:xfrm>
            <a:off x="367391" y="1035177"/>
            <a:ext cx="2791985" cy="379463"/>
          </a:xfrm>
          <a:prstGeom prst="rect">
            <a:avLst/>
          </a:prstGeom>
        </p:spPr>
        <p:txBody>
          <a:bodyPr wrap="square" lIns="0" tIns="0" rIns="0" bIns="0" rtlCol="0" anchor="t">
            <a:spAutoFit/>
          </a:bodyPr>
          <a:lstStyle/>
          <a:p>
            <a:pPr algn="just">
              <a:lnSpc>
                <a:spcPct val="150000"/>
              </a:lnSpc>
            </a:pPr>
            <a:r>
              <a:rPr lang="en-GB" sz="1867" b="1" dirty="0">
                <a:solidFill>
                  <a:srgbClr val="38512F"/>
                </a:solidFill>
                <a:latin typeface="Times New Roman" panose="02020603050405020304" pitchFamily="18" charset="0"/>
                <a:cs typeface="Times New Roman" panose="02020603050405020304" pitchFamily="18" charset="0"/>
              </a:rPr>
              <a:t>KANBAN</a:t>
            </a:r>
            <a:endParaRPr lang="en-GB" sz="1867" dirty="0">
              <a:solidFill>
                <a:srgbClr val="38512F"/>
              </a:solidFill>
              <a:latin typeface="Times New Roman" panose="02020603050405020304" pitchFamily="18" charset="0"/>
              <a:cs typeface="Times New Roman" panose="02020603050405020304" pitchFamily="18" charset="0"/>
            </a:endParaRPr>
          </a:p>
        </p:txBody>
      </p:sp>
      <p:sp>
        <p:nvSpPr>
          <p:cNvPr id="6" name="TextBox 4">
            <a:extLst>
              <a:ext uri="{FF2B5EF4-FFF2-40B4-BE49-F238E27FC236}">
                <a16:creationId xmlns:a16="http://schemas.microsoft.com/office/drawing/2014/main" id="{61E23B5D-54E0-43CE-A3C9-F3FBBA49CF68}"/>
              </a:ext>
            </a:extLst>
          </p:cNvPr>
          <p:cNvSpPr txBox="1"/>
          <p:nvPr/>
        </p:nvSpPr>
        <p:spPr>
          <a:xfrm>
            <a:off x="367391" y="1476409"/>
            <a:ext cx="4925585" cy="379463"/>
          </a:xfrm>
          <a:prstGeom prst="rect">
            <a:avLst/>
          </a:prstGeom>
        </p:spPr>
        <p:txBody>
          <a:bodyPr wrap="square" lIns="0" tIns="0" rIns="0" bIns="0" rtlCol="0" anchor="t">
            <a:spAutoFit/>
          </a:bodyPr>
          <a:lstStyle/>
          <a:p>
            <a:pPr marL="228611" indent="-228611" algn="just">
              <a:lnSpc>
                <a:spcPct val="150000"/>
              </a:lnSpc>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Flexible and adaptable to individual pace.</a:t>
            </a:r>
          </a:p>
        </p:txBody>
      </p:sp>
      <p:sp>
        <p:nvSpPr>
          <p:cNvPr id="7" name="TextBox 4">
            <a:extLst>
              <a:ext uri="{FF2B5EF4-FFF2-40B4-BE49-F238E27FC236}">
                <a16:creationId xmlns:a16="http://schemas.microsoft.com/office/drawing/2014/main" id="{208C5134-8512-4B57-AC18-8B3D01D9EBA7}"/>
              </a:ext>
            </a:extLst>
          </p:cNvPr>
          <p:cNvSpPr txBox="1"/>
          <p:nvPr/>
        </p:nvSpPr>
        <p:spPr>
          <a:xfrm>
            <a:off x="349364" y="1809279"/>
            <a:ext cx="5900111" cy="379463"/>
          </a:xfrm>
          <a:prstGeom prst="rect">
            <a:avLst/>
          </a:prstGeom>
        </p:spPr>
        <p:txBody>
          <a:bodyPr wrap="square" lIns="0" tIns="0" rIns="0" bIns="0" rtlCol="0" anchor="t">
            <a:spAutoFit/>
          </a:bodyPr>
          <a:lstStyle/>
          <a:p>
            <a:pPr marL="228611" indent="-228611" algn="just">
              <a:lnSpc>
                <a:spcPct val="150000"/>
              </a:lnSpc>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Effective in continuous-flow environments like research.</a:t>
            </a:r>
          </a:p>
        </p:txBody>
      </p:sp>
      <p:sp>
        <p:nvSpPr>
          <p:cNvPr id="8" name="TextBox 4">
            <a:extLst>
              <a:ext uri="{FF2B5EF4-FFF2-40B4-BE49-F238E27FC236}">
                <a16:creationId xmlns:a16="http://schemas.microsoft.com/office/drawing/2014/main" id="{E7D1E392-FB44-4C64-BF85-FCF9D608B970}"/>
              </a:ext>
            </a:extLst>
          </p:cNvPr>
          <p:cNvSpPr txBox="1"/>
          <p:nvPr/>
        </p:nvSpPr>
        <p:spPr>
          <a:xfrm>
            <a:off x="370667" y="2134368"/>
            <a:ext cx="5900111" cy="379463"/>
          </a:xfrm>
          <a:prstGeom prst="rect">
            <a:avLst/>
          </a:prstGeom>
        </p:spPr>
        <p:txBody>
          <a:bodyPr wrap="square" lIns="0" tIns="0" rIns="0" bIns="0" rtlCol="0" anchor="t">
            <a:spAutoFit/>
          </a:bodyPr>
          <a:lstStyle/>
          <a:p>
            <a:pPr marL="228611" indent="-228611" algn="just">
              <a:lnSpc>
                <a:spcPct val="150000"/>
              </a:lnSpc>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Promotes self-organization, reflection, and focus.</a:t>
            </a:r>
          </a:p>
        </p:txBody>
      </p:sp>
      <p:sp>
        <p:nvSpPr>
          <p:cNvPr id="9" name="TextBox 4">
            <a:extLst>
              <a:ext uri="{FF2B5EF4-FFF2-40B4-BE49-F238E27FC236}">
                <a16:creationId xmlns:a16="http://schemas.microsoft.com/office/drawing/2014/main" id="{70A868F6-7A11-45D8-8403-998166664EF5}"/>
              </a:ext>
            </a:extLst>
          </p:cNvPr>
          <p:cNvSpPr txBox="1"/>
          <p:nvPr/>
        </p:nvSpPr>
        <p:spPr>
          <a:xfrm>
            <a:off x="367391" y="2459457"/>
            <a:ext cx="5882084" cy="379463"/>
          </a:xfrm>
          <a:prstGeom prst="rect">
            <a:avLst/>
          </a:prstGeom>
        </p:spPr>
        <p:txBody>
          <a:bodyPr wrap="square" lIns="0" tIns="0" rIns="0" bIns="0" rtlCol="0" anchor="t">
            <a:spAutoFit/>
          </a:bodyPr>
          <a:lstStyle/>
          <a:p>
            <a:pPr marL="228611" indent="-228611" algn="just">
              <a:lnSpc>
                <a:spcPct val="150000"/>
              </a:lnSpc>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Provides project visibility and low-cost implementation.</a:t>
            </a:r>
          </a:p>
        </p:txBody>
      </p:sp>
      <p:sp>
        <p:nvSpPr>
          <p:cNvPr id="10" name="TextBox 4">
            <a:extLst>
              <a:ext uri="{FF2B5EF4-FFF2-40B4-BE49-F238E27FC236}">
                <a16:creationId xmlns:a16="http://schemas.microsoft.com/office/drawing/2014/main" id="{620478FF-1EE6-4D0C-8F01-52CEF632CF80}"/>
              </a:ext>
            </a:extLst>
          </p:cNvPr>
          <p:cNvSpPr txBox="1"/>
          <p:nvPr/>
        </p:nvSpPr>
        <p:spPr>
          <a:xfrm>
            <a:off x="349364" y="3206683"/>
            <a:ext cx="5882084" cy="379463"/>
          </a:xfrm>
          <a:prstGeom prst="rect">
            <a:avLst/>
          </a:prstGeom>
        </p:spPr>
        <p:txBody>
          <a:bodyPr wrap="square" lIns="0" tIns="0" rIns="0" bIns="0" rtlCol="0" anchor="t">
            <a:spAutoFit/>
          </a:bodyPr>
          <a:lstStyle/>
          <a:p>
            <a:pPr algn="just">
              <a:lnSpc>
                <a:spcPct val="150000"/>
              </a:lnSpc>
            </a:pPr>
            <a:r>
              <a:rPr lang="en-GB" sz="1867" b="1" dirty="0">
                <a:solidFill>
                  <a:srgbClr val="38512F"/>
                </a:solidFill>
                <a:latin typeface="Times New Roman" panose="02020603050405020304" pitchFamily="18" charset="0"/>
                <a:cs typeface="Times New Roman" panose="02020603050405020304" pitchFamily="18" charset="0"/>
              </a:rPr>
              <a:t>KANBAN for Research Management</a:t>
            </a:r>
            <a:endParaRPr lang="en-GB" sz="1867" dirty="0">
              <a:solidFill>
                <a:srgbClr val="38512F"/>
              </a:solidFill>
              <a:latin typeface="Times New Roman" panose="02020603050405020304" pitchFamily="18" charset="0"/>
              <a:cs typeface="Times New Roman" panose="02020603050405020304" pitchFamily="18" charset="0"/>
            </a:endParaRPr>
          </a:p>
        </p:txBody>
      </p:sp>
      <p:sp>
        <p:nvSpPr>
          <p:cNvPr id="11" name="TextBox 4">
            <a:extLst>
              <a:ext uri="{FF2B5EF4-FFF2-40B4-BE49-F238E27FC236}">
                <a16:creationId xmlns:a16="http://schemas.microsoft.com/office/drawing/2014/main" id="{391FB084-A084-402C-AA5D-AF5C7C672EF1}"/>
              </a:ext>
            </a:extLst>
          </p:cNvPr>
          <p:cNvSpPr txBox="1"/>
          <p:nvPr/>
        </p:nvSpPr>
        <p:spPr>
          <a:xfrm>
            <a:off x="327593" y="3647730"/>
            <a:ext cx="5882084" cy="287323"/>
          </a:xfrm>
          <a:prstGeom prst="rect">
            <a:avLst/>
          </a:prstGeom>
        </p:spPr>
        <p:txBody>
          <a:bodyPr wrap="square" lIns="0" tIns="0" rIns="0" bIns="0" rtlCol="0" anchor="t">
            <a:spAutoFit/>
          </a:bodyPr>
          <a:lstStyle/>
          <a:p>
            <a:pPr marL="228611" indent="-228611" algn="just">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Visualizes tasks and progress in a structured way.</a:t>
            </a:r>
          </a:p>
        </p:txBody>
      </p:sp>
      <p:sp>
        <p:nvSpPr>
          <p:cNvPr id="12" name="TextBox 4">
            <a:extLst>
              <a:ext uri="{FF2B5EF4-FFF2-40B4-BE49-F238E27FC236}">
                <a16:creationId xmlns:a16="http://schemas.microsoft.com/office/drawing/2014/main" id="{0C26CA43-E5B1-4988-AA0A-E517218151B6}"/>
              </a:ext>
            </a:extLst>
          </p:cNvPr>
          <p:cNvSpPr txBox="1"/>
          <p:nvPr/>
        </p:nvSpPr>
        <p:spPr>
          <a:xfrm>
            <a:off x="323200" y="3966276"/>
            <a:ext cx="5882084" cy="287323"/>
          </a:xfrm>
          <a:prstGeom prst="rect">
            <a:avLst/>
          </a:prstGeom>
        </p:spPr>
        <p:txBody>
          <a:bodyPr wrap="square" lIns="0" tIns="0" rIns="0" bIns="0" rtlCol="0" anchor="t">
            <a:spAutoFit/>
          </a:bodyPr>
          <a:lstStyle/>
          <a:p>
            <a:pPr marL="228611" indent="-228611" algn="just">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Breaks down projects into manageable units.</a:t>
            </a:r>
          </a:p>
        </p:txBody>
      </p:sp>
      <p:sp>
        <p:nvSpPr>
          <p:cNvPr id="13" name="TextBox 4">
            <a:extLst>
              <a:ext uri="{FF2B5EF4-FFF2-40B4-BE49-F238E27FC236}">
                <a16:creationId xmlns:a16="http://schemas.microsoft.com/office/drawing/2014/main" id="{C0D2B29B-1D61-484A-B874-594AF3F5A51C}"/>
              </a:ext>
            </a:extLst>
          </p:cNvPr>
          <p:cNvSpPr txBox="1"/>
          <p:nvPr/>
        </p:nvSpPr>
        <p:spPr>
          <a:xfrm>
            <a:off x="338853" y="4284822"/>
            <a:ext cx="5882084" cy="287323"/>
          </a:xfrm>
          <a:prstGeom prst="rect">
            <a:avLst/>
          </a:prstGeom>
        </p:spPr>
        <p:txBody>
          <a:bodyPr wrap="square" lIns="0" tIns="0" rIns="0" bIns="0" rtlCol="0" anchor="t">
            <a:spAutoFit/>
          </a:bodyPr>
          <a:lstStyle/>
          <a:p>
            <a:pPr marL="228611" indent="-228611" algn="just">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Allows for custom columns to fit research needs.</a:t>
            </a:r>
          </a:p>
        </p:txBody>
      </p:sp>
      <p:sp>
        <p:nvSpPr>
          <p:cNvPr id="16" name="TextBox 4">
            <a:extLst>
              <a:ext uri="{FF2B5EF4-FFF2-40B4-BE49-F238E27FC236}">
                <a16:creationId xmlns:a16="http://schemas.microsoft.com/office/drawing/2014/main" id="{9552DC62-6EA1-4E73-9903-57E2B74F3B44}"/>
              </a:ext>
            </a:extLst>
          </p:cNvPr>
          <p:cNvSpPr txBox="1"/>
          <p:nvPr/>
        </p:nvSpPr>
        <p:spPr>
          <a:xfrm>
            <a:off x="6753902" y="3460485"/>
            <a:ext cx="4678910" cy="574644"/>
          </a:xfrm>
          <a:prstGeom prst="rect">
            <a:avLst/>
          </a:prstGeom>
        </p:spPr>
        <p:txBody>
          <a:bodyPr wrap="square" lIns="0" tIns="0" rIns="0" bIns="0" rtlCol="0" anchor="t">
            <a:spAutoFit/>
          </a:bodyPr>
          <a:lstStyle/>
          <a:p>
            <a:pPr algn="just"/>
            <a:r>
              <a:rPr lang="en-GB" sz="1867" b="1" dirty="0">
                <a:solidFill>
                  <a:srgbClr val="38512F"/>
                </a:solidFill>
                <a:latin typeface="Times New Roman" panose="02020603050405020304" pitchFamily="18" charset="0"/>
                <a:cs typeface="Times New Roman" panose="02020603050405020304" pitchFamily="18" charset="0"/>
              </a:rPr>
              <a:t>To Do:</a:t>
            </a:r>
            <a:r>
              <a:rPr lang="en-GB" sz="1867" dirty="0">
                <a:solidFill>
                  <a:srgbClr val="38512F"/>
                </a:solidFill>
                <a:latin typeface="Times New Roman" panose="02020603050405020304" pitchFamily="18" charset="0"/>
                <a:cs typeface="Times New Roman" panose="02020603050405020304" pitchFamily="18" charset="0"/>
              </a:rPr>
              <a:t> Holds all tasks and requirements for planning and prioritization.</a:t>
            </a:r>
          </a:p>
        </p:txBody>
      </p:sp>
      <p:sp>
        <p:nvSpPr>
          <p:cNvPr id="17" name="TextBox 4">
            <a:extLst>
              <a:ext uri="{FF2B5EF4-FFF2-40B4-BE49-F238E27FC236}">
                <a16:creationId xmlns:a16="http://schemas.microsoft.com/office/drawing/2014/main" id="{48A71CDB-F19B-451E-B9CA-A37F85D52C2A}"/>
              </a:ext>
            </a:extLst>
          </p:cNvPr>
          <p:cNvSpPr txBox="1"/>
          <p:nvPr/>
        </p:nvSpPr>
        <p:spPr>
          <a:xfrm>
            <a:off x="6755654" y="4038600"/>
            <a:ext cx="4678910" cy="574644"/>
          </a:xfrm>
          <a:prstGeom prst="rect">
            <a:avLst/>
          </a:prstGeom>
        </p:spPr>
        <p:txBody>
          <a:bodyPr wrap="square" lIns="0" tIns="0" rIns="0" bIns="0" rtlCol="0" anchor="t">
            <a:spAutoFit/>
          </a:bodyPr>
          <a:lstStyle/>
          <a:p>
            <a:pPr algn="just"/>
            <a:r>
              <a:rPr lang="en-GB" sz="1867" b="1" dirty="0">
                <a:solidFill>
                  <a:srgbClr val="38512F"/>
                </a:solidFill>
                <a:latin typeface="Times New Roman" panose="02020603050405020304" pitchFamily="18" charset="0"/>
                <a:cs typeface="Times New Roman" panose="02020603050405020304" pitchFamily="18" charset="0"/>
              </a:rPr>
              <a:t>In Progress:</a:t>
            </a:r>
            <a:r>
              <a:rPr lang="en-GB" sz="1867" dirty="0">
                <a:solidFill>
                  <a:srgbClr val="38512F"/>
                </a:solidFill>
                <a:latin typeface="Times New Roman" panose="02020603050405020304" pitchFamily="18" charset="0"/>
                <a:cs typeface="Times New Roman" panose="02020603050405020304" pitchFamily="18" charset="0"/>
              </a:rPr>
              <a:t> Tracks actively worked-on tasks and revisions.</a:t>
            </a:r>
          </a:p>
        </p:txBody>
      </p:sp>
      <p:sp>
        <p:nvSpPr>
          <p:cNvPr id="18" name="TextBox 4">
            <a:extLst>
              <a:ext uri="{FF2B5EF4-FFF2-40B4-BE49-F238E27FC236}">
                <a16:creationId xmlns:a16="http://schemas.microsoft.com/office/drawing/2014/main" id="{B91A85B0-E608-472C-8E0B-9964A84889C1}"/>
              </a:ext>
            </a:extLst>
          </p:cNvPr>
          <p:cNvSpPr txBox="1"/>
          <p:nvPr/>
        </p:nvSpPr>
        <p:spPr>
          <a:xfrm>
            <a:off x="6753902" y="4616715"/>
            <a:ext cx="4678910" cy="574644"/>
          </a:xfrm>
          <a:prstGeom prst="rect">
            <a:avLst/>
          </a:prstGeom>
        </p:spPr>
        <p:txBody>
          <a:bodyPr wrap="square" lIns="0" tIns="0" rIns="0" bIns="0" rtlCol="0" anchor="t">
            <a:spAutoFit/>
          </a:bodyPr>
          <a:lstStyle/>
          <a:p>
            <a:pPr algn="just"/>
            <a:r>
              <a:rPr lang="en-GB" sz="1867" b="1" dirty="0">
                <a:solidFill>
                  <a:srgbClr val="38512F"/>
                </a:solidFill>
                <a:latin typeface="Times New Roman" panose="02020603050405020304" pitchFamily="18" charset="0"/>
                <a:cs typeface="Times New Roman" panose="02020603050405020304" pitchFamily="18" charset="0"/>
              </a:rPr>
              <a:t>Done:</a:t>
            </a:r>
            <a:r>
              <a:rPr lang="en-GB" sz="1867" dirty="0">
                <a:solidFill>
                  <a:srgbClr val="38512F"/>
                </a:solidFill>
                <a:latin typeface="Times New Roman" panose="02020603050405020304" pitchFamily="18" charset="0"/>
                <a:cs typeface="Times New Roman" panose="02020603050405020304" pitchFamily="18" charset="0"/>
              </a:rPr>
              <a:t> Provides a sense of accomplishment and displays completed milestones.</a:t>
            </a:r>
          </a:p>
        </p:txBody>
      </p:sp>
      <p:sp>
        <p:nvSpPr>
          <p:cNvPr id="20" name="TextBox 4">
            <a:extLst>
              <a:ext uri="{FF2B5EF4-FFF2-40B4-BE49-F238E27FC236}">
                <a16:creationId xmlns:a16="http://schemas.microsoft.com/office/drawing/2014/main" id="{0E183805-992F-4748-B61D-6835EC952C27}"/>
              </a:ext>
            </a:extLst>
          </p:cNvPr>
          <p:cNvSpPr txBox="1"/>
          <p:nvPr/>
        </p:nvSpPr>
        <p:spPr>
          <a:xfrm>
            <a:off x="338853" y="4857372"/>
            <a:ext cx="5882084" cy="379463"/>
          </a:xfrm>
          <a:prstGeom prst="rect">
            <a:avLst/>
          </a:prstGeom>
        </p:spPr>
        <p:txBody>
          <a:bodyPr wrap="square" lIns="0" tIns="0" rIns="0" bIns="0" rtlCol="0" anchor="t">
            <a:spAutoFit/>
          </a:bodyPr>
          <a:lstStyle/>
          <a:p>
            <a:pPr algn="just">
              <a:lnSpc>
                <a:spcPct val="150000"/>
              </a:lnSpc>
            </a:pPr>
            <a:r>
              <a:rPr lang="en-GB" sz="1867" b="1" dirty="0">
                <a:solidFill>
                  <a:srgbClr val="38512F"/>
                </a:solidFill>
                <a:latin typeface="Times New Roman" panose="02020603050405020304" pitchFamily="18" charset="0"/>
                <a:cs typeface="Times New Roman" panose="02020603050405020304" pitchFamily="18" charset="0"/>
              </a:rPr>
              <a:t>Benefits for Solo Researcher</a:t>
            </a:r>
            <a:endParaRPr lang="en-GB" sz="1867" dirty="0">
              <a:solidFill>
                <a:srgbClr val="38512F"/>
              </a:solidFill>
              <a:latin typeface="Times New Roman" panose="02020603050405020304" pitchFamily="18" charset="0"/>
              <a:cs typeface="Times New Roman" panose="02020603050405020304" pitchFamily="18" charset="0"/>
            </a:endParaRPr>
          </a:p>
        </p:txBody>
      </p:sp>
      <p:sp>
        <p:nvSpPr>
          <p:cNvPr id="21" name="TextBox 4">
            <a:extLst>
              <a:ext uri="{FF2B5EF4-FFF2-40B4-BE49-F238E27FC236}">
                <a16:creationId xmlns:a16="http://schemas.microsoft.com/office/drawing/2014/main" id="{02EC35BE-ED9B-4C91-865D-A15097837A67}"/>
              </a:ext>
            </a:extLst>
          </p:cNvPr>
          <p:cNvSpPr txBox="1"/>
          <p:nvPr/>
        </p:nvSpPr>
        <p:spPr>
          <a:xfrm>
            <a:off x="309211" y="5258481"/>
            <a:ext cx="5882084" cy="287323"/>
          </a:xfrm>
          <a:prstGeom prst="rect">
            <a:avLst/>
          </a:prstGeom>
        </p:spPr>
        <p:txBody>
          <a:bodyPr wrap="square" lIns="0" tIns="0" rIns="0" bIns="0" rtlCol="0" anchor="t">
            <a:spAutoFit/>
          </a:bodyPr>
          <a:lstStyle/>
          <a:p>
            <a:pPr marL="228611" indent="-228611" algn="just">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Easy progress tracking and bottleneck identification.</a:t>
            </a:r>
          </a:p>
        </p:txBody>
      </p:sp>
      <p:sp>
        <p:nvSpPr>
          <p:cNvPr id="22" name="TextBox 4">
            <a:extLst>
              <a:ext uri="{FF2B5EF4-FFF2-40B4-BE49-F238E27FC236}">
                <a16:creationId xmlns:a16="http://schemas.microsoft.com/office/drawing/2014/main" id="{9F50B5FE-02EA-4C29-9C77-DE5A6EFB6757}"/>
              </a:ext>
            </a:extLst>
          </p:cNvPr>
          <p:cNvSpPr txBox="1"/>
          <p:nvPr/>
        </p:nvSpPr>
        <p:spPr>
          <a:xfrm>
            <a:off x="309211" y="5548900"/>
            <a:ext cx="6444691" cy="287323"/>
          </a:xfrm>
          <a:prstGeom prst="rect">
            <a:avLst/>
          </a:prstGeom>
        </p:spPr>
        <p:txBody>
          <a:bodyPr wrap="square" lIns="0" tIns="0" rIns="0" bIns="0" rtlCol="0" anchor="t">
            <a:spAutoFit/>
          </a:bodyPr>
          <a:lstStyle/>
          <a:p>
            <a:pPr marL="228611" indent="-228611" algn="just">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Informed decision-making throughout the research lifecycle.</a:t>
            </a:r>
          </a:p>
        </p:txBody>
      </p:sp>
      <p:sp>
        <p:nvSpPr>
          <p:cNvPr id="24" name="TextBox 4">
            <a:extLst>
              <a:ext uri="{FF2B5EF4-FFF2-40B4-BE49-F238E27FC236}">
                <a16:creationId xmlns:a16="http://schemas.microsoft.com/office/drawing/2014/main" id="{6E1D3A72-CC8C-40DF-9E71-5582BBE9C0D7}"/>
              </a:ext>
            </a:extLst>
          </p:cNvPr>
          <p:cNvSpPr txBox="1"/>
          <p:nvPr/>
        </p:nvSpPr>
        <p:spPr>
          <a:xfrm>
            <a:off x="309211" y="5839320"/>
            <a:ext cx="5882084" cy="287323"/>
          </a:xfrm>
          <a:prstGeom prst="rect">
            <a:avLst/>
          </a:prstGeom>
        </p:spPr>
        <p:txBody>
          <a:bodyPr wrap="square" lIns="0" tIns="0" rIns="0" bIns="0" rtlCol="0" anchor="t">
            <a:spAutoFit/>
          </a:bodyPr>
          <a:lstStyle/>
          <a:p>
            <a:pPr marL="228611" indent="-228611" algn="just">
              <a:buFont typeface="Arial" panose="020B0604020202020204" pitchFamily="34" charset="0"/>
              <a:buChar char="•"/>
            </a:pPr>
            <a:r>
              <a:rPr lang="en-GB" sz="1867" dirty="0">
                <a:solidFill>
                  <a:srgbClr val="38512F"/>
                </a:solidFill>
                <a:latin typeface="Times New Roman" panose="02020603050405020304" pitchFamily="18" charset="0"/>
                <a:cs typeface="Times New Roman" panose="02020603050405020304" pitchFamily="18" charset="0"/>
              </a:rPr>
              <a:t>Enhanced productivity and structured project approach.</a:t>
            </a:r>
          </a:p>
        </p:txBody>
      </p:sp>
    </p:spTree>
    <p:extLst>
      <p:ext uri="{BB962C8B-B14F-4D97-AF65-F5344CB8AC3E}">
        <p14:creationId xmlns:p14="http://schemas.microsoft.com/office/powerpoint/2010/main" val="349154166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
            <a:extLst>
              <a:ext uri="{FF2B5EF4-FFF2-40B4-BE49-F238E27FC236}">
                <a16:creationId xmlns:a16="http://schemas.microsoft.com/office/drawing/2014/main" id="{F9C9EBAC-0542-4F97-A14A-4EF0DCA3B7D6}"/>
              </a:ext>
            </a:extLst>
          </p:cNvPr>
          <p:cNvSpPr/>
          <p:nvPr/>
        </p:nvSpPr>
        <p:spPr>
          <a:xfrm>
            <a:off x="0" y="0"/>
            <a:ext cx="12192000" cy="6858000"/>
          </a:xfrm>
          <a:prstGeom prst="rect">
            <a:avLst/>
          </a:prstGeom>
          <a:solidFill>
            <a:srgbClr val="FEF5E7"/>
          </a:solidFill>
          <a:ln/>
        </p:spPr>
      </p:sp>
      <p:sp>
        <p:nvSpPr>
          <p:cNvPr id="3" name="TextBox 3"/>
          <p:cNvSpPr txBox="1"/>
          <p:nvPr/>
        </p:nvSpPr>
        <p:spPr>
          <a:xfrm>
            <a:off x="304909" y="330200"/>
            <a:ext cx="5611276" cy="436081"/>
          </a:xfrm>
          <a:prstGeom prst="rect">
            <a:avLst/>
          </a:prstGeom>
        </p:spPr>
        <p:txBody>
          <a:bodyPr lIns="0" tIns="0" rIns="0" bIns="0" rtlCol="0" anchor="t">
            <a:spAutoFit/>
          </a:bodyPr>
          <a:lstStyle/>
          <a:p>
            <a:pPr>
              <a:lnSpc>
                <a:spcPts val="3683"/>
              </a:lnSpc>
            </a:pPr>
            <a:r>
              <a:rPr lang="en-US" sz="2667" spc="-88" dirty="0">
                <a:solidFill>
                  <a:srgbClr val="38512F"/>
                </a:solidFill>
                <a:latin typeface="Times New Roman" panose="02020603050405020304" pitchFamily="18" charset="0"/>
                <a:cs typeface="Times New Roman" panose="02020603050405020304" pitchFamily="18" charset="0"/>
              </a:rPr>
              <a:t>Development Approach Framework</a:t>
            </a:r>
          </a:p>
        </p:txBody>
      </p:sp>
      <p:sp>
        <p:nvSpPr>
          <p:cNvPr id="4" name="TextBox 4"/>
          <p:cNvSpPr txBox="1"/>
          <p:nvPr/>
        </p:nvSpPr>
        <p:spPr>
          <a:xfrm>
            <a:off x="304910" y="998263"/>
            <a:ext cx="6820286" cy="5262979"/>
          </a:xfrm>
          <a:prstGeom prst="rect">
            <a:avLst/>
          </a:prstGeom>
        </p:spPr>
        <p:txBody>
          <a:bodyPr wrap="square" lIns="0" tIns="0" rIns="0" bIns="0" rtlCol="0" anchor="t">
            <a:spAutoFit/>
          </a:bodyPr>
          <a:lstStyle/>
          <a:p>
            <a:pPr marL="345457" lvl="1" indent="-172729" algn="just">
              <a:buFont typeface="Arial"/>
              <a:buChar char="•"/>
            </a:pPr>
            <a:r>
              <a:rPr lang="en-US" sz="1900" b="1" dirty="0">
                <a:solidFill>
                  <a:srgbClr val="38512F"/>
                </a:solidFill>
                <a:latin typeface="Times New Roman" panose="02020603050405020304" pitchFamily="18" charset="0"/>
                <a:cs typeface="Times New Roman" panose="02020603050405020304" pitchFamily="18" charset="0"/>
              </a:rPr>
              <a:t>Data Collection</a:t>
            </a:r>
            <a:r>
              <a:rPr lang="en-US" sz="1900" dirty="0">
                <a:solidFill>
                  <a:srgbClr val="38512F"/>
                </a:solidFill>
                <a:latin typeface="Times New Roman" panose="02020603050405020304" pitchFamily="18" charset="0"/>
                <a:cs typeface="Times New Roman" panose="02020603050405020304" pitchFamily="18" charset="0"/>
              </a:rPr>
              <a:t>: Handwriting samples are gathered with the annotation of self-reported emotions and controlled emotion induction experiments.</a:t>
            </a:r>
          </a:p>
          <a:p>
            <a:pPr marL="172728" lvl="1" algn="just"/>
            <a:endParaRPr lang="en-US" sz="1900" dirty="0">
              <a:solidFill>
                <a:srgbClr val="38512F"/>
              </a:solidFill>
              <a:latin typeface="Times New Roman" panose="02020603050405020304" pitchFamily="18" charset="0"/>
              <a:cs typeface="Times New Roman" panose="02020603050405020304" pitchFamily="18" charset="0"/>
            </a:endParaRPr>
          </a:p>
          <a:p>
            <a:pPr marL="345457" lvl="1" indent="-172729" algn="just">
              <a:buFont typeface="Arial"/>
              <a:buChar char="•"/>
            </a:pPr>
            <a:r>
              <a:rPr lang="en-US" sz="1900" b="1" dirty="0">
                <a:solidFill>
                  <a:srgbClr val="38512F"/>
                </a:solidFill>
                <a:latin typeface="Times New Roman" panose="02020603050405020304" pitchFamily="18" charset="0"/>
                <a:cs typeface="Times New Roman" panose="02020603050405020304" pitchFamily="18" charset="0"/>
              </a:rPr>
              <a:t>Data Pre-processing</a:t>
            </a:r>
            <a:r>
              <a:rPr lang="en-US" sz="1900" dirty="0">
                <a:solidFill>
                  <a:srgbClr val="38512F"/>
                </a:solidFill>
                <a:latin typeface="Times New Roman" panose="02020603050405020304" pitchFamily="18" charset="0"/>
                <a:cs typeface="Times New Roman" panose="02020603050405020304" pitchFamily="18" charset="0"/>
              </a:rPr>
              <a:t>: Raw data is pre-processed using image processing techniques to help in feature extraction.</a:t>
            </a:r>
          </a:p>
          <a:p>
            <a:pPr marL="345457" lvl="1" indent="-172729" algn="just">
              <a:buFont typeface="Arial"/>
              <a:buChar char="•"/>
            </a:pPr>
            <a:endParaRPr lang="en-US" sz="1900" b="1" dirty="0">
              <a:solidFill>
                <a:srgbClr val="38512F"/>
              </a:solidFill>
              <a:latin typeface="Times New Roman" panose="02020603050405020304" pitchFamily="18" charset="0"/>
              <a:cs typeface="Times New Roman" panose="02020603050405020304" pitchFamily="18" charset="0"/>
            </a:endParaRPr>
          </a:p>
          <a:p>
            <a:pPr marL="345457" lvl="1" indent="-172729" algn="just">
              <a:buFont typeface="Arial"/>
              <a:buChar char="•"/>
            </a:pPr>
            <a:r>
              <a:rPr lang="en-US" sz="1900" b="1" dirty="0">
                <a:solidFill>
                  <a:srgbClr val="38512F"/>
                </a:solidFill>
                <a:latin typeface="Times New Roman" panose="02020603050405020304" pitchFamily="18" charset="0"/>
                <a:cs typeface="Times New Roman" panose="02020603050405020304" pitchFamily="18" charset="0"/>
              </a:rPr>
              <a:t>Feature Extraction</a:t>
            </a:r>
            <a:r>
              <a:rPr lang="en-US" sz="1900" dirty="0">
                <a:solidFill>
                  <a:srgbClr val="38512F"/>
                </a:solidFill>
                <a:latin typeface="Times New Roman" panose="02020603050405020304" pitchFamily="18" charset="0"/>
                <a:cs typeface="Times New Roman" panose="02020603050405020304" pitchFamily="18" charset="0"/>
              </a:rPr>
              <a:t>: Macro-level (slant, spacing), micro-level (letterforms, strokes) and hybrid features are extracted from pre-processed data along with self-reported emotions or induced emotions.</a:t>
            </a:r>
          </a:p>
          <a:p>
            <a:pPr marL="345457" lvl="1" indent="-172729" algn="just">
              <a:buFont typeface="Arial"/>
              <a:buChar char="•"/>
            </a:pPr>
            <a:endParaRPr lang="en-US" sz="1900" b="1" dirty="0">
              <a:solidFill>
                <a:srgbClr val="38512F"/>
              </a:solidFill>
              <a:latin typeface="Times New Roman" panose="02020603050405020304" pitchFamily="18" charset="0"/>
              <a:cs typeface="Times New Roman" panose="02020603050405020304" pitchFamily="18" charset="0"/>
            </a:endParaRPr>
          </a:p>
          <a:p>
            <a:pPr marL="345457" lvl="1" indent="-172729" algn="just">
              <a:buFont typeface="Arial"/>
              <a:buChar char="•"/>
            </a:pPr>
            <a:r>
              <a:rPr lang="en-US" sz="1900" b="1" dirty="0">
                <a:solidFill>
                  <a:srgbClr val="38512F"/>
                </a:solidFill>
                <a:latin typeface="Times New Roman" panose="02020603050405020304" pitchFamily="18" charset="0"/>
                <a:cs typeface="Times New Roman" panose="02020603050405020304" pitchFamily="18" charset="0"/>
              </a:rPr>
              <a:t>Feature Training and Testing</a:t>
            </a:r>
            <a:r>
              <a:rPr lang="en-US" sz="1900" dirty="0">
                <a:solidFill>
                  <a:srgbClr val="38512F"/>
                </a:solidFill>
                <a:latin typeface="Times New Roman" panose="02020603050405020304" pitchFamily="18" charset="0"/>
                <a:cs typeface="Times New Roman" panose="02020603050405020304" pitchFamily="18" charset="0"/>
              </a:rPr>
              <a:t>: Features are fed into a CNN-HMM model for training and testing to understand the relationship between handwriting characteristics and emotional states.</a:t>
            </a:r>
          </a:p>
          <a:p>
            <a:pPr marL="345457" lvl="1" indent="-172729" algn="just">
              <a:buFont typeface="Arial"/>
              <a:buChar char="•"/>
            </a:pPr>
            <a:endParaRPr lang="en-US" sz="1900" b="1" dirty="0">
              <a:solidFill>
                <a:srgbClr val="38512F"/>
              </a:solidFill>
              <a:latin typeface="Times New Roman" panose="02020603050405020304" pitchFamily="18" charset="0"/>
              <a:cs typeface="Times New Roman" panose="02020603050405020304" pitchFamily="18" charset="0"/>
            </a:endParaRPr>
          </a:p>
          <a:p>
            <a:pPr marL="345457" lvl="1" indent="-172729" algn="just">
              <a:buFont typeface="Arial"/>
              <a:buChar char="•"/>
            </a:pPr>
            <a:r>
              <a:rPr lang="en-US" sz="1900" b="1" dirty="0">
                <a:solidFill>
                  <a:srgbClr val="38512F"/>
                </a:solidFill>
                <a:latin typeface="Times New Roman" panose="02020603050405020304" pitchFamily="18" charset="0"/>
                <a:cs typeface="Times New Roman" panose="02020603050405020304" pitchFamily="18" charset="0"/>
              </a:rPr>
              <a:t>Emotion Classification</a:t>
            </a:r>
            <a:r>
              <a:rPr lang="en-US" sz="1900" dirty="0">
                <a:solidFill>
                  <a:srgbClr val="38512F"/>
                </a:solidFill>
                <a:latin typeface="Times New Roman" panose="02020603050405020304" pitchFamily="18" charset="0"/>
                <a:cs typeface="Times New Roman" panose="02020603050405020304" pitchFamily="18" charset="0"/>
              </a:rPr>
              <a:t>: The trained model classifies handwriting samples into five categories such as happiness and sadness.</a:t>
            </a:r>
          </a:p>
        </p:txBody>
      </p:sp>
      <p:pic>
        <p:nvPicPr>
          <p:cNvPr id="5" name="Picture 4">
            <a:extLst>
              <a:ext uri="{FF2B5EF4-FFF2-40B4-BE49-F238E27FC236}">
                <a16:creationId xmlns:a16="http://schemas.microsoft.com/office/drawing/2014/main" id="{E09FBB94-AD6B-45C5-9EDF-8F18498BCC6E}"/>
              </a:ext>
            </a:extLst>
          </p:cNvPr>
          <p:cNvPicPr/>
          <p:nvPr/>
        </p:nvPicPr>
        <p:blipFill>
          <a:blip r:embed="rId2">
            <a:extLst>
              <a:ext uri="{28A0092B-C50C-407E-A947-70E740481C1C}">
                <a14:useLocalDpi xmlns:a14="http://schemas.microsoft.com/office/drawing/2010/main" val="0"/>
              </a:ext>
            </a:extLst>
          </a:blip>
          <a:stretch>
            <a:fillRect/>
          </a:stretch>
        </p:blipFill>
        <p:spPr>
          <a:xfrm>
            <a:off x="7543800" y="134257"/>
            <a:ext cx="3962400" cy="6589486"/>
          </a:xfrm>
          <a:prstGeom prst="rect">
            <a:avLst/>
          </a:prstGeom>
        </p:spPr>
      </p:pic>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32385"/>
            <a:ext cx="12192000" cy="6860282"/>
          </a:xfrm>
          <a:prstGeom prst="rect">
            <a:avLst/>
          </a:prstGeom>
          <a:solidFill>
            <a:srgbClr val="FEF5E7"/>
          </a:solidFill>
          <a:ln/>
        </p:spPr>
      </p:sp>
      <p:sp>
        <p:nvSpPr>
          <p:cNvPr id="4" name="Text 2"/>
          <p:cNvSpPr/>
          <p:nvPr/>
        </p:nvSpPr>
        <p:spPr>
          <a:xfrm>
            <a:off x="543521" y="339547"/>
            <a:ext cx="6149082" cy="573782"/>
          </a:xfrm>
          <a:prstGeom prst="rect">
            <a:avLst/>
          </a:prstGeom>
          <a:noFill/>
          <a:ln/>
        </p:spPr>
        <p:txBody>
          <a:bodyPr wrap="none" rtlCol="0" anchor="t"/>
          <a:lstStyle/>
          <a:p>
            <a:pPr>
              <a:lnSpc>
                <a:spcPts val="4518"/>
              </a:lnSpc>
            </a:pPr>
            <a:r>
              <a:rPr lang="en-US" sz="3615" dirty="0">
                <a:solidFill>
                  <a:srgbClr val="38512F"/>
                </a:solidFill>
                <a:latin typeface="Times New Roman" panose="02020603050405020304" pitchFamily="18" charset="0"/>
                <a:ea typeface="Lora" pitchFamily="34" charset="-122"/>
                <a:cs typeface="Times New Roman" panose="02020603050405020304" pitchFamily="18" charset="0"/>
              </a:rPr>
              <a:t>Software Development Tools</a:t>
            </a:r>
            <a:endParaRPr lang="en-US" sz="3615" dirty="0">
              <a:latin typeface="Times New Roman" panose="02020603050405020304" pitchFamily="18" charset="0"/>
              <a:cs typeface="Times New Roman" panose="02020603050405020304" pitchFamily="18" charset="0"/>
            </a:endParaRPr>
          </a:p>
        </p:txBody>
      </p:sp>
      <p:sp>
        <p:nvSpPr>
          <p:cNvPr id="6" name="Text 4"/>
          <p:cNvSpPr/>
          <p:nvPr/>
        </p:nvSpPr>
        <p:spPr>
          <a:xfrm>
            <a:off x="1087375" y="1365548"/>
            <a:ext cx="2886819" cy="286941"/>
          </a:xfrm>
          <a:prstGeom prst="rect">
            <a:avLst/>
          </a:prstGeom>
          <a:noFill/>
          <a:ln/>
        </p:spPr>
        <p:txBody>
          <a:bodyPr wrap="none" rtlCol="0" anchor="t"/>
          <a:lstStyle/>
          <a:p>
            <a:pPr>
              <a:lnSpc>
                <a:spcPts val="2259"/>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Web Browsing</a:t>
            </a:r>
            <a:endParaRPr lang="en-US" sz="2400" dirty="0">
              <a:latin typeface="Times New Roman" panose="02020603050405020304" pitchFamily="18" charset="0"/>
              <a:cs typeface="Times New Roman" panose="02020603050405020304" pitchFamily="18" charset="0"/>
            </a:endParaRPr>
          </a:p>
        </p:txBody>
      </p:sp>
      <p:sp>
        <p:nvSpPr>
          <p:cNvPr id="7" name="Text 5"/>
          <p:cNvSpPr/>
          <p:nvPr/>
        </p:nvSpPr>
        <p:spPr>
          <a:xfrm>
            <a:off x="1087377" y="1762621"/>
            <a:ext cx="4412020" cy="1175147"/>
          </a:xfrm>
          <a:prstGeom prst="rect">
            <a:avLst/>
          </a:prstGeom>
          <a:noFill/>
          <a:ln/>
        </p:spPr>
        <p:txBody>
          <a:bodyPr wrap="square" rtlCol="0" anchor="t"/>
          <a:lstStyle/>
          <a:p>
            <a:pPr algn="just">
              <a:lnSpc>
                <a:spcPts val="2313"/>
              </a:lnSpc>
            </a:pP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Using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Google Chrome</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 as primary web browser for research, testing, and accessing online resources during the development process.</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692603" y="1365548"/>
            <a:ext cx="3724476" cy="286941"/>
          </a:xfrm>
          <a:prstGeom prst="rect">
            <a:avLst/>
          </a:prstGeom>
          <a:noFill/>
          <a:ln/>
        </p:spPr>
        <p:txBody>
          <a:bodyPr wrap="none" rtlCol="0" anchor="t"/>
          <a:lstStyle/>
          <a:p>
            <a:pPr>
              <a:lnSpc>
                <a:spcPts val="2259"/>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Coding and Version Control</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6692603" y="1762621"/>
            <a:ext cx="4412021" cy="1468933"/>
          </a:xfrm>
          <a:prstGeom prst="rect">
            <a:avLst/>
          </a:prstGeom>
          <a:noFill/>
          <a:ln/>
        </p:spPr>
        <p:txBody>
          <a:bodyPr wrap="square" rtlCol="0" anchor="t"/>
          <a:lstStyle/>
          <a:p>
            <a:pPr algn="just">
              <a:lnSpc>
                <a:spcPts val="2313"/>
              </a:lnSpc>
            </a:pP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For coding, using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Visual Studio Code </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for utilizing a powerful and versatile code editor. Also using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GitHub</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 for version control, allowing us to collaborate effectively and track changes throughout the project.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1087376" y="3621682"/>
            <a:ext cx="4412023" cy="573882"/>
          </a:xfrm>
          <a:prstGeom prst="rect">
            <a:avLst/>
          </a:prstGeom>
          <a:noFill/>
          <a:ln/>
        </p:spPr>
        <p:txBody>
          <a:bodyPr wrap="square" rtlCol="0" anchor="t"/>
          <a:lstStyle/>
          <a:p>
            <a:pPr>
              <a:lnSpc>
                <a:spcPts val="2259"/>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Machine Learning and Image Processing</a:t>
            </a:r>
            <a:endParaRPr lang="en-US" sz="2400" dirty="0">
              <a:latin typeface="Times New Roman" panose="02020603050405020304" pitchFamily="18" charset="0"/>
              <a:cs typeface="Times New Roman" panose="02020603050405020304" pitchFamily="18" charset="0"/>
            </a:endParaRPr>
          </a:p>
        </p:txBody>
      </p:sp>
      <p:sp>
        <p:nvSpPr>
          <p:cNvPr id="13" name="Text 11"/>
          <p:cNvSpPr/>
          <p:nvPr/>
        </p:nvSpPr>
        <p:spPr>
          <a:xfrm>
            <a:off x="1087376" y="4305697"/>
            <a:ext cx="4412023" cy="1762720"/>
          </a:xfrm>
          <a:prstGeom prst="rect">
            <a:avLst/>
          </a:prstGeom>
          <a:noFill/>
          <a:ln/>
        </p:spPr>
        <p:txBody>
          <a:bodyPr wrap="square" rtlCol="0" anchor="t"/>
          <a:lstStyle/>
          <a:p>
            <a:pPr algn="just">
              <a:lnSpc>
                <a:spcPts val="2313"/>
              </a:lnSpc>
            </a:pP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To support our machine learning and deep learning efforts, I'll be leveraging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TensorFlow</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 Additionally, I'll be using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OpenCV</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 for image processing tasks. These tools will be crucial for the computer vision aspects of the project.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692603" y="3621682"/>
            <a:ext cx="4412021" cy="573882"/>
          </a:xfrm>
          <a:prstGeom prst="rect">
            <a:avLst/>
          </a:prstGeom>
          <a:noFill/>
          <a:ln/>
        </p:spPr>
        <p:txBody>
          <a:bodyPr wrap="square" rtlCol="0" anchor="t"/>
          <a:lstStyle/>
          <a:p>
            <a:pPr>
              <a:lnSpc>
                <a:spcPts val="2259"/>
              </a:lnSpc>
            </a:pPr>
            <a:r>
              <a:rPr lang="en-US" sz="2400" dirty="0">
                <a:solidFill>
                  <a:srgbClr val="38512F"/>
                </a:solidFill>
                <a:latin typeface="Times New Roman" panose="02020603050405020304" pitchFamily="18" charset="0"/>
                <a:ea typeface="Lora" pitchFamily="34" charset="-122"/>
                <a:cs typeface="Times New Roman" panose="02020603050405020304" pitchFamily="18" charset="0"/>
              </a:rPr>
              <a:t>Python Development and Machine Learning</a:t>
            </a:r>
            <a:endParaRPr lang="en-US" sz="2400" dirty="0">
              <a:latin typeface="Times New Roman" panose="02020603050405020304" pitchFamily="18" charset="0"/>
              <a:cs typeface="Times New Roman" panose="02020603050405020304" pitchFamily="18" charset="0"/>
            </a:endParaRPr>
          </a:p>
        </p:txBody>
      </p:sp>
      <p:sp>
        <p:nvSpPr>
          <p:cNvPr id="16" name="Text 14"/>
          <p:cNvSpPr/>
          <p:nvPr/>
        </p:nvSpPr>
        <p:spPr>
          <a:xfrm>
            <a:off x="6692603" y="4305697"/>
            <a:ext cx="4412021" cy="1762720"/>
          </a:xfrm>
          <a:prstGeom prst="rect">
            <a:avLst/>
          </a:prstGeom>
          <a:noFill/>
          <a:ln/>
        </p:spPr>
        <p:txBody>
          <a:bodyPr wrap="square" rtlCol="0" anchor="t"/>
          <a:lstStyle/>
          <a:p>
            <a:pPr algn="just">
              <a:lnSpc>
                <a:spcPts val="2313"/>
              </a:lnSpc>
            </a:pP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For Python programming needs, I'll be using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PyCharm</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 an integrated development environment (IDE) that provides a comprehensive set of tools and features. I'll also be utilizing </a:t>
            </a:r>
            <a:r>
              <a:rPr lang="en-US" b="1" dirty="0">
                <a:solidFill>
                  <a:srgbClr val="3A3630"/>
                </a:solidFill>
                <a:latin typeface="Times New Roman" panose="02020603050405020304" pitchFamily="18" charset="0"/>
                <a:ea typeface="Source Sans Pro" pitchFamily="34" charset="-122"/>
                <a:cs typeface="Times New Roman" panose="02020603050405020304" pitchFamily="18" charset="0"/>
              </a:rPr>
              <a:t>Scikit-learn</a:t>
            </a:r>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 for our machine learning tasks.</a:t>
            </a:r>
            <a:endParaRPr lang="en-US" dirty="0">
              <a:latin typeface="Times New Roman" panose="02020603050405020304" pitchFamily="18" charset="0"/>
              <a:cs typeface="Times New Roman" panose="02020603050405020304" pitchFamily="18" charset="0"/>
            </a:endParaRPr>
          </a:p>
        </p:txBody>
      </p:sp>
      <p:pic>
        <p:nvPicPr>
          <p:cNvPr id="18" name="Image 0" descr="preencoded.png">
            <a:extLst>
              <a:ext uri="{FF2B5EF4-FFF2-40B4-BE49-F238E27FC236}">
                <a16:creationId xmlns:a16="http://schemas.microsoft.com/office/drawing/2014/main" id="{95207437-7433-482A-9288-9EBFCCE7BC9E}"/>
              </a:ext>
            </a:extLst>
          </p:cNvPr>
          <p:cNvPicPr>
            <a:picLocks noChangeAspect="1"/>
          </p:cNvPicPr>
          <p:nvPr/>
        </p:nvPicPr>
        <p:blipFill>
          <a:blip r:embed="rId3"/>
          <a:stretch>
            <a:fillRect/>
          </a:stretch>
        </p:blipFill>
        <p:spPr>
          <a:xfrm>
            <a:off x="624519" y="1277590"/>
            <a:ext cx="462856" cy="462856"/>
          </a:xfrm>
          <a:prstGeom prst="rect">
            <a:avLst/>
          </a:prstGeom>
        </p:spPr>
      </p:pic>
      <p:pic>
        <p:nvPicPr>
          <p:cNvPr id="19" name="Image 1" descr="preencoded.png">
            <a:extLst>
              <a:ext uri="{FF2B5EF4-FFF2-40B4-BE49-F238E27FC236}">
                <a16:creationId xmlns:a16="http://schemas.microsoft.com/office/drawing/2014/main" id="{AF3EAD77-DF20-4896-8E97-EB88CA64B703}"/>
              </a:ext>
            </a:extLst>
          </p:cNvPr>
          <p:cNvPicPr>
            <a:picLocks noChangeAspect="1"/>
          </p:cNvPicPr>
          <p:nvPr/>
        </p:nvPicPr>
        <p:blipFill>
          <a:blip r:embed="rId4"/>
          <a:stretch>
            <a:fillRect/>
          </a:stretch>
        </p:blipFill>
        <p:spPr>
          <a:xfrm>
            <a:off x="6229747" y="3571645"/>
            <a:ext cx="462856" cy="462856"/>
          </a:xfrm>
          <a:prstGeom prst="rect">
            <a:avLst/>
          </a:prstGeom>
        </p:spPr>
      </p:pic>
      <p:pic>
        <p:nvPicPr>
          <p:cNvPr id="20" name="Image 2" descr="preencoded.png">
            <a:extLst>
              <a:ext uri="{FF2B5EF4-FFF2-40B4-BE49-F238E27FC236}">
                <a16:creationId xmlns:a16="http://schemas.microsoft.com/office/drawing/2014/main" id="{1153A260-FDE0-4891-96BE-40AF01A5FF6E}"/>
              </a:ext>
            </a:extLst>
          </p:cNvPr>
          <p:cNvPicPr>
            <a:picLocks noChangeAspect="1"/>
          </p:cNvPicPr>
          <p:nvPr/>
        </p:nvPicPr>
        <p:blipFill>
          <a:blip r:embed="rId5"/>
          <a:stretch>
            <a:fillRect/>
          </a:stretch>
        </p:blipFill>
        <p:spPr>
          <a:xfrm>
            <a:off x="624519" y="3545980"/>
            <a:ext cx="462856" cy="462856"/>
          </a:xfrm>
          <a:prstGeom prst="rect">
            <a:avLst/>
          </a:prstGeom>
        </p:spPr>
      </p:pic>
      <p:pic>
        <p:nvPicPr>
          <p:cNvPr id="21" name="Image 3" descr="preencoded.png">
            <a:extLst>
              <a:ext uri="{FF2B5EF4-FFF2-40B4-BE49-F238E27FC236}">
                <a16:creationId xmlns:a16="http://schemas.microsoft.com/office/drawing/2014/main" id="{603C7EB5-E371-40CB-BFD4-38ABA5B6B441}"/>
              </a:ext>
            </a:extLst>
          </p:cNvPr>
          <p:cNvPicPr>
            <a:picLocks noChangeAspect="1"/>
          </p:cNvPicPr>
          <p:nvPr/>
        </p:nvPicPr>
        <p:blipFill>
          <a:blip r:embed="rId6"/>
          <a:stretch>
            <a:fillRect/>
          </a:stretch>
        </p:blipFill>
        <p:spPr>
          <a:xfrm>
            <a:off x="6229747" y="1277590"/>
            <a:ext cx="462856" cy="462856"/>
          </a:xfrm>
          <a:prstGeom prst="rect">
            <a:avLst/>
          </a:prstGeom>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sp>
        <p:nvSpPr>
          <p:cNvPr id="5" name="Text 2"/>
          <p:cNvSpPr/>
          <p:nvPr/>
        </p:nvSpPr>
        <p:spPr>
          <a:xfrm>
            <a:off x="694333" y="195510"/>
            <a:ext cx="4629150" cy="578644"/>
          </a:xfrm>
          <a:prstGeom prst="rect">
            <a:avLst/>
          </a:prstGeom>
          <a:noFill/>
          <a:ln/>
        </p:spPr>
        <p:txBody>
          <a:bodyPr wrap="none" rtlCol="0" anchor="t"/>
          <a:lstStyle/>
          <a:p>
            <a:pPr>
              <a:lnSpc>
                <a:spcPts val="4556"/>
              </a:lnSpc>
            </a:pPr>
            <a:r>
              <a:rPr lang="en-US" sz="3645" dirty="0">
                <a:solidFill>
                  <a:srgbClr val="38512F"/>
                </a:solidFill>
                <a:latin typeface="Times New Roman" panose="02020603050405020304" pitchFamily="18" charset="0"/>
                <a:ea typeface="Lora" pitchFamily="34" charset="-122"/>
                <a:cs typeface="Times New Roman" panose="02020603050405020304" pitchFamily="18" charset="0"/>
              </a:rPr>
              <a:t>Project Management</a:t>
            </a:r>
            <a:endParaRPr lang="en-US" sz="3645" dirty="0">
              <a:latin typeface="Times New Roman" panose="02020603050405020304" pitchFamily="18" charset="0"/>
              <a:cs typeface="Times New Roman" panose="02020603050405020304" pitchFamily="18" charset="0"/>
            </a:endParaRPr>
          </a:p>
        </p:txBody>
      </p:sp>
      <p:pic>
        <p:nvPicPr>
          <p:cNvPr id="6" name="Image 1" descr="preencoded.png"/>
          <p:cNvPicPr>
            <a:picLocks noChangeAspect="1"/>
          </p:cNvPicPr>
          <p:nvPr/>
        </p:nvPicPr>
        <p:blipFill>
          <a:blip r:embed="rId3"/>
          <a:stretch>
            <a:fillRect/>
          </a:stretch>
        </p:blipFill>
        <p:spPr>
          <a:xfrm>
            <a:off x="694333" y="981752"/>
            <a:ext cx="925810" cy="1481237"/>
          </a:xfrm>
          <a:prstGeom prst="rect">
            <a:avLst/>
          </a:prstGeom>
        </p:spPr>
      </p:pic>
      <p:sp>
        <p:nvSpPr>
          <p:cNvPr id="8" name="Text 4"/>
          <p:cNvSpPr/>
          <p:nvPr/>
        </p:nvSpPr>
        <p:spPr>
          <a:xfrm>
            <a:off x="1818687" y="1071366"/>
            <a:ext cx="6551811" cy="296168"/>
          </a:xfrm>
          <a:prstGeom prst="rect">
            <a:avLst/>
          </a:prstGeom>
          <a:noFill/>
          <a:ln/>
        </p:spPr>
        <p:txBody>
          <a:bodyPr wrap="none" rtlCol="0" anchor="t"/>
          <a:lstStyle/>
          <a:p>
            <a:r>
              <a:rPr lang="en-GB" sz="1600" dirty="0">
                <a:latin typeface="Times New Roman" panose="02020603050405020304" pitchFamily="18" charset="0"/>
                <a:cs typeface="Times New Roman" panose="02020603050405020304" pitchFamily="18" charset="0"/>
              </a:rPr>
              <a:t>Gantt Chart of Activities, Second Semester, A.Y. 2023 – 2024</a:t>
            </a:r>
            <a:endParaRPr lang="en-PH" sz="1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5A70B8B-4190-4378-9BF1-AF333C8D9BAC}"/>
              </a:ext>
            </a:extLst>
          </p:cNvPr>
          <p:cNvPicPr/>
          <p:nvPr/>
        </p:nvPicPr>
        <p:blipFill rotWithShape="1">
          <a:blip r:embed="rId4" cstate="print">
            <a:extLst>
              <a:ext uri="{28A0092B-C50C-407E-A947-70E740481C1C}">
                <a14:useLocalDpi xmlns:a14="http://schemas.microsoft.com/office/drawing/2010/main" val="0"/>
              </a:ext>
            </a:extLst>
          </a:blip>
          <a:srcRect r="21161" b="6026"/>
          <a:stretch/>
        </p:blipFill>
        <p:spPr bwMode="auto">
          <a:xfrm>
            <a:off x="1953308" y="1519987"/>
            <a:ext cx="9832291" cy="5155202"/>
          </a:xfrm>
          <a:prstGeom prst="rect">
            <a:avLst/>
          </a:prstGeom>
          <a:noFill/>
          <a:ln>
            <a:noFill/>
          </a:ln>
          <a:extLst>
            <a:ext uri="{53640926-AAD7-44D8-BBD7-CCE9431645EC}">
              <a14:shadowObscured xmlns:a14="http://schemas.microsoft.com/office/drawing/2010/main"/>
            </a:ext>
          </a:extLst>
        </p:spPr>
      </p:pic>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pic>
        <p:nvPicPr>
          <p:cNvPr id="9" name="Image 2" descr="preencoded.png"/>
          <p:cNvPicPr>
            <a:picLocks noChangeAspect="1"/>
          </p:cNvPicPr>
          <p:nvPr/>
        </p:nvPicPr>
        <p:blipFill>
          <a:blip r:embed="rId3"/>
          <a:stretch>
            <a:fillRect/>
          </a:stretch>
        </p:blipFill>
        <p:spPr>
          <a:xfrm>
            <a:off x="578219" y="402729"/>
            <a:ext cx="925810" cy="1481237"/>
          </a:xfrm>
          <a:prstGeom prst="rect">
            <a:avLst/>
          </a:prstGeom>
        </p:spPr>
      </p:pic>
      <p:sp>
        <p:nvSpPr>
          <p:cNvPr id="12" name="Text 4">
            <a:extLst>
              <a:ext uri="{FF2B5EF4-FFF2-40B4-BE49-F238E27FC236}">
                <a16:creationId xmlns:a16="http://schemas.microsoft.com/office/drawing/2014/main" id="{B907CFAD-7C90-488D-9A5B-F0DCCBE183AE}"/>
              </a:ext>
            </a:extLst>
          </p:cNvPr>
          <p:cNvSpPr/>
          <p:nvPr/>
        </p:nvSpPr>
        <p:spPr>
          <a:xfrm>
            <a:off x="1949382" y="517327"/>
            <a:ext cx="6551811" cy="296168"/>
          </a:xfrm>
          <a:prstGeom prst="rect">
            <a:avLst/>
          </a:prstGeom>
          <a:noFill/>
          <a:ln/>
        </p:spPr>
        <p:txBody>
          <a:bodyPr wrap="none" rtlCol="0" anchor="t"/>
          <a:lstStyle/>
          <a:p>
            <a:r>
              <a:rPr lang="en-GB" sz="1600" dirty="0">
                <a:latin typeface="Times New Roman" panose="02020603050405020304" pitchFamily="18" charset="0"/>
                <a:cs typeface="Times New Roman" panose="02020603050405020304" pitchFamily="18" charset="0"/>
              </a:rPr>
              <a:t>Gantt Chart of Activities, Summer Term, A.Y. 2023-2024 and First Semester, A.Y. 2024 – 2025</a:t>
            </a:r>
          </a:p>
        </p:txBody>
      </p:sp>
      <p:pic>
        <p:nvPicPr>
          <p:cNvPr id="13" name="Picture 12">
            <a:extLst>
              <a:ext uri="{FF2B5EF4-FFF2-40B4-BE49-F238E27FC236}">
                <a16:creationId xmlns:a16="http://schemas.microsoft.com/office/drawing/2014/main" id="{990A53BB-ED56-4D95-9A60-EC5259AA3B83}"/>
              </a:ext>
            </a:extLst>
          </p:cNvPr>
          <p:cNvPicPr>
            <a:picLocks noChangeAspect="1"/>
          </p:cNvPicPr>
          <p:nvPr/>
        </p:nvPicPr>
        <p:blipFill>
          <a:blip r:embed="rId4"/>
          <a:stretch>
            <a:fillRect/>
          </a:stretch>
        </p:blipFill>
        <p:spPr>
          <a:xfrm>
            <a:off x="1949382" y="1037387"/>
            <a:ext cx="9910716" cy="5303286"/>
          </a:xfrm>
          <a:prstGeom prst="rect">
            <a:avLst/>
          </a:prstGeom>
        </p:spPr>
      </p:pic>
    </p:spTree>
    <p:extLst>
      <p:ext uri="{BB962C8B-B14F-4D97-AF65-F5344CB8AC3E}">
        <p14:creationId xmlns:p14="http://schemas.microsoft.com/office/powerpoint/2010/main" val="1027419058"/>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sp>
        <p:nvSpPr>
          <p:cNvPr id="5" name="Text 2"/>
          <p:cNvSpPr/>
          <p:nvPr/>
        </p:nvSpPr>
        <p:spPr>
          <a:xfrm>
            <a:off x="694333" y="789276"/>
            <a:ext cx="4629150" cy="578644"/>
          </a:xfrm>
          <a:prstGeom prst="rect">
            <a:avLst/>
          </a:prstGeom>
          <a:noFill/>
          <a:ln/>
        </p:spPr>
        <p:txBody>
          <a:bodyPr wrap="none" rtlCol="0" anchor="t"/>
          <a:lstStyle/>
          <a:p>
            <a:pPr>
              <a:lnSpc>
                <a:spcPts val="4556"/>
              </a:lnSpc>
            </a:pPr>
            <a:r>
              <a:rPr lang="en-US" sz="3645" dirty="0">
                <a:solidFill>
                  <a:srgbClr val="38512F"/>
                </a:solidFill>
                <a:latin typeface="Times New Roman" panose="02020603050405020304" pitchFamily="18" charset="0"/>
                <a:ea typeface="Lora" pitchFamily="34" charset="-122"/>
                <a:cs typeface="Times New Roman" panose="02020603050405020304" pitchFamily="18" charset="0"/>
              </a:rPr>
              <a:t>Budget and Cost Management</a:t>
            </a:r>
            <a:endParaRPr lang="en-US" sz="3645" dirty="0">
              <a:latin typeface="Times New Roman" panose="02020603050405020304" pitchFamily="18" charset="0"/>
              <a:cs typeface="Times New Roman" panose="02020603050405020304" pitchFamily="18" charset="0"/>
            </a:endParaRPr>
          </a:p>
        </p:txBody>
      </p:sp>
      <p:graphicFrame>
        <p:nvGraphicFramePr>
          <p:cNvPr id="4" name="Table 6">
            <a:extLst>
              <a:ext uri="{FF2B5EF4-FFF2-40B4-BE49-F238E27FC236}">
                <a16:creationId xmlns:a16="http://schemas.microsoft.com/office/drawing/2014/main" id="{89729614-88C8-44E2-B0C3-BEA524480FFD}"/>
              </a:ext>
            </a:extLst>
          </p:cNvPr>
          <p:cNvGraphicFramePr>
            <a:graphicFrameLocks noGrp="1"/>
          </p:cNvGraphicFramePr>
          <p:nvPr>
            <p:extLst>
              <p:ext uri="{D42A27DB-BD31-4B8C-83A1-F6EECF244321}">
                <p14:modId xmlns:p14="http://schemas.microsoft.com/office/powerpoint/2010/main" val="2708259903"/>
              </p:ext>
            </p:extLst>
          </p:nvPr>
        </p:nvGraphicFramePr>
        <p:xfrm>
          <a:off x="2032000" y="1657816"/>
          <a:ext cx="8128000" cy="3032760"/>
        </p:xfrm>
        <a:graphic>
          <a:graphicData uri="http://schemas.openxmlformats.org/drawingml/2006/table">
            <a:tbl>
              <a:tblPr firstRow="1" bandRow="1">
                <a:tableStyleId>{69012ECD-51FC-41F1-AA8D-1B2483CD663E}</a:tableStyleId>
              </a:tblPr>
              <a:tblGrid>
                <a:gridCol w="6565735">
                  <a:extLst>
                    <a:ext uri="{9D8B030D-6E8A-4147-A177-3AD203B41FA5}">
                      <a16:colId xmlns:a16="http://schemas.microsoft.com/office/drawing/2014/main" val="1962234000"/>
                    </a:ext>
                  </a:extLst>
                </a:gridCol>
                <a:gridCol w="1562265">
                  <a:extLst>
                    <a:ext uri="{9D8B030D-6E8A-4147-A177-3AD203B41FA5}">
                      <a16:colId xmlns:a16="http://schemas.microsoft.com/office/drawing/2014/main" val="3414933833"/>
                    </a:ext>
                  </a:extLst>
                </a:gridCol>
              </a:tblGrid>
              <a:tr h="370840">
                <a:tc>
                  <a:txBody>
                    <a:bodyPr/>
                    <a:lstStyle/>
                    <a:p>
                      <a:r>
                        <a:rPr lang="en-US" dirty="0">
                          <a:latin typeface="Times New Roman" panose="02020603050405020304" pitchFamily="18" charset="0"/>
                          <a:cs typeface="Times New Roman" panose="02020603050405020304" pitchFamily="18" charset="0"/>
                        </a:rPr>
                        <a:t>Items</a:t>
                      </a:r>
                      <a:endParaRPr lang="en-PH"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r"/>
                      <a:r>
                        <a:rPr lang="en-US" dirty="0">
                          <a:latin typeface="Times New Roman" panose="02020603050405020304" pitchFamily="18" charset="0"/>
                          <a:cs typeface="Times New Roman" panose="02020603050405020304" pitchFamily="18" charset="0"/>
                        </a:rPr>
                        <a:t>Cost</a:t>
                      </a:r>
                      <a:endParaRPr lang="en-PH"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7251609"/>
                  </a:ext>
                </a:extLst>
              </a:tr>
              <a:tr h="370840">
                <a:tc>
                  <a:txBody>
                    <a:bodyPr/>
                    <a:lstStyle/>
                    <a:p>
                      <a:r>
                        <a:rPr lang="en-US" dirty="0">
                          <a:latin typeface="Times New Roman" panose="02020603050405020304" pitchFamily="18" charset="0"/>
                          <a:cs typeface="Times New Roman" panose="02020603050405020304" pitchFamily="18" charset="0"/>
                        </a:rPr>
                        <a:t>Laptop</a:t>
                      </a:r>
                    </a:p>
                    <a:p>
                      <a:r>
                        <a:rPr lang="en-US" dirty="0">
                          <a:latin typeface="Times New Roman" panose="02020603050405020304" pitchFamily="18" charset="0"/>
                          <a:cs typeface="Times New Roman" panose="02020603050405020304" pitchFamily="18" charset="0"/>
                        </a:rPr>
                        <a:t>(LENOVO ideapad 310S)</a:t>
                      </a:r>
                      <a:endParaRPr lang="en-PH"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Times New Roman" panose="02020603050405020304" pitchFamily="18" charset="0"/>
                          <a:cs typeface="Times New Roman" panose="02020603050405020304" pitchFamily="18" charset="0"/>
                        </a:rPr>
                        <a:t>32,000.00</a:t>
                      </a:r>
                      <a:endParaRPr lang="en-PH"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4607961"/>
                  </a:ext>
                </a:extLst>
              </a:tr>
              <a:tr h="370840">
                <a:tc>
                  <a:txBody>
                    <a:bodyPr/>
                    <a:lstStyle/>
                    <a:p>
                      <a:r>
                        <a:rPr lang="en-US" dirty="0">
                          <a:latin typeface="Times New Roman" panose="02020603050405020304" pitchFamily="18" charset="0"/>
                          <a:cs typeface="Times New Roman" panose="02020603050405020304" pitchFamily="18" charset="0"/>
                        </a:rPr>
                        <a:t>Scanner</a:t>
                      </a:r>
                    </a:p>
                    <a:p>
                      <a:r>
                        <a:rPr lang="en-US" dirty="0">
                          <a:latin typeface="Times New Roman" panose="02020603050405020304" pitchFamily="18" charset="0"/>
                          <a:cs typeface="Times New Roman" panose="02020603050405020304" pitchFamily="18" charset="0"/>
                        </a:rPr>
                        <a:t>(CANON Flatbed Scanner LiDE 300)</a:t>
                      </a:r>
                      <a:endParaRPr lang="en-PH"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Times New Roman" panose="02020603050405020304" pitchFamily="18" charset="0"/>
                          <a:cs typeface="Times New Roman" panose="02020603050405020304" pitchFamily="18" charset="0"/>
                        </a:rPr>
                        <a:t>4,000.00</a:t>
                      </a:r>
                      <a:endParaRPr lang="en-PH"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2644655"/>
                  </a:ext>
                </a:extLst>
              </a:tr>
              <a:tr h="370840">
                <a:tc>
                  <a:txBody>
                    <a:bodyPr/>
                    <a:lstStyle/>
                    <a:p>
                      <a:r>
                        <a:rPr lang="en-US" dirty="0">
                          <a:latin typeface="Times New Roman" panose="02020603050405020304" pitchFamily="18" charset="0"/>
                          <a:cs typeface="Times New Roman" panose="02020603050405020304" pitchFamily="18" charset="0"/>
                        </a:rPr>
                        <a:t>Conference Fees (includes the Conference Registration Fee, Airfare, Accommodation, etc.)</a:t>
                      </a:r>
                      <a:endParaRPr lang="en-PH"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Times New Roman" panose="02020603050405020304" pitchFamily="18" charset="0"/>
                          <a:cs typeface="Times New Roman" panose="02020603050405020304" pitchFamily="18" charset="0"/>
                        </a:rPr>
                        <a:t>50,000.00</a:t>
                      </a:r>
                      <a:endParaRPr lang="en-PH"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372074"/>
                  </a:ext>
                </a:extLst>
              </a:tr>
              <a:tr h="370840">
                <a:tc>
                  <a:txBody>
                    <a:bodyPr/>
                    <a:lstStyle/>
                    <a:p>
                      <a:r>
                        <a:rPr lang="en-US" dirty="0">
                          <a:latin typeface="Times New Roman" panose="02020603050405020304" pitchFamily="18" charset="0"/>
                          <a:cs typeface="Times New Roman" panose="02020603050405020304" pitchFamily="18" charset="0"/>
                        </a:rPr>
                        <a:t>Miscellaneous</a:t>
                      </a:r>
                      <a:endParaRPr lang="en-PH"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dirty="0">
                          <a:latin typeface="Times New Roman" panose="02020603050405020304" pitchFamily="18" charset="0"/>
                          <a:cs typeface="Times New Roman" panose="02020603050405020304" pitchFamily="18" charset="0"/>
                        </a:rPr>
                        <a:t>10,000.00</a:t>
                      </a:r>
                      <a:endParaRPr lang="en-PH"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5371694"/>
                  </a:ext>
                </a:extLst>
              </a:tr>
              <a:tr h="370840">
                <a:tc>
                  <a:txBody>
                    <a:bodyPr/>
                    <a:lstStyle/>
                    <a:p>
                      <a:r>
                        <a:rPr lang="en-US" b="1" dirty="0">
                          <a:latin typeface="Times New Roman" panose="02020603050405020304" pitchFamily="18" charset="0"/>
                          <a:cs typeface="Times New Roman" panose="02020603050405020304" pitchFamily="18" charset="0"/>
                        </a:rPr>
                        <a:t>TOTAL</a:t>
                      </a:r>
                      <a:endParaRPr lang="en-PH" b="1" dirty="0">
                        <a:latin typeface="Times New Roman" panose="02020603050405020304" pitchFamily="18" charset="0"/>
                        <a:cs typeface="Times New Roman" panose="02020603050405020304" pitchFamily="18"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a:r>
                        <a:rPr lang="en-US" b="1" dirty="0">
                          <a:latin typeface="Times New Roman" panose="02020603050405020304" pitchFamily="18" charset="0"/>
                          <a:cs typeface="Times New Roman" panose="02020603050405020304" pitchFamily="18" charset="0"/>
                        </a:rPr>
                        <a:t>96,000.00</a:t>
                      </a:r>
                      <a:endParaRPr lang="en-PH"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840378515"/>
                  </a:ext>
                </a:extLst>
              </a:tr>
            </a:tbl>
          </a:graphicData>
        </a:graphic>
      </p:graphicFrame>
      <p:sp>
        <p:nvSpPr>
          <p:cNvPr id="9" name="Text 4">
            <a:extLst>
              <a:ext uri="{FF2B5EF4-FFF2-40B4-BE49-F238E27FC236}">
                <a16:creationId xmlns:a16="http://schemas.microsoft.com/office/drawing/2014/main" id="{FC627BCE-2C57-42B2-9029-8548E5844F24}"/>
              </a:ext>
            </a:extLst>
          </p:cNvPr>
          <p:cNvSpPr/>
          <p:nvPr/>
        </p:nvSpPr>
        <p:spPr>
          <a:xfrm>
            <a:off x="2820094" y="4690576"/>
            <a:ext cx="6551811" cy="296168"/>
          </a:xfrm>
          <a:prstGeom prst="rect">
            <a:avLst/>
          </a:prstGeom>
          <a:noFill/>
          <a:ln/>
        </p:spPr>
        <p:txBody>
          <a:bodyPr wrap="none" rtlCol="0" anchor="t"/>
          <a:lstStyle/>
          <a:p>
            <a:pPr algn="ctr"/>
            <a:r>
              <a:rPr lang="en-GB" sz="1600" dirty="0">
                <a:latin typeface="Times New Roman" panose="02020603050405020304" pitchFamily="18" charset="0"/>
                <a:cs typeface="Times New Roman" panose="02020603050405020304" pitchFamily="18" charset="0"/>
              </a:rPr>
              <a:t>Table of Expenses</a:t>
            </a:r>
          </a:p>
        </p:txBody>
      </p:sp>
    </p:spTree>
    <p:extLst>
      <p:ext uri="{BB962C8B-B14F-4D97-AF65-F5344CB8AC3E}">
        <p14:creationId xmlns:p14="http://schemas.microsoft.com/office/powerpoint/2010/main" val="2539057126"/>
      </p:ext>
    </p:extLst>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pic>
        <p:nvPicPr>
          <p:cNvPr id="4" name="Image 0" descr="preencoded.png"/>
          <p:cNvPicPr>
            <a:picLocks noChangeAspect="1"/>
          </p:cNvPicPr>
          <p:nvPr/>
        </p:nvPicPr>
        <p:blipFill>
          <a:blip r:embed="rId3"/>
          <a:stretch>
            <a:fillRect/>
          </a:stretch>
        </p:blipFill>
        <p:spPr>
          <a:xfrm>
            <a:off x="-6350" y="0"/>
            <a:ext cx="3048000" cy="6858000"/>
          </a:xfrm>
          <a:prstGeom prst="rect">
            <a:avLst/>
          </a:prstGeom>
        </p:spPr>
      </p:pic>
      <p:sp>
        <p:nvSpPr>
          <p:cNvPr id="5" name="Text 2"/>
          <p:cNvSpPr/>
          <p:nvPr/>
        </p:nvSpPr>
        <p:spPr>
          <a:xfrm>
            <a:off x="3713361" y="488851"/>
            <a:ext cx="7328594" cy="554434"/>
          </a:xfrm>
          <a:prstGeom prst="rect">
            <a:avLst/>
          </a:prstGeom>
          <a:noFill/>
          <a:ln/>
        </p:spPr>
        <p:txBody>
          <a:bodyPr wrap="none" rtlCol="0" anchor="t"/>
          <a:lstStyle/>
          <a:p>
            <a:pPr>
              <a:lnSpc>
                <a:spcPts val="4366"/>
              </a:lnSpc>
            </a:pPr>
            <a:r>
              <a:rPr lang="en-US" sz="4000" dirty="0">
                <a:solidFill>
                  <a:srgbClr val="38512F"/>
                </a:solidFill>
                <a:latin typeface="Times New Roman" panose="02020603050405020304" pitchFamily="18" charset="0"/>
                <a:ea typeface="Lora" pitchFamily="34" charset="-122"/>
                <a:cs typeface="Times New Roman" panose="02020603050405020304" pitchFamily="18" charset="0"/>
              </a:rPr>
              <a:t>Verification, Validation, and Testing</a:t>
            </a:r>
            <a:endParaRPr lang="en-US" sz="4000" dirty="0">
              <a:latin typeface="Times New Roman" panose="02020603050405020304" pitchFamily="18" charset="0"/>
              <a:cs typeface="Times New Roman" panose="02020603050405020304" pitchFamily="18" charset="0"/>
            </a:endParaRPr>
          </a:p>
        </p:txBody>
      </p:sp>
      <p:sp>
        <p:nvSpPr>
          <p:cNvPr id="6" name="Shape 3"/>
          <p:cNvSpPr/>
          <p:nvPr/>
        </p:nvSpPr>
        <p:spPr>
          <a:xfrm>
            <a:off x="3710185" y="1231943"/>
            <a:ext cx="3817938" cy="3368616"/>
          </a:xfrm>
          <a:prstGeom prst="roundRect">
            <a:avLst>
              <a:gd name="adj" fmla="val 1769"/>
            </a:avLst>
          </a:prstGeom>
          <a:solidFill>
            <a:srgbClr val="F6E9D5"/>
          </a:solidFill>
          <a:ln/>
        </p:spPr>
      </p:sp>
      <p:sp>
        <p:nvSpPr>
          <p:cNvPr id="7" name="Text 4"/>
          <p:cNvSpPr/>
          <p:nvPr/>
        </p:nvSpPr>
        <p:spPr>
          <a:xfrm>
            <a:off x="3887588" y="1409345"/>
            <a:ext cx="2461915" cy="277317"/>
          </a:xfrm>
          <a:prstGeom prst="rect">
            <a:avLst/>
          </a:prstGeom>
          <a:noFill/>
          <a:ln/>
        </p:spPr>
        <p:txBody>
          <a:bodyPr wrap="none" rtlCol="0" anchor="t"/>
          <a:lstStyle/>
          <a:p>
            <a:pPr>
              <a:lnSpc>
                <a:spcPts val="2183"/>
              </a:lnSpc>
            </a:pPr>
            <a:r>
              <a:rPr lang="en-US" sz="2000" dirty="0">
                <a:solidFill>
                  <a:srgbClr val="38512F"/>
                </a:solidFill>
                <a:latin typeface="Times New Roman" panose="02020603050405020304" pitchFamily="18" charset="0"/>
                <a:ea typeface="Lora" pitchFamily="34" charset="-122"/>
                <a:cs typeface="Times New Roman" panose="02020603050405020304" pitchFamily="18" charset="0"/>
              </a:rPr>
              <a:t>Accuracy and Reliability</a:t>
            </a:r>
            <a:endParaRPr lang="en-US" sz="2000" dirty="0">
              <a:latin typeface="Times New Roman" panose="02020603050405020304" pitchFamily="18" charset="0"/>
              <a:cs typeface="Times New Roman" panose="02020603050405020304" pitchFamily="18" charset="0"/>
            </a:endParaRPr>
          </a:p>
        </p:txBody>
      </p:sp>
      <p:sp>
        <p:nvSpPr>
          <p:cNvPr id="8" name="Text 5"/>
          <p:cNvSpPr/>
          <p:nvPr/>
        </p:nvSpPr>
        <p:spPr>
          <a:xfrm>
            <a:off x="3887588" y="1793123"/>
            <a:ext cx="3463132" cy="2270125"/>
          </a:xfrm>
          <a:prstGeom prst="rect">
            <a:avLst/>
          </a:prstGeom>
          <a:noFill/>
          <a:ln/>
        </p:spPr>
        <p:txBody>
          <a:bodyPr wrap="square" rtlCol="0" anchor="t"/>
          <a:lstStyle/>
          <a:p>
            <a:r>
              <a:rPr lang="en-US" sz="1750" dirty="0">
                <a:solidFill>
                  <a:srgbClr val="3A3630"/>
                </a:solidFill>
                <a:latin typeface="Times New Roman" panose="02020603050405020304" pitchFamily="18" charset="0"/>
                <a:ea typeface="Source Sans Pro" pitchFamily="34" charset="-122"/>
                <a:cs typeface="Times New Roman" panose="02020603050405020304" pitchFamily="18" charset="0"/>
              </a:rPr>
              <a:t>Validating and verifying the system's performance using benchmarks and metrics acknowledged in previous work like EMOTHAW, TEmoDec, and others. Test the emotion classification accuracy on a large dataset of handwriting samples from different demographics, handwriting styles, and emotional states.</a:t>
            </a:r>
            <a:endParaRPr lang="en-US" sz="1750" dirty="0">
              <a:latin typeface="Times New Roman" panose="02020603050405020304" pitchFamily="18" charset="0"/>
              <a:cs typeface="Times New Roman" panose="02020603050405020304" pitchFamily="18" charset="0"/>
            </a:endParaRPr>
          </a:p>
        </p:txBody>
      </p:sp>
      <p:sp>
        <p:nvSpPr>
          <p:cNvPr id="9" name="Shape 6"/>
          <p:cNvSpPr/>
          <p:nvPr/>
        </p:nvSpPr>
        <p:spPr>
          <a:xfrm>
            <a:off x="7705526" y="1231943"/>
            <a:ext cx="3817938" cy="3274966"/>
          </a:xfrm>
          <a:prstGeom prst="roundRect">
            <a:avLst>
              <a:gd name="adj" fmla="val 1769"/>
            </a:avLst>
          </a:prstGeom>
          <a:solidFill>
            <a:srgbClr val="F6E9D5"/>
          </a:solidFill>
          <a:ln/>
        </p:spPr>
      </p:sp>
      <p:sp>
        <p:nvSpPr>
          <p:cNvPr id="10" name="Text 7"/>
          <p:cNvSpPr/>
          <p:nvPr/>
        </p:nvSpPr>
        <p:spPr>
          <a:xfrm>
            <a:off x="7882929" y="1409345"/>
            <a:ext cx="2495253" cy="277317"/>
          </a:xfrm>
          <a:prstGeom prst="rect">
            <a:avLst/>
          </a:prstGeom>
          <a:noFill/>
          <a:ln/>
        </p:spPr>
        <p:txBody>
          <a:bodyPr wrap="none" rtlCol="0" anchor="t"/>
          <a:lstStyle/>
          <a:p>
            <a:pPr>
              <a:lnSpc>
                <a:spcPts val="2183"/>
              </a:lnSpc>
            </a:pPr>
            <a:r>
              <a:rPr lang="en-US" sz="2000" dirty="0">
                <a:solidFill>
                  <a:srgbClr val="38512F"/>
                </a:solidFill>
                <a:latin typeface="Times New Roman" panose="02020603050405020304" pitchFamily="18" charset="0"/>
                <a:ea typeface="Lora" pitchFamily="34" charset="-122"/>
                <a:cs typeface="Times New Roman" panose="02020603050405020304" pitchFamily="18" charset="0"/>
              </a:rPr>
              <a:t>Psychological Validation</a:t>
            </a:r>
            <a:endParaRPr lang="en-US" sz="2000" dirty="0">
              <a:latin typeface="Times New Roman" panose="02020603050405020304" pitchFamily="18" charset="0"/>
              <a:cs typeface="Times New Roman" panose="02020603050405020304" pitchFamily="18" charset="0"/>
            </a:endParaRPr>
          </a:p>
        </p:txBody>
      </p:sp>
      <p:sp>
        <p:nvSpPr>
          <p:cNvPr id="11" name="Text 8"/>
          <p:cNvSpPr/>
          <p:nvPr/>
        </p:nvSpPr>
        <p:spPr>
          <a:xfrm>
            <a:off x="7882929" y="1793123"/>
            <a:ext cx="3463132" cy="1986359"/>
          </a:xfrm>
          <a:prstGeom prst="rect">
            <a:avLst/>
          </a:prstGeom>
          <a:noFill/>
          <a:ln/>
        </p:spPr>
        <p:txBody>
          <a:bodyPr wrap="square" rtlCol="0" anchor="t"/>
          <a:lstStyle/>
          <a:p>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Involving a professional psychologist to validate the psychological underpinnings and real-world applicability of the system. They'll review the emotion induction techniques, self-report measures, and assess the system's performance in recognizing emotions accurately.</a:t>
            </a:r>
            <a:endParaRPr lang="en-US" dirty="0">
              <a:latin typeface="Times New Roman" panose="02020603050405020304" pitchFamily="18" charset="0"/>
              <a:cs typeface="Times New Roman" panose="02020603050405020304" pitchFamily="18" charset="0"/>
            </a:endParaRPr>
          </a:p>
        </p:txBody>
      </p:sp>
      <p:sp>
        <p:nvSpPr>
          <p:cNvPr id="12" name="Shape 9"/>
          <p:cNvSpPr/>
          <p:nvPr/>
        </p:nvSpPr>
        <p:spPr>
          <a:xfrm>
            <a:off x="3710186" y="4707020"/>
            <a:ext cx="7813278" cy="2027411"/>
          </a:xfrm>
          <a:prstGeom prst="roundRect">
            <a:avLst>
              <a:gd name="adj" fmla="val 2841"/>
            </a:avLst>
          </a:prstGeom>
          <a:solidFill>
            <a:srgbClr val="F6E9D5"/>
          </a:solidFill>
          <a:ln/>
        </p:spPr>
      </p:sp>
      <p:sp>
        <p:nvSpPr>
          <p:cNvPr id="13" name="Text 10"/>
          <p:cNvSpPr/>
          <p:nvPr/>
        </p:nvSpPr>
        <p:spPr>
          <a:xfrm>
            <a:off x="3887589" y="4837308"/>
            <a:ext cx="2218035" cy="277317"/>
          </a:xfrm>
          <a:prstGeom prst="rect">
            <a:avLst/>
          </a:prstGeom>
          <a:noFill/>
          <a:ln/>
        </p:spPr>
        <p:txBody>
          <a:bodyPr wrap="none" rtlCol="0" anchor="t"/>
          <a:lstStyle/>
          <a:p>
            <a:pPr>
              <a:lnSpc>
                <a:spcPts val="2183"/>
              </a:lnSpc>
            </a:pPr>
            <a:r>
              <a:rPr lang="en-US" sz="2000" dirty="0">
                <a:solidFill>
                  <a:srgbClr val="38512F"/>
                </a:solidFill>
                <a:latin typeface="Times New Roman" panose="02020603050405020304" pitchFamily="18" charset="0"/>
                <a:ea typeface="Lora" pitchFamily="34" charset="-122"/>
                <a:cs typeface="Times New Roman" panose="02020603050405020304" pitchFamily="18" charset="0"/>
              </a:rPr>
              <a:t>Cross-Validation</a:t>
            </a:r>
            <a:endParaRPr lang="en-US" sz="2000" dirty="0">
              <a:latin typeface="Times New Roman" panose="02020603050405020304" pitchFamily="18" charset="0"/>
              <a:cs typeface="Times New Roman" panose="02020603050405020304" pitchFamily="18" charset="0"/>
            </a:endParaRPr>
          </a:p>
        </p:txBody>
      </p:sp>
      <p:sp>
        <p:nvSpPr>
          <p:cNvPr id="14" name="Text 11"/>
          <p:cNvSpPr/>
          <p:nvPr/>
        </p:nvSpPr>
        <p:spPr>
          <a:xfrm>
            <a:off x="3887588" y="5221086"/>
            <a:ext cx="7635875" cy="1135063"/>
          </a:xfrm>
          <a:prstGeom prst="rect">
            <a:avLst/>
          </a:prstGeom>
          <a:noFill/>
          <a:ln/>
        </p:spPr>
        <p:txBody>
          <a:bodyPr wrap="square" rtlCol="0" anchor="t"/>
          <a:lstStyle/>
          <a:p>
            <a:r>
              <a:rPr lang="en-US" dirty="0">
                <a:solidFill>
                  <a:srgbClr val="3A3630"/>
                </a:solidFill>
                <a:latin typeface="Times New Roman" panose="02020603050405020304" pitchFamily="18" charset="0"/>
                <a:ea typeface="Source Sans Pro" pitchFamily="34" charset="-122"/>
                <a:cs typeface="Times New Roman" panose="02020603050405020304" pitchFamily="18" charset="0"/>
              </a:rPr>
              <a:t>We'll use stratified k-fold cross-validation to evaluate the performance of the hybrid CNN-HMM algorithm, splitting the dataset into k folds and iteratively training and testing on different folds. We'll calculate evaluation metrics like the F1-score for individual emotion classes, macro-averaged F1-score, and classification accuracy.</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2E4CF"/>
          </a:solidFill>
          <a:ln/>
        </p:spPr>
      </p:sp>
      <p:sp>
        <p:nvSpPr>
          <p:cNvPr id="3" name="Shape 1"/>
          <p:cNvSpPr/>
          <p:nvPr/>
        </p:nvSpPr>
        <p:spPr>
          <a:xfrm>
            <a:off x="0" y="0"/>
            <a:ext cx="12192000" cy="6858000"/>
          </a:xfrm>
          <a:prstGeom prst="rect">
            <a:avLst/>
          </a:prstGeom>
          <a:solidFill>
            <a:srgbClr val="FEF5E7"/>
          </a:solidFill>
          <a:ln/>
        </p:spPr>
      </p:sp>
      <p:sp>
        <p:nvSpPr>
          <p:cNvPr id="12" name="Text 4">
            <a:extLst>
              <a:ext uri="{FF2B5EF4-FFF2-40B4-BE49-F238E27FC236}">
                <a16:creationId xmlns:a16="http://schemas.microsoft.com/office/drawing/2014/main" id="{B907CFAD-7C90-488D-9A5B-F0DCCBE183AE}"/>
              </a:ext>
            </a:extLst>
          </p:cNvPr>
          <p:cNvSpPr/>
          <p:nvPr/>
        </p:nvSpPr>
        <p:spPr>
          <a:xfrm>
            <a:off x="2820094" y="1925213"/>
            <a:ext cx="6551811" cy="296168"/>
          </a:xfrm>
          <a:prstGeom prst="rect">
            <a:avLst/>
          </a:prstGeom>
          <a:noFill/>
          <a:ln/>
        </p:spPr>
        <p:txBody>
          <a:bodyPr wrap="none" rtlCol="0" anchor="t"/>
          <a:lstStyle/>
          <a:p>
            <a:pPr algn="ctr"/>
            <a:r>
              <a:rPr lang="en-GB" sz="4800" dirty="0">
                <a:latin typeface="Times New Roman" panose="02020603050405020304" pitchFamily="18" charset="0"/>
                <a:cs typeface="Times New Roman" panose="02020603050405020304" pitchFamily="18" charset="0"/>
              </a:rPr>
              <a:t>T H A N K  Y O U</a:t>
            </a:r>
          </a:p>
          <a:p>
            <a:pPr algn="ctr"/>
            <a:r>
              <a:rPr lang="en-GB" sz="4800" dirty="0">
                <a:latin typeface="Times New Roman" panose="02020603050405020304" pitchFamily="18" charset="0"/>
                <a:cs typeface="Times New Roman" panose="02020603050405020304" pitchFamily="18" charset="0"/>
              </a:rPr>
              <a:t>For Listening!</a:t>
            </a:r>
          </a:p>
        </p:txBody>
      </p:sp>
    </p:spTree>
    <p:extLst>
      <p:ext uri="{BB962C8B-B14F-4D97-AF65-F5344CB8AC3E}">
        <p14:creationId xmlns:p14="http://schemas.microsoft.com/office/powerpoint/2010/main" val="2725296932"/>
      </p:ext>
    </p:extLst>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1203</TotalTime>
  <Words>2860</Words>
  <Application>Microsoft Office PowerPoint</Application>
  <PresentationFormat>Widescreen</PresentationFormat>
  <Paragraphs>256</Paragraphs>
  <Slides>25</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Cyrel Jane</dc:creator>
  <cp:lastModifiedBy>User</cp:lastModifiedBy>
  <cp:revision>59</cp:revision>
  <dcterms:created xsi:type="dcterms:W3CDTF">2024-05-19T02:23:51Z</dcterms:created>
  <dcterms:modified xsi:type="dcterms:W3CDTF">2024-05-29T07:16:29Z</dcterms:modified>
</cp:coreProperties>
</file>