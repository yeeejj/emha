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gamma.app" TargetMode="Externa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gamma.app" TargetMode="Externa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5" Type="http://schemas.openxmlformats.org/officeDocument/2006/relationships/hyperlink" Target="https://gamma.app" TargetMode="Externa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p:cNvPr>
          <p:cNvPicPr>
            <a:picLocks noChangeAspect="1"/>
          </p:cNvPicPr>
          <p:nvPr/>
        </p:nvPicPr>
        <p:blipFill>
          <a:blip r:embed="rId1"/>
          <a:stretch>
            <a:fillRect/>
          </a:stretch>
        </p:blipFill>
        <p:spPr>
          <a:xfrm>
            <a:off x="9151620" y="0"/>
            <a:ext cx="5486400" cy="8229600"/>
          </a:xfrm>
          <a:prstGeom prst="rect">
            <a:avLst/>
          </a:prstGeom>
        </p:spPr>
      </p:pic>
      <p:sp>
        <p:nvSpPr>
          <p:cNvPr id="5" name="Text 2"/>
          <p:cNvSpPr/>
          <p:nvPr/>
        </p:nvSpPr>
        <p:spPr>
          <a:xfrm>
            <a:off x="833199" y="1266944"/>
            <a:ext cx="7477601" cy="2874645"/>
          </a:xfrm>
          <a:prstGeom prst="rect">
            <a:avLst/>
          </a:prstGeom>
          <a:noFill/>
          <a:ln/>
        </p:spPr>
        <p:txBody>
          <a:bodyPr wrap="square" rtlCol="0" anchor="t"/>
          <a:lstStyle/>
          <a:p>
            <a:pPr indent="0" marL="0">
              <a:lnSpc>
                <a:spcPts val="7545"/>
              </a:lnSpc>
              <a:buNone/>
            </a:pPr>
            <a:r>
              <a:rPr lang="en-US" sz="6036" dirty="0">
                <a:solidFill>
                  <a:srgbClr val="38512F"/>
                </a:solidFill>
                <a:latin typeface="Lora" pitchFamily="34" charset="0"/>
                <a:ea typeface="Lora" pitchFamily="34" charset="-122"/>
                <a:cs typeface="Lora" pitchFamily="34" charset="-120"/>
              </a:rPr>
              <a:t>Unlocking Emotions Through Handwriting</a:t>
            </a:r>
            <a:endParaRPr lang="en-US" sz="6036" dirty="0"/>
          </a:p>
        </p:txBody>
      </p:sp>
      <p:sp>
        <p:nvSpPr>
          <p:cNvPr id="6" name="Text 3"/>
          <p:cNvSpPr/>
          <p:nvPr/>
        </p:nvSpPr>
        <p:spPr>
          <a:xfrm>
            <a:off x="833199" y="4474845"/>
            <a:ext cx="7477601" cy="2487811"/>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Emotions are the driving force behind our thoughts, behaviors, and decisions, shaping nearly every aspect of our daily lives. Handwriting, as a unique and personal expression, holds the potential to unveil the intricate connection between our emotional states and the way we put pen to paper. This study aims to leverage advanced techniques to explore this relationship, unlocking new ways to understand and recognize emotions through the analysis of handwriting samples.</a:t>
            </a:r>
            <a:endParaRPr lang="en-US" sz="1750" dirty="0"/>
          </a:p>
        </p:txBody>
      </p:sp>
      <p:pic>
        <p:nvPicPr>
          <p:cNvPr id="7"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p:cNvPr>
          <p:cNvPicPr>
            <a:picLocks noChangeAspect="1"/>
          </p:cNvPicPr>
          <p:nvPr/>
        </p:nvPicPr>
        <p:blipFill>
          <a:blip r:embed="rId1"/>
          <a:stretch>
            <a:fillRect/>
          </a:stretch>
        </p:blipFill>
        <p:spPr>
          <a:xfrm>
            <a:off x="0" y="0"/>
            <a:ext cx="14630400" cy="2044660"/>
          </a:xfrm>
          <a:prstGeom prst="rect">
            <a:avLst/>
          </a:prstGeom>
        </p:spPr>
      </p:pic>
      <p:sp>
        <p:nvSpPr>
          <p:cNvPr id="5" name="Text 2"/>
          <p:cNvSpPr/>
          <p:nvPr/>
        </p:nvSpPr>
        <p:spPr>
          <a:xfrm>
            <a:off x="3658672" y="2494717"/>
            <a:ext cx="5971103" cy="511135"/>
          </a:xfrm>
          <a:prstGeom prst="rect">
            <a:avLst/>
          </a:prstGeom>
          <a:noFill/>
          <a:ln/>
        </p:spPr>
        <p:txBody>
          <a:bodyPr wrap="none" rtlCol="0" anchor="t"/>
          <a:lstStyle/>
          <a:p>
            <a:pPr indent="0" marL="0">
              <a:lnSpc>
                <a:spcPts val="4025"/>
              </a:lnSpc>
              <a:buNone/>
            </a:pPr>
            <a:r>
              <a:rPr lang="en-US" sz="3220" dirty="0">
                <a:solidFill>
                  <a:srgbClr val="38512F"/>
                </a:solidFill>
                <a:latin typeface="Lora" pitchFamily="34" charset="0"/>
                <a:ea typeface="Lora" pitchFamily="34" charset="-122"/>
                <a:cs typeface="Lora" pitchFamily="34" charset="-120"/>
              </a:rPr>
              <a:t>The Rationale Behind the Study</a:t>
            </a:r>
            <a:endParaRPr lang="en-US" sz="3220" dirty="0"/>
          </a:p>
        </p:txBody>
      </p:sp>
      <p:sp>
        <p:nvSpPr>
          <p:cNvPr id="6" name="Shape 3"/>
          <p:cNvSpPr/>
          <p:nvPr/>
        </p:nvSpPr>
        <p:spPr>
          <a:xfrm>
            <a:off x="3658672" y="5387578"/>
            <a:ext cx="7313057" cy="20360"/>
          </a:xfrm>
          <a:prstGeom prst="rect">
            <a:avLst/>
          </a:prstGeom>
          <a:solidFill>
            <a:srgbClr val="38512F"/>
          </a:solidFill>
          <a:ln/>
        </p:spPr>
      </p:sp>
      <p:sp>
        <p:nvSpPr>
          <p:cNvPr id="7" name="Shape 4"/>
          <p:cNvSpPr/>
          <p:nvPr/>
        </p:nvSpPr>
        <p:spPr>
          <a:xfrm>
            <a:off x="5435858" y="4815126"/>
            <a:ext cx="20360" cy="572453"/>
          </a:xfrm>
          <a:prstGeom prst="rect">
            <a:avLst/>
          </a:prstGeom>
          <a:solidFill>
            <a:srgbClr val="38512F"/>
          </a:solidFill>
          <a:ln/>
        </p:spPr>
      </p:sp>
      <p:sp>
        <p:nvSpPr>
          <p:cNvPr id="8" name="Shape 5"/>
          <p:cNvSpPr/>
          <p:nvPr/>
        </p:nvSpPr>
        <p:spPr>
          <a:xfrm>
            <a:off x="5262086" y="5203627"/>
            <a:ext cx="368022" cy="368022"/>
          </a:xfrm>
          <a:prstGeom prst="roundRect">
            <a:avLst>
              <a:gd name="adj" fmla="val 13335"/>
            </a:avLst>
          </a:prstGeom>
          <a:solidFill>
            <a:srgbClr val="F6E9D5"/>
          </a:solidFill>
          <a:ln/>
        </p:spPr>
      </p:sp>
      <p:sp>
        <p:nvSpPr>
          <p:cNvPr id="9" name="Text 6"/>
          <p:cNvSpPr/>
          <p:nvPr/>
        </p:nvSpPr>
        <p:spPr>
          <a:xfrm>
            <a:off x="5401389" y="5234226"/>
            <a:ext cx="89297" cy="306705"/>
          </a:xfrm>
          <a:prstGeom prst="rect">
            <a:avLst/>
          </a:prstGeom>
          <a:noFill/>
          <a:ln/>
        </p:spPr>
        <p:txBody>
          <a:bodyPr wrap="none" rtlCol="0" anchor="t"/>
          <a:lstStyle/>
          <a:p>
            <a:pPr algn="ctr" indent="0" marL="0">
              <a:lnSpc>
                <a:spcPts val="2415"/>
              </a:lnSpc>
              <a:buNone/>
            </a:pPr>
            <a:r>
              <a:rPr lang="en-US" sz="1932" dirty="0">
                <a:solidFill>
                  <a:srgbClr val="38512F"/>
                </a:solidFill>
                <a:latin typeface="Lora" pitchFamily="34" charset="0"/>
                <a:ea typeface="Lora" pitchFamily="34" charset="-122"/>
                <a:cs typeface="Lora" pitchFamily="34" charset="-120"/>
              </a:rPr>
              <a:t>1</a:t>
            </a:r>
            <a:endParaRPr lang="en-US" sz="1932" dirty="0"/>
          </a:p>
        </p:txBody>
      </p:sp>
      <p:sp>
        <p:nvSpPr>
          <p:cNvPr id="10" name="Text 7"/>
          <p:cNvSpPr/>
          <p:nvPr/>
        </p:nvSpPr>
        <p:spPr>
          <a:xfrm>
            <a:off x="4348043" y="3251121"/>
            <a:ext cx="2195989" cy="255508"/>
          </a:xfrm>
          <a:prstGeom prst="rect">
            <a:avLst/>
          </a:prstGeom>
          <a:noFill/>
          <a:ln/>
        </p:spPr>
        <p:txBody>
          <a:bodyPr wrap="none" rtlCol="0" anchor="t"/>
          <a:lstStyle/>
          <a:p>
            <a:pPr algn="ctr" indent="0" marL="0">
              <a:lnSpc>
                <a:spcPts val="2013"/>
              </a:lnSpc>
              <a:buNone/>
            </a:pPr>
            <a:r>
              <a:rPr lang="en-US" sz="1610" dirty="0">
                <a:solidFill>
                  <a:srgbClr val="38512F"/>
                </a:solidFill>
                <a:latin typeface="Lora" pitchFamily="34" charset="0"/>
                <a:ea typeface="Lora" pitchFamily="34" charset="-122"/>
                <a:cs typeface="Lora" pitchFamily="34" charset="-120"/>
              </a:rPr>
              <a:t>Emotions and Behavior</a:t>
            </a:r>
            <a:endParaRPr lang="en-US" sz="1610" dirty="0"/>
          </a:p>
        </p:txBody>
      </p:sp>
      <p:sp>
        <p:nvSpPr>
          <p:cNvPr id="11" name="Text 8"/>
          <p:cNvSpPr/>
          <p:nvPr/>
        </p:nvSpPr>
        <p:spPr>
          <a:xfrm>
            <a:off x="3822144" y="3604736"/>
            <a:ext cx="3247787" cy="1046798"/>
          </a:xfrm>
          <a:prstGeom prst="rect">
            <a:avLst/>
          </a:prstGeom>
          <a:noFill/>
          <a:ln/>
        </p:spPr>
        <p:txBody>
          <a:bodyPr wrap="square" rtlCol="0" anchor="t"/>
          <a:lstStyle/>
          <a:p>
            <a:pPr algn="ctr" indent="0" marL="0">
              <a:lnSpc>
                <a:spcPts val="2061"/>
              </a:lnSpc>
              <a:buNone/>
            </a:pPr>
            <a:r>
              <a:rPr lang="en-US" sz="1288" dirty="0">
                <a:solidFill>
                  <a:srgbClr val="3A3630"/>
                </a:solidFill>
                <a:latin typeface="Source Sans Pro" pitchFamily="34" charset="0"/>
                <a:ea typeface="Source Sans Pro" pitchFamily="34" charset="-122"/>
                <a:cs typeface="Source Sans Pro" pitchFamily="34" charset="-120"/>
              </a:rPr>
              <a:t>Emotions play a crucial role in how we think, decide, and behave, making the understanding of this connection essential for various applications.</a:t>
            </a:r>
            <a:endParaRPr lang="en-US" sz="1288" dirty="0"/>
          </a:p>
        </p:txBody>
      </p:sp>
      <p:sp>
        <p:nvSpPr>
          <p:cNvPr id="12" name="Shape 9"/>
          <p:cNvSpPr/>
          <p:nvPr/>
        </p:nvSpPr>
        <p:spPr>
          <a:xfrm>
            <a:off x="7304901" y="5387578"/>
            <a:ext cx="20360" cy="572453"/>
          </a:xfrm>
          <a:prstGeom prst="rect">
            <a:avLst/>
          </a:prstGeom>
          <a:solidFill>
            <a:srgbClr val="38512F"/>
          </a:solidFill>
          <a:ln/>
        </p:spPr>
      </p:sp>
      <p:sp>
        <p:nvSpPr>
          <p:cNvPr id="13" name="Shape 10"/>
          <p:cNvSpPr/>
          <p:nvPr/>
        </p:nvSpPr>
        <p:spPr>
          <a:xfrm>
            <a:off x="7131129" y="5203627"/>
            <a:ext cx="368022" cy="368022"/>
          </a:xfrm>
          <a:prstGeom prst="roundRect">
            <a:avLst>
              <a:gd name="adj" fmla="val 13335"/>
            </a:avLst>
          </a:prstGeom>
          <a:solidFill>
            <a:srgbClr val="F6E9D5"/>
          </a:solidFill>
          <a:ln/>
        </p:spPr>
      </p:sp>
      <p:sp>
        <p:nvSpPr>
          <p:cNvPr id="14" name="Text 11"/>
          <p:cNvSpPr/>
          <p:nvPr/>
        </p:nvSpPr>
        <p:spPr>
          <a:xfrm>
            <a:off x="7249239" y="5234226"/>
            <a:ext cx="131802" cy="306705"/>
          </a:xfrm>
          <a:prstGeom prst="rect">
            <a:avLst/>
          </a:prstGeom>
          <a:noFill/>
          <a:ln/>
        </p:spPr>
        <p:txBody>
          <a:bodyPr wrap="none" rtlCol="0" anchor="t"/>
          <a:lstStyle/>
          <a:p>
            <a:pPr algn="ctr" indent="0" marL="0">
              <a:lnSpc>
                <a:spcPts val="2415"/>
              </a:lnSpc>
              <a:buNone/>
            </a:pPr>
            <a:r>
              <a:rPr lang="en-US" sz="1932" dirty="0">
                <a:solidFill>
                  <a:srgbClr val="38512F"/>
                </a:solidFill>
                <a:latin typeface="Lora" pitchFamily="34" charset="0"/>
                <a:ea typeface="Lora" pitchFamily="34" charset="-122"/>
                <a:cs typeface="Lora" pitchFamily="34" charset="-120"/>
              </a:rPr>
              <a:t>2</a:t>
            </a:r>
            <a:endParaRPr lang="en-US" sz="1932" dirty="0"/>
          </a:p>
        </p:txBody>
      </p:sp>
      <p:sp>
        <p:nvSpPr>
          <p:cNvPr id="15" name="Text 12"/>
          <p:cNvSpPr/>
          <p:nvPr/>
        </p:nvSpPr>
        <p:spPr>
          <a:xfrm>
            <a:off x="5691188" y="6123623"/>
            <a:ext cx="3247906" cy="511016"/>
          </a:xfrm>
          <a:prstGeom prst="rect">
            <a:avLst/>
          </a:prstGeom>
          <a:noFill/>
          <a:ln/>
        </p:spPr>
        <p:txBody>
          <a:bodyPr wrap="square" rtlCol="0" anchor="t"/>
          <a:lstStyle/>
          <a:p>
            <a:pPr algn="ctr" indent="0" marL="0">
              <a:lnSpc>
                <a:spcPts val="2013"/>
              </a:lnSpc>
              <a:buNone/>
            </a:pPr>
            <a:r>
              <a:rPr lang="en-US" sz="1610" dirty="0">
                <a:solidFill>
                  <a:srgbClr val="38512F"/>
                </a:solidFill>
                <a:latin typeface="Lora" pitchFamily="34" charset="0"/>
                <a:ea typeface="Lora" pitchFamily="34" charset="-122"/>
                <a:cs typeface="Lora" pitchFamily="34" charset="-120"/>
              </a:rPr>
              <a:t>Handwriting as an Emotional Indicator</a:t>
            </a:r>
            <a:endParaRPr lang="en-US" sz="1610" dirty="0"/>
          </a:p>
        </p:txBody>
      </p:sp>
      <p:sp>
        <p:nvSpPr>
          <p:cNvPr id="16" name="Text 13"/>
          <p:cNvSpPr/>
          <p:nvPr/>
        </p:nvSpPr>
        <p:spPr>
          <a:xfrm>
            <a:off x="5691188" y="6732746"/>
            <a:ext cx="3247906" cy="1046798"/>
          </a:xfrm>
          <a:prstGeom prst="rect">
            <a:avLst/>
          </a:prstGeom>
          <a:noFill/>
          <a:ln/>
        </p:spPr>
        <p:txBody>
          <a:bodyPr wrap="square" rtlCol="0" anchor="t"/>
          <a:lstStyle/>
          <a:p>
            <a:pPr algn="ctr" indent="0" marL="0">
              <a:lnSpc>
                <a:spcPts val="2061"/>
              </a:lnSpc>
              <a:buNone/>
            </a:pPr>
            <a:r>
              <a:rPr lang="en-US" sz="1288" dirty="0">
                <a:solidFill>
                  <a:srgbClr val="3A3630"/>
                </a:solidFill>
                <a:latin typeface="Source Sans Pro" pitchFamily="34" charset="0"/>
                <a:ea typeface="Source Sans Pro" pitchFamily="34" charset="-122"/>
                <a:cs typeface="Source Sans Pro" pitchFamily="34" charset="-120"/>
              </a:rPr>
              <a:t>Analyzing handwriting has been used in fields like forensics, psychology, and crime investigation to gain insights into an individual's emotional state.</a:t>
            </a:r>
            <a:endParaRPr lang="en-US" sz="1288" dirty="0"/>
          </a:p>
        </p:txBody>
      </p:sp>
      <p:sp>
        <p:nvSpPr>
          <p:cNvPr id="17" name="Shape 14"/>
          <p:cNvSpPr/>
          <p:nvPr/>
        </p:nvSpPr>
        <p:spPr>
          <a:xfrm>
            <a:off x="9174063" y="4815126"/>
            <a:ext cx="20360" cy="572453"/>
          </a:xfrm>
          <a:prstGeom prst="rect">
            <a:avLst/>
          </a:prstGeom>
          <a:solidFill>
            <a:srgbClr val="38512F"/>
          </a:solidFill>
          <a:ln/>
        </p:spPr>
      </p:sp>
      <p:sp>
        <p:nvSpPr>
          <p:cNvPr id="18" name="Shape 15"/>
          <p:cNvSpPr/>
          <p:nvPr/>
        </p:nvSpPr>
        <p:spPr>
          <a:xfrm>
            <a:off x="9000292" y="5203627"/>
            <a:ext cx="368022" cy="368022"/>
          </a:xfrm>
          <a:prstGeom prst="roundRect">
            <a:avLst>
              <a:gd name="adj" fmla="val 13335"/>
            </a:avLst>
          </a:prstGeom>
          <a:solidFill>
            <a:srgbClr val="F6E9D5"/>
          </a:solidFill>
          <a:ln/>
        </p:spPr>
      </p:sp>
      <p:sp>
        <p:nvSpPr>
          <p:cNvPr id="19" name="Text 16"/>
          <p:cNvSpPr/>
          <p:nvPr/>
        </p:nvSpPr>
        <p:spPr>
          <a:xfrm>
            <a:off x="9115901" y="5234226"/>
            <a:ext cx="136684" cy="306705"/>
          </a:xfrm>
          <a:prstGeom prst="rect">
            <a:avLst/>
          </a:prstGeom>
          <a:noFill/>
          <a:ln/>
        </p:spPr>
        <p:txBody>
          <a:bodyPr wrap="none" rtlCol="0" anchor="t"/>
          <a:lstStyle/>
          <a:p>
            <a:pPr algn="ctr" indent="0" marL="0">
              <a:lnSpc>
                <a:spcPts val="2415"/>
              </a:lnSpc>
              <a:buNone/>
            </a:pPr>
            <a:r>
              <a:rPr lang="en-US" sz="1932" dirty="0">
                <a:solidFill>
                  <a:srgbClr val="38512F"/>
                </a:solidFill>
                <a:latin typeface="Lora" pitchFamily="34" charset="0"/>
                <a:ea typeface="Lora" pitchFamily="34" charset="-122"/>
                <a:cs typeface="Lora" pitchFamily="34" charset="-120"/>
              </a:rPr>
              <a:t>3</a:t>
            </a:r>
            <a:endParaRPr lang="en-US" sz="1932" dirty="0"/>
          </a:p>
        </p:txBody>
      </p:sp>
      <p:sp>
        <p:nvSpPr>
          <p:cNvPr id="20" name="Text 17"/>
          <p:cNvSpPr/>
          <p:nvPr/>
        </p:nvSpPr>
        <p:spPr>
          <a:xfrm>
            <a:off x="7800618" y="3251121"/>
            <a:ext cx="2767370" cy="255508"/>
          </a:xfrm>
          <a:prstGeom prst="rect">
            <a:avLst/>
          </a:prstGeom>
          <a:noFill/>
          <a:ln/>
        </p:spPr>
        <p:txBody>
          <a:bodyPr wrap="none" rtlCol="0" anchor="t"/>
          <a:lstStyle/>
          <a:p>
            <a:pPr algn="ctr" indent="0" marL="0">
              <a:lnSpc>
                <a:spcPts val="2013"/>
              </a:lnSpc>
              <a:buNone/>
            </a:pPr>
            <a:r>
              <a:rPr lang="en-US" sz="1610" dirty="0">
                <a:solidFill>
                  <a:srgbClr val="38512F"/>
                </a:solidFill>
                <a:latin typeface="Lora" pitchFamily="34" charset="0"/>
                <a:ea typeface="Lora" pitchFamily="34" charset="-122"/>
                <a:cs typeface="Lora" pitchFamily="34" charset="-120"/>
              </a:rPr>
              <a:t>Technological Advancements</a:t>
            </a:r>
            <a:endParaRPr lang="en-US" sz="1610" dirty="0"/>
          </a:p>
        </p:txBody>
      </p:sp>
      <p:sp>
        <p:nvSpPr>
          <p:cNvPr id="21" name="Text 18"/>
          <p:cNvSpPr/>
          <p:nvPr/>
        </p:nvSpPr>
        <p:spPr>
          <a:xfrm>
            <a:off x="7560350" y="3604736"/>
            <a:ext cx="3247906" cy="1046798"/>
          </a:xfrm>
          <a:prstGeom prst="rect">
            <a:avLst/>
          </a:prstGeom>
          <a:noFill/>
          <a:ln/>
        </p:spPr>
        <p:txBody>
          <a:bodyPr wrap="square" rtlCol="0" anchor="t"/>
          <a:lstStyle/>
          <a:p>
            <a:pPr algn="ctr" indent="0" marL="0">
              <a:lnSpc>
                <a:spcPts val="2061"/>
              </a:lnSpc>
              <a:buNone/>
            </a:pPr>
            <a:r>
              <a:rPr lang="en-US" sz="1288" dirty="0">
                <a:solidFill>
                  <a:srgbClr val="3A3630"/>
                </a:solidFill>
                <a:latin typeface="Source Sans Pro" pitchFamily="34" charset="0"/>
                <a:ea typeface="Source Sans Pro" pitchFamily="34" charset="-122"/>
                <a:cs typeface="Source Sans Pro" pitchFamily="34" charset="-120"/>
              </a:rPr>
              <a:t>With the advancement of technology, new opportunities arise to explore the link between emotions and handwriting in more depth, leading to innovative applications.</a:t>
            </a:r>
            <a:endParaRPr lang="en-US" sz="1288" dirty="0"/>
          </a:p>
        </p:txBody>
      </p:sp>
      <p:pic>
        <p:nvPicPr>
          <p:cNvPr id="22"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5" name="Shape 2"/>
          <p:cNvSpPr/>
          <p:nvPr/>
        </p:nvSpPr>
        <p:spPr>
          <a:xfrm>
            <a:off x="0" y="0"/>
            <a:ext cx="14630400" cy="8229600"/>
          </a:xfrm>
          <a:prstGeom prst="rect">
            <a:avLst/>
          </a:prstGeom>
          <a:solidFill>
            <a:srgbClr val="FEF5E7">
              <a:alpha val="85000"/>
            </a:srgbClr>
          </a:solidFill>
          <a:ln/>
        </p:spPr>
      </p:sp>
      <p:sp>
        <p:nvSpPr>
          <p:cNvPr id="6" name="Text 3"/>
          <p:cNvSpPr/>
          <p:nvPr/>
        </p:nvSpPr>
        <p:spPr>
          <a:xfrm>
            <a:off x="2348389" y="1115735"/>
            <a:ext cx="9933503" cy="1388745"/>
          </a:xfrm>
          <a:prstGeom prst="rect">
            <a:avLst/>
          </a:prstGeom>
          <a:noFill/>
          <a:ln/>
        </p:spPr>
        <p:txBody>
          <a:bodyPr wrap="square" rtlCol="0" anchor="t"/>
          <a:lstStyle/>
          <a:p>
            <a:pPr indent="0" marL="0">
              <a:lnSpc>
                <a:spcPts val="5468"/>
              </a:lnSpc>
              <a:buNone/>
            </a:pPr>
            <a:r>
              <a:rPr lang="en-US" sz="4374" dirty="0">
                <a:solidFill>
                  <a:srgbClr val="38512F"/>
                </a:solidFill>
                <a:latin typeface="Lora" pitchFamily="34" charset="0"/>
                <a:ea typeface="Lora" pitchFamily="34" charset="-122"/>
                <a:cs typeface="Lora" pitchFamily="34" charset="-120"/>
              </a:rPr>
              <a:t>Addressing the Need for Emotion Recognition</a:t>
            </a:r>
            <a:endParaRPr lang="en-US" sz="4374" dirty="0"/>
          </a:p>
        </p:txBody>
      </p:sp>
      <p:sp>
        <p:nvSpPr>
          <p:cNvPr id="7" name="Shape 4"/>
          <p:cNvSpPr/>
          <p:nvPr/>
        </p:nvSpPr>
        <p:spPr>
          <a:xfrm>
            <a:off x="2348389" y="3011329"/>
            <a:ext cx="499943" cy="499943"/>
          </a:xfrm>
          <a:prstGeom prst="roundRect">
            <a:avLst>
              <a:gd name="adj" fmla="val 13333"/>
            </a:avLst>
          </a:prstGeom>
          <a:solidFill>
            <a:srgbClr val="F6E9D5"/>
          </a:solidFill>
          <a:ln/>
        </p:spPr>
      </p:sp>
      <p:sp>
        <p:nvSpPr>
          <p:cNvPr id="8" name="Text 5"/>
          <p:cNvSpPr/>
          <p:nvPr/>
        </p:nvSpPr>
        <p:spPr>
          <a:xfrm>
            <a:off x="2537698" y="3053001"/>
            <a:ext cx="121325" cy="416481"/>
          </a:xfrm>
          <a:prstGeom prst="rect">
            <a:avLst/>
          </a:prstGeom>
          <a:noFill/>
          <a:ln/>
        </p:spPr>
        <p:txBody>
          <a:bodyPr wrap="none" rtlCol="0" anchor="t"/>
          <a:lstStyle/>
          <a:p>
            <a:pPr algn="ctr" indent="0" marL="0">
              <a:lnSpc>
                <a:spcPts val="3281"/>
              </a:lnSpc>
              <a:buNone/>
            </a:pPr>
            <a:r>
              <a:rPr lang="en-US" sz="2624" dirty="0">
                <a:solidFill>
                  <a:srgbClr val="38512F"/>
                </a:solidFill>
                <a:latin typeface="Lora" pitchFamily="34" charset="0"/>
                <a:ea typeface="Lora" pitchFamily="34" charset="-122"/>
                <a:cs typeface="Lora" pitchFamily="34" charset="-120"/>
              </a:rPr>
              <a:t>1</a:t>
            </a:r>
            <a:endParaRPr lang="en-US" sz="2624" dirty="0"/>
          </a:p>
        </p:txBody>
      </p:sp>
      <p:sp>
        <p:nvSpPr>
          <p:cNvPr id="9" name="Text 6"/>
          <p:cNvSpPr/>
          <p:nvPr/>
        </p:nvSpPr>
        <p:spPr>
          <a:xfrm>
            <a:off x="3070503" y="3087648"/>
            <a:ext cx="2440900" cy="347186"/>
          </a:xfrm>
          <a:prstGeom prst="rect">
            <a:avLst/>
          </a:prstGeom>
          <a:noFill/>
          <a:ln/>
        </p:spPr>
        <p:txBody>
          <a:bodyPr wrap="none" rtlCol="0" anchor="t"/>
          <a:lstStyle/>
          <a:p>
            <a:pPr indent="0" marL="0">
              <a:lnSpc>
                <a:spcPts val="2734"/>
              </a:lnSpc>
              <a:buNone/>
            </a:pPr>
            <a:r>
              <a:rPr lang="en-US" sz="2187" dirty="0">
                <a:solidFill>
                  <a:srgbClr val="38512F"/>
                </a:solidFill>
                <a:latin typeface="Lora" pitchFamily="34" charset="0"/>
                <a:ea typeface="Lora" pitchFamily="34" charset="-122"/>
                <a:cs typeface="Lora" pitchFamily="34" charset="-120"/>
              </a:rPr>
              <a:t>The Problem</a:t>
            </a:r>
            <a:endParaRPr lang="en-US" sz="2187" dirty="0"/>
          </a:p>
        </p:txBody>
      </p:sp>
      <p:sp>
        <p:nvSpPr>
          <p:cNvPr id="10" name="Text 7"/>
          <p:cNvSpPr/>
          <p:nvPr/>
        </p:nvSpPr>
        <p:spPr>
          <a:xfrm>
            <a:off x="3070503" y="3568065"/>
            <a:ext cx="2440900" cy="2487811"/>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Despite advancements in emotion recognition, there remains a gap in integrating handwriting analysis with machine learning to accurately classify emotional states.</a:t>
            </a:r>
            <a:endParaRPr lang="en-US" sz="1750" dirty="0"/>
          </a:p>
        </p:txBody>
      </p:sp>
      <p:sp>
        <p:nvSpPr>
          <p:cNvPr id="11" name="Shape 8"/>
          <p:cNvSpPr/>
          <p:nvPr/>
        </p:nvSpPr>
        <p:spPr>
          <a:xfrm>
            <a:off x="5733574" y="3011329"/>
            <a:ext cx="499943" cy="499943"/>
          </a:xfrm>
          <a:prstGeom prst="roundRect">
            <a:avLst>
              <a:gd name="adj" fmla="val 13333"/>
            </a:avLst>
          </a:prstGeom>
          <a:solidFill>
            <a:srgbClr val="F6E9D5"/>
          </a:solidFill>
          <a:ln/>
        </p:spPr>
      </p:sp>
      <p:sp>
        <p:nvSpPr>
          <p:cNvPr id="12" name="Text 9"/>
          <p:cNvSpPr/>
          <p:nvPr/>
        </p:nvSpPr>
        <p:spPr>
          <a:xfrm>
            <a:off x="5893951" y="3053001"/>
            <a:ext cx="179070" cy="416481"/>
          </a:xfrm>
          <a:prstGeom prst="rect">
            <a:avLst/>
          </a:prstGeom>
          <a:noFill/>
          <a:ln/>
        </p:spPr>
        <p:txBody>
          <a:bodyPr wrap="none" rtlCol="0" anchor="t"/>
          <a:lstStyle/>
          <a:p>
            <a:pPr algn="ctr" indent="0" marL="0">
              <a:lnSpc>
                <a:spcPts val="3281"/>
              </a:lnSpc>
              <a:buNone/>
            </a:pPr>
            <a:r>
              <a:rPr lang="en-US" sz="2624" dirty="0">
                <a:solidFill>
                  <a:srgbClr val="38512F"/>
                </a:solidFill>
                <a:latin typeface="Lora" pitchFamily="34" charset="0"/>
                <a:ea typeface="Lora" pitchFamily="34" charset="-122"/>
                <a:cs typeface="Lora" pitchFamily="34" charset="-120"/>
              </a:rPr>
              <a:t>2</a:t>
            </a:r>
            <a:endParaRPr lang="en-US" sz="2624" dirty="0"/>
          </a:p>
        </p:txBody>
      </p:sp>
      <p:sp>
        <p:nvSpPr>
          <p:cNvPr id="13" name="Text 10"/>
          <p:cNvSpPr/>
          <p:nvPr/>
        </p:nvSpPr>
        <p:spPr>
          <a:xfrm>
            <a:off x="6455688" y="3087648"/>
            <a:ext cx="2440900" cy="694373"/>
          </a:xfrm>
          <a:prstGeom prst="rect">
            <a:avLst/>
          </a:prstGeom>
          <a:noFill/>
          <a:ln/>
        </p:spPr>
        <p:txBody>
          <a:bodyPr wrap="square" rtlCol="0" anchor="t"/>
          <a:lstStyle/>
          <a:p>
            <a:pPr indent="0" marL="0">
              <a:lnSpc>
                <a:spcPts val="2734"/>
              </a:lnSpc>
              <a:buNone/>
            </a:pPr>
            <a:r>
              <a:rPr lang="en-US" sz="2187" dirty="0">
                <a:solidFill>
                  <a:srgbClr val="38512F"/>
                </a:solidFill>
                <a:latin typeface="Lora" pitchFamily="34" charset="0"/>
                <a:ea typeface="Lora" pitchFamily="34" charset="-122"/>
                <a:cs typeface="Lora" pitchFamily="34" charset="-120"/>
              </a:rPr>
              <a:t>The Proposed Solution</a:t>
            </a:r>
            <a:endParaRPr lang="en-US" sz="2187" dirty="0"/>
          </a:p>
        </p:txBody>
      </p:sp>
      <p:sp>
        <p:nvSpPr>
          <p:cNvPr id="14" name="Text 11"/>
          <p:cNvSpPr/>
          <p:nvPr/>
        </p:nvSpPr>
        <p:spPr>
          <a:xfrm>
            <a:off x="6455688" y="3915251"/>
            <a:ext cx="2440900" cy="3198614"/>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This study aims to develop a system that can analyze handwriting samples and determine the writer's emotional state with high accuracy, addressing the need for an effective emotion recognition system.</a:t>
            </a:r>
            <a:endParaRPr lang="en-US" sz="1750" dirty="0"/>
          </a:p>
        </p:txBody>
      </p:sp>
      <p:sp>
        <p:nvSpPr>
          <p:cNvPr id="15" name="Shape 12"/>
          <p:cNvSpPr/>
          <p:nvPr/>
        </p:nvSpPr>
        <p:spPr>
          <a:xfrm>
            <a:off x="9118759" y="3011329"/>
            <a:ext cx="499943" cy="499943"/>
          </a:xfrm>
          <a:prstGeom prst="roundRect">
            <a:avLst>
              <a:gd name="adj" fmla="val 13333"/>
            </a:avLst>
          </a:prstGeom>
          <a:solidFill>
            <a:srgbClr val="F6E9D5"/>
          </a:solidFill>
          <a:ln/>
        </p:spPr>
      </p:sp>
      <p:sp>
        <p:nvSpPr>
          <p:cNvPr id="16" name="Text 13"/>
          <p:cNvSpPr/>
          <p:nvPr/>
        </p:nvSpPr>
        <p:spPr>
          <a:xfrm>
            <a:off x="9275802" y="3053001"/>
            <a:ext cx="185738" cy="416481"/>
          </a:xfrm>
          <a:prstGeom prst="rect">
            <a:avLst/>
          </a:prstGeom>
          <a:noFill/>
          <a:ln/>
        </p:spPr>
        <p:txBody>
          <a:bodyPr wrap="none" rtlCol="0" anchor="t"/>
          <a:lstStyle/>
          <a:p>
            <a:pPr algn="ctr" indent="0" marL="0">
              <a:lnSpc>
                <a:spcPts val="3281"/>
              </a:lnSpc>
              <a:buNone/>
            </a:pPr>
            <a:r>
              <a:rPr lang="en-US" sz="2624" dirty="0">
                <a:solidFill>
                  <a:srgbClr val="38512F"/>
                </a:solidFill>
                <a:latin typeface="Lora" pitchFamily="34" charset="0"/>
                <a:ea typeface="Lora" pitchFamily="34" charset="-122"/>
                <a:cs typeface="Lora" pitchFamily="34" charset="-120"/>
              </a:rPr>
              <a:t>3</a:t>
            </a:r>
            <a:endParaRPr lang="en-US" sz="2624" dirty="0"/>
          </a:p>
        </p:txBody>
      </p:sp>
      <p:sp>
        <p:nvSpPr>
          <p:cNvPr id="17" name="Text 14"/>
          <p:cNvSpPr/>
          <p:nvPr/>
        </p:nvSpPr>
        <p:spPr>
          <a:xfrm>
            <a:off x="9840873" y="3087648"/>
            <a:ext cx="2440900" cy="694373"/>
          </a:xfrm>
          <a:prstGeom prst="rect">
            <a:avLst/>
          </a:prstGeom>
          <a:noFill/>
          <a:ln/>
        </p:spPr>
        <p:txBody>
          <a:bodyPr wrap="square" rtlCol="0" anchor="t"/>
          <a:lstStyle/>
          <a:p>
            <a:pPr indent="0" marL="0">
              <a:lnSpc>
                <a:spcPts val="2734"/>
              </a:lnSpc>
              <a:buNone/>
            </a:pPr>
            <a:r>
              <a:rPr lang="en-US" sz="2187" dirty="0">
                <a:solidFill>
                  <a:srgbClr val="38512F"/>
                </a:solidFill>
                <a:latin typeface="Lora" pitchFamily="34" charset="0"/>
                <a:ea typeface="Lora" pitchFamily="34" charset="-122"/>
                <a:cs typeface="Lora" pitchFamily="34" charset="-120"/>
              </a:rPr>
              <a:t>Potential Applications</a:t>
            </a:r>
            <a:endParaRPr lang="en-US" sz="2187" dirty="0"/>
          </a:p>
        </p:txBody>
      </p:sp>
      <p:sp>
        <p:nvSpPr>
          <p:cNvPr id="18" name="Text 15"/>
          <p:cNvSpPr/>
          <p:nvPr/>
        </p:nvSpPr>
        <p:spPr>
          <a:xfrm>
            <a:off x="9840873" y="3915251"/>
            <a:ext cx="2440900" cy="3198614"/>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The proposed system could have significant benefits in fields such as education, healthcare, and human-computer interaction, where understanding emotions can lead to meaningful improvements.</a:t>
            </a:r>
            <a:endParaRPr lang="en-US" sz="1750" dirty="0"/>
          </a:p>
        </p:txBody>
      </p:sp>
      <p:pic>
        <p:nvPicPr>
          <p:cNvPr id="19"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
        <p:nvSpPr>
          <p:cNvPr id="4" name="Text 2"/>
          <p:cNvSpPr/>
          <p:nvPr/>
        </p:nvSpPr>
        <p:spPr>
          <a:xfrm>
            <a:off x="2348389" y="1250513"/>
            <a:ext cx="5985272" cy="694373"/>
          </a:xfrm>
          <a:prstGeom prst="rect">
            <a:avLst/>
          </a:prstGeom>
          <a:noFill/>
          <a:ln/>
        </p:spPr>
        <p:txBody>
          <a:bodyPr wrap="none" rtlCol="0" anchor="t"/>
          <a:lstStyle/>
          <a:p>
            <a:pPr indent="0" marL="0">
              <a:lnSpc>
                <a:spcPts val="5468"/>
              </a:lnSpc>
              <a:buNone/>
            </a:pPr>
            <a:r>
              <a:rPr lang="en-US" sz="4374" dirty="0">
                <a:solidFill>
                  <a:srgbClr val="38512F"/>
                </a:solidFill>
                <a:latin typeface="Lora" pitchFamily="34" charset="0"/>
                <a:ea typeface="Lora" pitchFamily="34" charset="-122"/>
                <a:cs typeface="Lora" pitchFamily="34" charset="-120"/>
              </a:rPr>
              <a:t>Objectives of the Study</a:t>
            </a:r>
            <a:endParaRPr lang="en-US" sz="4374" dirty="0"/>
          </a:p>
        </p:txBody>
      </p:sp>
      <p:sp>
        <p:nvSpPr>
          <p:cNvPr id="5" name="Text 3"/>
          <p:cNvSpPr/>
          <p:nvPr/>
        </p:nvSpPr>
        <p:spPr>
          <a:xfrm>
            <a:off x="2348389" y="2500313"/>
            <a:ext cx="2777490" cy="347186"/>
          </a:xfrm>
          <a:prstGeom prst="rect">
            <a:avLst/>
          </a:prstGeom>
          <a:noFill/>
          <a:ln/>
        </p:spPr>
        <p:txBody>
          <a:bodyPr wrap="none" rtlCol="0" anchor="t"/>
          <a:lstStyle/>
          <a:p>
            <a:pPr indent="0" marL="0">
              <a:lnSpc>
                <a:spcPts val="2734"/>
              </a:lnSpc>
              <a:buNone/>
            </a:pPr>
            <a:r>
              <a:rPr lang="en-US" sz="2187" dirty="0">
                <a:solidFill>
                  <a:srgbClr val="38512F"/>
                </a:solidFill>
                <a:latin typeface="Lora" pitchFamily="34" charset="0"/>
                <a:ea typeface="Lora" pitchFamily="34" charset="-122"/>
                <a:cs typeface="Lora" pitchFamily="34" charset="-120"/>
              </a:rPr>
              <a:t>General Objective</a:t>
            </a:r>
            <a:endParaRPr lang="en-US" sz="2187" dirty="0"/>
          </a:p>
        </p:txBody>
      </p:sp>
      <p:sp>
        <p:nvSpPr>
          <p:cNvPr id="6" name="Text 4"/>
          <p:cNvSpPr/>
          <p:nvPr/>
        </p:nvSpPr>
        <p:spPr>
          <a:xfrm>
            <a:off x="2348389" y="3069669"/>
            <a:ext cx="4695706" cy="1777008"/>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The general objective of this study is to develop and evaluate a machine learning system capable of classifying emotional states from student handwriting samples, leveraging advanced image processing techniques.</a:t>
            </a:r>
            <a:endParaRPr lang="en-US" sz="1750" dirty="0"/>
          </a:p>
        </p:txBody>
      </p:sp>
      <p:sp>
        <p:nvSpPr>
          <p:cNvPr id="7" name="Text 5"/>
          <p:cNvSpPr/>
          <p:nvPr/>
        </p:nvSpPr>
        <p:spPr>
          <a:xfrm>
            <a:off x="7593687" y="2500313"/>
            <a:ext cx="2777490" cy="347186"/>
          </a:xfrm>
          <a:prstGeom prst="rect">
            <a:avLst/>
          </a:prstGeom>
          <a:noFill/>
          <a:ln/>
        </p:spPr>
        <p:txBody>
          <a:bodyPr wrap="none" rtlCol="0" anchor="t"/>
          <a:lstStyle/>
          <a:p>
            <a:pPr indent="0" marL="0">
              <a:lnSpc>
                <a:spcPts val="2734"/>
              </a:lnSpc>
              <a:buNone/>
            </a:pPr>
            <a:r>
              <a:rPr lang="en-US" sz="2187" dirty="0">
                <a:solidFill>
                  <a:srgbClr val="38512F"/>
                </a:solidFill>
                <a:latin typeface="Lora" pitchFamily="34" charset="0"/>
                <a:ea typeface="Lora" pitchFamily="34" charset="-122"/>
                <a:cs typeface="Lora" pitchFamily="34" charset="-120"/>
              </a:rPr>
              <a:t>Specific Objectives</a:t>
            </a:r>
            <a:endParaRPr lang="en-US" sz="2187" dirty="0"/>
          </a:p>
        </p:txBody>
      </p:sp>
      <p:sp>
        <p:nvSpPr>
          <p:cNvPr id="8" name="Text 6"/>
          <p:cNvSpPr/>
          <p:nvPr/>
        </p:nvSpPr>
        <p:spPr>
          <a:xfrm>
            <a:off x="7949089" y="3069669"/>
            <a:ext cx="4340304" cy="710803"/>
          </a:xfrm>
          <a:prstGeom prst="rect">
            <a:avLst/>
          </a:prstGeom>
          <a:noFill/>
          <a:ln/>
        </p:spPr>
        <p:txBody>
          <a:bodyPr wrap="square" rtlCol="0" anchor="t"/>
          <a:lstStyle/>
          <a:p>
            <a:pPr algn="l" marL="342900" indent="-342900">
              <a:lnSpc>
                <a:spcPts val="2799"/>
              </a:lnSpc>
              <a:buSzPct val="100000"/>
              <a:buFont typeface="+mj-lt"/>
              <a:buAutoNum type="arabicPeriod" startAt="1"/>
            </a:pPr>
            <a:r>
              <a:rPr lang="en-US" sz="1750" dirty="0">
                <a:solidFill>
                  <a:srgbClr val="3A3630"/>
                </a:solidFill>
                <a:latin typeface="Source Sans Pro" pitchFamily="34" charset="0"/>
                <a:ea typeface="Source Sans Pro" pitchFamily="34" charset="-122"/>
                <a:cs typeface="Source Sans Pro" pitchFamily="34" charset="-120"/>
              </a:rPr>
              <a:t>Data Collection: Gather diverse handwriting samples from participants.</a:t>
            </a:r>
            <a:endParaRPr lang="en-US" sz="1750" dirty="0"/>
          </a:p>
        </p:txBody>
      </p:sp>
      <p:sp>
        <p:nvSpPr>
          <p:cNvPr id="9" name="Text 7"/>
          <p:cNvSpPr/>
          <p:nvPr/>
        </p:nvSpPr>
        <p:spPr>
          <a:xfrm>
            <a:off x="7949089" y="3869293"/>
            <a:ext cx="4340304" cy="710803"/>
          </a:xfrm>
          <a:prstGeom prst="rect">
            <a:avLst/>
          </a:prstGeom>
          <a:noFill/>
          <a:ln/>
        </p:spPr>
        <p:txBody>
          <a:bodyPr wrap="square" rtlCol="0" anchor="t"/>
          <a:lstStyle/>
          <a:p>
            <a:pPr algn="l" marL="342900" indent="-342900">
              <a:lnSpc>
                <a:spcPts val="2799"/>
              </a:lnSpc>
              <a:buSzPct val="100000"/>
              <a:buFont typeface="+mj-lt"/>
              <a:buAutoNum type="arabicPeriod" startAt="2"/>
            </a:pPr>
            <a:r>
              <a:rPr lang="en-US" sz="1750" dirty="0">
                <a:solidFill>
                  <a:srgbClr val="3A3630"/>
                </a:solidFill>
                <a:latin typeface="Source Sans Pro" pitchFamily="34" charset="0"/>
                <a:ea typeface="Source Sans Pro" pitchFamily="34" charset="-122"/>
                <a:cs typeface="Source Sans Pro" pitchFamily="34" charset="-120"/>
              </a:rPr>
              <a:t>Data Preprocessing: Clean and preprocess the data.</a:t>
            </a:r>
            <a:endParaRPr lang="en-US" sz="1750" dirty="0"/>
          </a:p>
        </p:txBody>
      </p:sp>
      <p:sp>
        <p:nvSpPr>
          <p:cNvPr id="10" name="Text 8"/>
          <p:cNvSpPr/>
          <p:nvPr/>
        </p:nvSpPr>
        <p:spPr>
          <a:xfrm>
            <a:off x="7949089" y="4668917"/>
            <a:ext cx="4340304" cy="1421606"/>
          </a:xfrm>
          <a:prstGeom prst="rect">
            <a:avLst/>
          </a:prstGeom>
          <a:noFill/>
          <a:ln/>
        </p:spPr>
        <p:txBody>
          <a:bodyPr wrap="square" rtlCol="0" anchor="t"/>
          <a:lstStyle/>
          <a:p>
            <a:pPr algn="l" marL="342900" indent="-342900">
              <a:lnSpc>
                <a:spcPts val="2799"/>
              </a:lnSpc>
              <a:buSzPct val="100000"/>
              <a:buFont typeface="+mj-lt"/>
              <a:buAutoNum type="arabicPeriod" startAt="3"/>
            </a:pPr>
            <a:r>
              <a:rPr lang="en-US" sz="1750" dirty="0">
                <a:solidFill>
                  <a:srgbClr val="3A3630"/>
                </a:solidFill>
                <a:latin typeface="Source Sans Pro" pitchFamily="34" charset="0"/>
                <a:ea typeface="Source Sans Pro" pitchFamily="34" charset="-122"/>
                <a:cs typeface="Source Sans Pro" pitchFamily="34" charset="-120"/>
              </a:rPr>
              <a:t>Model Design and Development: Design and develop a hybrid model combining Convolutional Neural Networks (CNNs) and Hidden Markov Models (HMMs).</a:t>
            </a:r>
            <a:endParaRPr lang="en-US" sz="1750" dirty="0"/>
          </a:p>
        </p:txBody>
      </p:sp>
      <p:sp>
        <p:nvSpPr>
          <p:cNvPr id="11" name="Text 9"/>
          <p:cNvSpPr/>
          <p:nvPr/>
        </p:nvSpPr>
        <p:spPr>
          <a:xfrm>
            <a:off x="7949089" y="6179344"/>
            <a:ext cx="4340304" cy="710803"/>
          </a:xfrm>
          <a:prstGeom prst="rect">
            <a:avLst/>
          </a:prstGeom>
          <a:noFill/>
          <a:ln/>
        </p:spPr>
        <p:txBody>
          <a:bodyPr wrap="square" rtlCol="0" anchor="t"/>
          <a:lstStyle/>
          <a:p>
            <a:pPr algn="l" marL="342900" indent="-342900">
              <a:lnSpc>
                <a:spcPts val="2799"/>
              </a:lnSpc>
              <a:buSzPct val="100000"/>
              <a:buFont typeface="+mj-lt"/>
              <a:buAutoNum type="arabicPeriod" startAt="4"/>
            </a:pPr>
            <a:r>
              <a:rPr lang="en-US" sz="1750" dirty="0">
                <a:solidFill>
                  <a:srgbClr val="3A3630"/>
                </a:solidFill>
                <a:latin typeface="Source Sans Pro" pitchFamily="34" charset="0"/>
                <a:ea typeface="Source Sans Pro" pitchFamily="34" charset="-122"/>
                <a:cs typeface="Source Sans Pro" pitchFamily="34" charset="-120"/>
              </a:rPr>
              <a:t>Model Testing and Evaluation: Test the model and determine its accuracy.</a:t>
            </a:r>
            <a:endParaRPr lang="en-US" sz="1750" dirty="0"/>
          </a:p>
        </p:txBody>
      </p:sp>
      <p:pic>
        <p:nvPicPr>
          <p:cNvPr id="12" name="Image 0" descr="preencoded.png">
            <a:hlinkClick r:id="rId2" tooltip=""/>
          </p:cNvPr>
          <p:cNvPicPr>
            <a:picLocks noChangeAspect="1"/>
          </p:cNvPicPr>
          <p:nvPr/>
        </p:nvPicPr>
        <p:blipFill>
          <a:blip r:embed="rId1"/>
          <a:stretch>
            <a:fillRect/>
          </a:stretch>
        </p:blipFill>
        <p:spPr>
          <a:xfrm>
            <a:off x="12242153" y="7589520"/>
            <a:ext cx="2296807"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
        <p:nvSpPr>
          <p:cNvPr id="4" name="Text 2"/>
          <p:cNvSpPr/>
          <p:nvPr/>
        </p:nvSpPr>
        <p:spPr>
          <a:xfrm>
            <a:off x="2348389" y="732592"/>
            <a:ext cx="7554397" cy="694373"/>
          </a:xfrm>
          <a:prstGeom prst="rect">
            <a:avLst/>
          </a:prstGeom>
          <a:noFill/>
          <a:ln/>
        </p:spPr>
        <p:txBody>
          <a:bodyPr wrap="none" rtlCol="0" anchor="t"/>
          <a:lstStyle/>
          <a:p>
            <a:pPr indent="0" marL="0">
              <a:lnSpc>
                <a:spcPts val="5468"/>
              </a:lnSpc>
              <a:buNone/>
            </a:pPr>
            <a:r>
              <a:rPr lang="en-US" sz="4374" dirty="0">
                <a:solidFill>
                  <a:srgbClr val="38512F"/>
                </a:solidFill>
                <a:latin typeface="Lora" pitchFamily="34" charset="0"/>
                <a:ea typeface="Lora" pitchFamily="34" charset="-122"/>
                <a:cs typeface="Lora" pitchFamily="34" charset="-120"/>
              </a:rPr>
              <a:t>The Significance of the Study</a:t>
            </a:r>
            <a:endParaRPr lang="en-US" sz="4374" dirty="0"/>
          </a:p>
        </p:txBody>
      </p:sp>
      <p:sp>
        <p:nvSpPr>
          <p:cNvPr id="5" name="Shape 3"/>
          <p:cNvSpPr/>
          <p:nvPr/>
        </p:nvSpPr>
        <p:spPr>
          <a:xfrm>
            <a:off x="2348389" y="1871305"/>
            <a:ext cx="4855726" cy="2701766"/>
          </a:xfrm>
          <a:prstGeom prst="roundRect">
            <a:avLst>
              <a:gd name="adj" fmla="val 2467"/>
            </a:avLst>
          </a:prstGeom>
          <a:solidFill>
            <a:srgbClr val="F6E9D5"/>
          </a:solidFill>
          <a:ln/>
        </p:spPr>
      </p:sp>
      <p:sp>
        <p:nvSpPr>
          <p:cNvPr id="6" name="Text 4"/>
          <p:cNvSpPr/>
          <p:nvPr/>
        </p:nvSpPr>
        <p:spPr>
          <a:xfrm>
            <a:off x="2570559" y="2093476"/>
            <a:ext cx="3899416" cy="347186"/>
          </a:xfrm>
          <a:prstGeom prst="rect">
            <a:avLst/>
          </a:prstGeom>
          <a:noFill/>
          <a:ln/>
        </p:spPr>
        <p:txBody>
          <a:bodyPr wrap="none" rtlCol="0" anchor="t"/>
          <a:lstStyle/>
          <a:p>
            <a:pPr indent="0" marL="0">
              <a:lnSpc>
                <a:spcPts val="2734"/>
              </a:lnSpc>
              <a:buNone/>
            </a:pPr>
            <a:r>
              <a:rPr lang="en-US" sz="2187" dirty="0">
                <a:solidFill>
                  <a:srgbClr val="38512F"/>
                </a:solidFill>
                <a:latin typeface="Lora" pitchFamily="34" charset="0"/>
                <a:ea typeface="Lora" pitchFamily="34" charset="-122"/>
                <a:cs typeface="Lora" pitchFamily="34" charset="-120"/>
              </a:rPr>
              <a:t>Human-Computer Interaction</a:t>
            </a:r>
            <a:endParaRPr lang="en-US" sz="2187" dirty="0"/>
          </a:p>
        </p:txBody>
      </p:sp>
      <p:sp>
        <p:nvSpPr>
          <p:cNvPr id="7" name="Text 5"/>
          <p:cNvSpPr/>
          <p:nvPr/>
        </p:nvSpPr>
        <p:spPr>
          <a:xfrm>
            <a:off x="2570559" y="2573893"/>
            <a:ext cx="4411385" cy="1777008"/>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This research enhances how humans interact with technology by offering the potential for more emotionally sensitive interfaces and adaptive systems that personalize user experiences.</a:t>
            </a:r>
            <a:endParaRPr lang="en-US" sz="1750" dirty="0"/>
          </a:p>
        </p:txBody>
      </p:sp>
      <p:sp>
        <p:nvSpPr>
          <p:cNvPr id="8" name="Shape 6"/>
          <p:cNvSpPr/>
          <p:nvPr/>
        </p:nvSpPr>
        <p:spPr>
          <a:xfrm>
            <a:off x="7426285" y="1871305"/>
            <a:ext cx="4855726" cy="2701766"/>
          </a:xfrm>
          <a:prstGeom prst="roundRect">
            <a:avLst>
              <a:gd name="adj" fmla="val 2467"/>
            </a:avLst>
          </a:prstGeom>
          <a:solidFill>
            <a:srgbClr val="F6E9D5"/>
          </a:solidFill>
          <a:ln/>
        </p:spPr>
      </p:sp>
      <p:sp>
        <p:nvSpPr>
          <p:cNvPr id="9" name="Text 7"/>
          <p:cNvSpPr/>
          <p:nvPr/>
        </p:nvSpPr>
        <p:spPr>
          <a:xfrm>
            <a:off x="7648456" y="2093476"/>
            <a:ext cx="2903458" cy="347186"/>
          </a:xfrm>
          <a:prstGeom prst="rect">
            <a:avLst/>
          </a:prstGeom>
          <a:noFill/>
          <a:ln/>
        </p:spPr>
        <p:txBody>
          <a:bodyPr wrap="none" rtlCol="0" anchor="t"/>
          <a:lstStyle/>
          <a:p>
            <a:pPr indent="0" marL="0">
              <a:lnSpc>
                <a:spcPts val="2734"/>
              </a:lnSpc>
              <a:buNone/>
            </a:pPr>
            <a:r>
              <a:rPr lang="en-US" sz="2187" dirty="0">
                <a:solidFill>
                  <a:srgbClr val="38512F"/>
                </a:solidFill>
                <a:latin typeface="Lora" pitchFamily="34" charset="0"/>
                <a:ea typeface="Lora" pitchFamily="34" charset="-122"/>
                <a:cs typeface="Lora" pitchFamily="34" charset="-120"/>
              </a:rPr>
              <a:t>Emotional Intelligence</a:t>
            </a:r>
            <a:endParaRPr lang="en-US" sz="2187" dirty="0"/>
          </a:p>
        </p:txBody>
      </p:sp>
      <p:sp>
        <p:nvSpPr>
          <p:cNvPr id="10" name="Text 8"/>
          <p:cNvSpPr/>
          <p:nvPr/>
        </p:nvSpPr>
        <p:spPr>
          <a:xfrm>
            <a:off x="7648456" y="2573893"/>
            <a:ext cx="4411385" cy="1777008"/>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Understanding the link between handwriting and emotions helps unravel the complexities of human emotional expression, potentially leading to tools that assist individuals in understanding and regulating their emotions.</a:t>
            </a:r>
            <a:endParaRPr lang="en-US" sz="1750" dirty="0"/>
          </a:p>
        </p:txBody>
      </p:sp>
      <p:sp>
        <p:nvSpPr>
          <p:cNvPr id="11" name="Shape 9"/>
          <p:cNvSpPr/>
          <p:nvPr/>
        </p:nvSpPr>
        <p:spPr>
          <a:xfrm>
            <a:off x="2348389" y="4795242"/>
            <a:ext cx="4855726" cy="2701766"/>
          </a:xfrm>
          <a:prstGeom prst="roundRect">
            <a:avLst>
              <a:gd name="adj" fmla="val 2467"/>
            </a:avLst>
          </a:prstGeom>
          <a:solidFill>
            <a:srgbClr val="F6E9D5"/>
          </a:solidFill>
          <a:ln/>
        </p:spPr>
      </p:sp>
      <p:sp>
        <p:nvSpPr>
          <p:cNvPr id="12" name="Text 10"/>
          <p:cNvSpPr/>
          <p:nvPr/>
        </p:nvSpPr>
        <p:spPr>
          <a:xfrm>
            <a:off x="2570559" y="5017413"/>
            <a:ext cx="3392210" cy="347186"/>
          </a:xfrm>
          <a:prstGeom prst="rect">
            <a:avLst/>
          </a:prstGeom>
          <a:noFill/>
          <a:ln/>
        </p:spPr>
        <p:txBody>
          <a:bodyPr wrap="none" rtlCol="0" anchor="t"/>
          <a:lstStyle/>
          <a:p>
            <a:pPr indent="0" marL="0">
              <a:lnSpc>
                <a:spcPts val="2734"/>
              </a:lnSpc>
              <a:buNone/>
            </a:pPr>
            <a:r>
              <a:rPr lang="en-US" sz="2187" dirty="0">
                <a:solidFill>
                  <a:srgbClr val="38512F"/>
                </a:solidFill>
                <a:latin typeface="Lora" pitchFamily="34" charset="0"/>
                <a:ea typeface="Lora" pitchFamily="34" charset="-122"/>
                <a:cs typeface="Lora" pitchFamily="34" charset="-120"/>
              </a:rPr>
              <a:t>Psychology and Education</a:t>
            </a:r>
            <a:endParaRPr lang="en-US" sz="2187" dirty="0"/>
          </a:p>
        </p:txBody>
      </p:sp>
      <p:sp>
        <p:nvSpPr>
          <p:cNvPr id="13" name="Text 11"/>
          <p:cNvSpPr/>
          <p:nvPr/>
        </p:nvSpPr>
        <p:spPr>
          <a:xfrm>
            <a:off x="2570559" y="5497830"/>
            <a:ext cx="4411385" cy="1777008"/>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This work could provide valuable insights for psychologists and inform the development of emotion-aware technologies to tailor learning experiences and create supportive environments for students.</a:t>
            </a:r>
            <a:endParaRPr lang="en-US" sz="1750" dirty="0"/>
          </a:p>
        </p:txBody>
      </p:sp>
      <p:sp>
        <p:nvSpPr>
          <p:cNvPr id="14" name="Shape 12"/>
          <p:cNvSpPr/>
          <p:nvPr/>
        </p:nvSpPr>
        <p:spPr>
          <a:xfrm>
            <a:off x="7426285" y="4795242"/>
            <a:ext cx="4855726" cy="2701766"/>
          </a:xfrm>
          <a:prstGeom prst="roundRect">
            <a:avLst>
              <a:gd name="adj" fmla="val 2467"/>
            </a:avLst>
          </a:prstGeom>
          <a:solidFill>
            <a:srgbClr val="F6E9D5"/>
          </a:solidFill>
          <a:ln/>
        </p:spPr>
      </p:sp>
      <p:sp>
        <p:nvSpPr>
          <p:cNvPr id="15" name="Text 13"/>
          <p:cNvSpPr/>
          <p:nvPr/>
        </p:nvSpPr>
        <p:spPr>
          <a:xfrm>
            <a:off x="7648456" y="5017413"/>
            <a:ext cx="2777490" cy="347186"/>
          </a:xfrm>
          <a:prstGeom prst="rect">
            <a:avLst/>
          </a:prstGeom>
          <a:noFill/>
          <a:ln/>
        </p:spPr>
        <p:txBody>
          <a:bodyPr wrap="none" rtlCol="0" anchor="t"/>
          <a:lstStyle/>
          <a:p>
            <a:pPr indent="0" marL="0">
              <a:lnSpc>
                <a:spcPts val="2734"/>
              </a:lnSpc>
              <a:buNone/>
            </a:pPr>
            <a:r>
              <a:rPr lang="en-US" sz="2187" dirty="0">
                <a:solidFill>
                  <a:srgbClr val="38512F"/>
                </a:solidFill>
                <a:latin typeface="Lora" pitchFamily="34" charset="0"/>
                <a:ea typeface="Lora" pitchFamily="34" charset="-122"/>
                <a:cs typeface="Lora" pitchFamily="34" charset="-120"/>
              </a:rPr>
              <a:t>Healthcare</a:t>
            </a:r>
            <a:endParaRPr lang="en-US" sz="2187" dirty="0"/>
          </a:p>
        </p:txBody>
      </p:sp>
      <p:sp>
        <p:nvSpPr>
          <p:cNvPr id="16" name="Text 14"/>
          <p:cNvSpPr/>
          <p:nvPr/>
        </p:nvSpPr>
        <p:spPr>
          <a:xfrm>
            <a:off x="7648456" y="5497830"/>
            <a:ext cx="4411385" cy="1421606"/>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This research could lay the groundwork for future exploration of handwriting-based emotion detection as a supplementary tool in mental health screening or monitoring.</a:t>
            </a:r>
            <a:endParaRPr lang="en-US" sz="1750" dirty="0"/>
          </a:p>
        </p:txBody>
      </p:sp>
      <p:pic>
        <p:nvPicPr>
          <p:cNvPr id="17" name="Image 0" descr="preencoded.png">
            <a:hlinkClick r:id="rId2" tooltip=""/>
          </p:cNvPr>
          <p:cNvPicPr>
            <a:picLocks noChangeAspect="1"/>
          </p:cNvPicPr>
          <p:nvPr/>
        </p:nvPicPr>
        <p:blipFill>
          <a:blip r:embed="rId1"/>
          <a:stretch>
            <a:fillRect/>
          </a:stretch>
        </p:blipFill>
        <p:spPr>
          <a:xfrm>
            <a:off x="12242153" y="7589520"/>
            <a:ext cx="2296807"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5" name="Shape 2"/>
          <p:cNvSpPr/>
          <p:nvPr/>
        </p:nvSpPr>
        <p:spPr>
          <a:xfrm>
            <a:off x="0" y="0"/>
            <a:ext cx="14630400" cy="8229600"/>
          </a:xfrm>
          <a:prstGeom prst="rect">
            <a:avLst/>
          </a:prstGeom>
          <a:solidFill>
            <a:srgbClr val="FEF5E7">
              <a:alpha val="85000"/>
            </a:srgbClr>
          </a:solidFill>
          <a:ln/>
        </p:spPr>
      </p:sp>
      <p:sp>
        <p:nvSpPr>
          <p:cNvPr id="6" name="Text 3"/>
          <p:cNvSpPr/>
          <p:nvPr/>
        </p:nvSpPr>
        <p:spPr>
          <a:xfrm>
            <a:off x="2348389" y="1572458"/>
            <a:ext cx="5739884" cy="694373"/>
          </a:xfrm>
          <a:prstGeom prst="rect">
            <a:avLst/>
          </a:prstGeom>
          <a:noFill/>
          <a:ln/>
        </p:spPr>
        <p:txBody>
          <a:bodyPr wrap="none" rtlCol="0" anchor="t"/>
          <a:lstStyle/>
          <a:p>
            <a:pPr indent="0" marL="0">
              <a:lnSpc>
                <a:spcPts val="5468"/>
              </a:lnSpc>
              <a:buNone/>
            </a:pPr>
            <a:r>
              <a:rPr lang="en-US" sz="4374" dirty="0">
                <a:solidFill>
                  <a:srgbClr val="38512F"/>
                </a:solidFill>
                <a:latin typeface="Lora" pitchFamily="34" charset="0"/>
                <a:ea typeface="Lora" pitchFamily="34" charset="-122"/>
                <a:cs typeface="Lora" pitchFamily="34" charset="-120"/>
              </a:rPr>
              <a:t>Scope and Limitations</a:t>
            </a:r>
            <a:endParaRPr lang="en-US" sz="4374" dirty="0"/>
          </a:p>
        </p:txBody>
      </p:sp>
      <p:pic>
        <p:nvPicPr>
          <p:cNvPr id="7" name="Image 1" descr="preencoded.png">    </p:cNvPr>
          <p:cNvPicPr>
            <a:picLocks noChangeAspect="1"/>
          </p:cNvPicPr>
          <p:nvPr/>
        </p:nvPicPr>
        <p:blipFill>
          <a:blip r:embed="rId2"/>
          <a:stretch>
            <a:fillRect/>
          </a:stretch>
        </p:blipFill>
        <p:spPr>
          <a:xfrm>
            <a:off x="2348389" y="2600087"/>
            <a:ext cx="4966692" cy="888682"/>
          </a:xfrm>
          <a:prstGeom prst="rect">
            <a:avLst/>
          </a:prstGeom>
        </p:spPr>
      </p:pic>
      <p:sp>
        <p:nvSpPr>
          <p:cNvPr id="8" name="Text 4"/>
          <p:cNvSpPr/>
          <p:nvPr/>
        </p:nvSpPr>
        <p:spPr>
          <a:xfrm>
            <a:off x="2570559" y="3822025"/>
            <a:ext cx="2777490" cy="347186"/>
          </a:xfrm>
          <a:prstGeom prst="rect">
            <a:avLst/>
          </a:prstGeom>
          <a:noFill/>
          <a:ln/>
        </p:spPr>
        <p:txBody>
          <a:bodyPr wrap="none" rtlCol="0" anchor="t"/>
          <a:lstStyle/>
          <a:p>
            <a:pPr algn="l" indent="0" marL="0">
              <a:lnSpc>
                <a:spcPts val="2734"/>
              </a:lnSpc>
              <a:buNone/>
            </a:pPr>
            <a:r>
              <a:rPr lang="en-US" sz="2187" dirty="0">
                <a:solidFill>
                  <a:srgbClr val="38512F"/>
                </a:solidFill>
                <a:latin typeface="Lora" pitchFamily="34" charset="0"/>
                <a:ea typeface="Lora" pitchFamily="34" charset="-122"/>
                <a:cs typeface="Lora" pitchFamily="34" charset="-120"/>
              </a:rPr>
              <a:t>Scope</a:t>
            </a:r>
            <a:endParaRPr lang="en-US" sz="2187" dirty="0"/>
          </a:p>
        </p:txBody>
      </p:sp>
      <p:sp>
        <p:nvSpPr>
          <p:cNvPr id="9" name="Text 5"/>
          <p:cNvSpPr/>
          <p:nvPr/>
        </p:nvSpPr>
        <p:spPr>
          <a:xfrm>
            <a:off x="2570559" y="4302443"/>
            <a:ext cx="4522351" cy="1777008"/>
          </a:xfrm>
          <a:prstGeom prst="rect">
            <a:avLst/>
          </a:prstGeom>
          <a:noFill/>
          <a:ln/>
        </p:spPr>
        <p:txBody>
          <a:bodyPr wrap="square" rtlCol="0" anchor="t"/>
          <a:lstStyle/>
          <a:p>
            <a:pPr algn="l"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Developing a new emotion recognition system from handwriting data that can identify emotions like happiness and sadness, using an approach that integrates CNNs, HMMs, and image processing techniques.</a:t>
            </a:r>
            <a:endParaRPr lang="en-US" sz="1750" dirty="0"/>
          </a:p>
        </p:txBody>
      </p:sp>
      <p:pic>
        <p:nvPicPr>
          <p:cNvPr id="10" name="Image 2" descr="preencoded.png">    </p:cNvPr>
          <p:cNvPicPr>
            <a:picLocks noChangeAspect="1"/>
          </p:cNvPicPr>
          <p:nvPr/>
        </p:nvPicPr>
        <p:blipFill>
          <a:blip r:embed="rId3"/>
          <a:stretch>
            <a:fillRect/>
          </a:stretch>
        </p:blipFill>
        <p:spPr>
          <a:xfrm>
            <a:off x="7315081" y="2600087"/>
            <a:ext cx="4966811" cy="888682"/>
          </a:xfrm>
          <a:prstGeom prst="rect">
            <a:avLst/>
          </a:prstGeom>
        </p:spPr>
      </p:pic>
      <p:sp>
        <p:nvSpPr>
          <p:cNvPr id="11" name="Text 6"/>
          <p:cNvSpPr/>
          <p:nvPr/>
        </p:nvSpPr>
        <p:spPr>
          <a:xfrm>
            <a:off x="7537252" y="3822025"/>
            <a:ext cx="2777490" cy="347186"/>
          </a:xfrm>
          <a:prstGeom prst="rect">
            <a:avLst/>
          </a:prstGeom>
          <a:noFill/>
          <a:ln/>
        </p:spPr>
        <p:txBody>
          <a:bodyPr wrap="none" rtlCol="0" anchor="t"/>
          <a:lstStyle/>
          <a:p>
            <a:pPr algn="l" indent="0" marL="0">
              <a:lnSpc>
                <a:spcPts val="2734"/>
              </a:lnSpc>
              <a:buNone/>
            </a:pPr>
            <a:r>
              <a:rPr lang="en-US" sz="2187" dirty="0">
                <a:solidFill>
                  <a:srgbClr val="38512F"/>
                </a:solidFill>
                <a:latin typeface="Lora" pitchFamily="34" charset="0"/>
                <a:ea typeface="Lora" pitchFamily="34" charset="-122"/>
                <a:cs typeface="Lora" pitchFamily="34" charset="-120"/>
              </a:rPr>
              <a:t>Limitations</a:t>
            </a:r>
            <a:endParaRPr lang="en-US" sz="2187" dirty="0"/>
          </a:p>
        </p:txBody>
      </p:sp>
      <p:sp>
        <p:nvSpPr>
          <p:cNvPr id="12" name="Text 7"/>
          <p:cNvSpPr/>
          <p:nvPr/>
        </p:nvSpPr>
        <p:spPr>
          <a:xfrm>
            <a:off x="7537252" y="4302443"/>
            <a:ext cx="4522470" cy="2132409"/>
          </a:xfrm>
          <a:prstGeom prst="rect">
            <a:avLst/>
          </a:prstGeom>
          <a:noFill/>
          <a:ln/>
        </p:spPr>
        <p:txBody>
          <a:bodyPr wrap="square" rtlCol="0" anchor="t"/>
          <a:lstStyle/>
          <a:p>
            <a:pPr algn="l"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The system's accuracy will depend on the quality and diversity of the handwriting samples, as well as the reliability of the emotional annotations. Factors like real-world deployment, noise, and ethical concerns will also need to be carefully considered.</a:t>
            </a:r>
            <a:endParaRPr lang="en-US" sz="1750" dirty="0"/>
          </a:p>
        </p:txBody>
      </p:sp>
      <p:pic>
        <p:nvPicPr>
          <p:cNvPr id="13" name="Image 3" descr="preencoded.png">
            <a:hlinkClick r:id="rId5" tooltip=""/>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2024-05-18T17:19:24Z</dcterms:created>
  <dcterms:modified xsi:type="dcterms:W3CDTF">2024-05-18T17:19:24Z</dcterms:modified>
</cp:coreProperties>
</file>