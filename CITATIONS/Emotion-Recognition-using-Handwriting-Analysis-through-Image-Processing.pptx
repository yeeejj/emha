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1-1.png"/><Relationship Id="rId2"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gamma.app" TargetMode="External"/><Relationship Id="rId1"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gamma.app" TargetMode="External"/><Relationship Id="rId1" Type="http://schemas.openxmlformats.org/officeDocument/2006/relationships/image" Target="../media/image-4-1.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gamma.app" TargetMode="External"/><Relationship Id="rId1"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6" Type="http://schemas.openxmlformats.org/officeDocument/2006/relationships/hyperlink" Target="https://gamma.app" TargetMode="Externa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6" Type="http://schemas.openxmlformats.org/officeDocument/2006/relationships/hyperlink" Target="https://gamma.app" TargetMode="Externa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gamma.app" TargetMode="External"/><Relationship Id="rId1" Type="http://schemas.openxmlformats.org/officeDocument/2006/relationships/image" Target="../media/image-8-1.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6" Type="http://schemas.openxmlformats.org/officeDocument/2006/relationships/hyperlink" Target="https://gamma.app" TargetMode="External"/><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3" Type="http://schemas.openxmlformats.org/officeDocument/2006/relationships/hyperlink" Target="https://gamma.app" TargetMode="Externa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p:cNvPr>
          <p:cNvPicPr>
            <a:picLocks noChangeAspect="1"/>
          </p:cNvPicPr>
          <p:nvPr/>
        </p:nvPicPr>
        <p:blipFill>
          <a:blip r:embed="rId1"/>
          <a:stretch>
            <a:fillRect/>
          </a:stretch>
        </p:blipFill>
        <p:spPr>
          <a:xfrm>
            <a:off x="9151620" y="0"/>
            <a:ext cx="5486400" cy="8229600"/>
          </a:xfrm>
          <a:prstGeom prst="rect">
            <a:avLst/>
          </a:prstGeom>
        </p:spPr>
      </p:pic>
      <p:sp>
        <p:nvSpPr>
          <p:cNvPr id="5" name="Text 2"/>
          <p:cNvSpPr/>
          <p:nvPr/>
        </p:nvSpPr>
        <p:spPr>
          <a:xfrm>
            <a:off x="808434" y="1230987"/>
            <a:ext cx="7527131" cy="3719513"/>
          </a:xfrm>
          <a:prstGeom prst="rect">
            <a:avLst/>
          </a:prstGeom>
          <a:noFill/>
          <a:ln/>
        </p:spPr>
        <p:txBody>
          <a:bodyPr wrap="square" rtlCol="0" anchor="t"/>
          <a:lstStyle/>
          <a:p>
            <a:pPr indent="0" marL="0">
              <a:lnSpc>
                <a:spcPts val="7321"/>
              </a:lnSpc>
              <a:buNone/>
            </a:pPr>
            <a:r>
              <a:rPr lang="en-US" sz="5857" dirty="0">
                <a:solidFill>
                  <a:srgbClr val="38512F"/>
                </a:solidFill>
                <a:latin typeface="Lora" pitchFamily="34" charset="0"/>
                <a:ea typeface="Lora" pitchFamily="34" charset="-122"/>
                <a:cs typeface="Lora" pitchFamily="34" charset="-120"/>
              </a:rPr>
              <a:t>Emotion Recognition using Handwriting Analysis through Image Processing</a:t>
            </a:r>
            <a:endParaRPr lang="en-US" sz="5857" dirty="0"/>
          </a:p>
        </p:txBody>
      </p:sp>
      <p:sp>
        <p:nvSpPr>
          <p:cNvPr id="6" name="Text 3"/>
          <p:cNvSpPr/>
          <p:nvPr/>
        </p:nvSpPr>
        <p:spPr>
          <a:xfrm>
            <a:off x="808434" y="5273873"/>
            <a:ext cx="7527131" cy="1724620"/>
          </a:xfrm>
          <a:prstGeom prst="rect">
            <a:avLst/>
          </a:prstGeom>
          <a:noFill/>
          <a:ln/>
        </p:spPr>
        <p:txBody>
          <a:bodyPr wrap="square" rtlCol="0" anchor="t"/>
          <a:lstStyle/>
          <a:p>
            <a:pPr indent="0" marL="0">
              <a:lnSpc>
                <a:spcPts val="2716"/>
              </a:lnSpc>
              <a:buNone/>
            </a:pPr>
            <a:r>
              <a:rPr lang="en-US" sz="1698" dirty="0">
                <a:solidFill>
                  <a:srgbClr val="3A3630"/>
                </a:solidFill>
                <a:latin typeface="Source Sans Pro" pitchFamily="34" charset="0"/>
                <a:ea typeface="Source Sans Pro" pitchFamily="34" charset="-122"/>
                <a:cs typeface="Source Sans Pro" pitchFamily="34" charset="-120"/>
              </a:rPr>
              <a:t> This study aims to develop and evaluate a machine learning system capable of accurately classifying emotional states from handwriting samples. By investigating the connection between handwriting characteristics and emotional expression, this research hopes to expand the ways humans can interact with technology and provide valuable insights for fields like psychology, education, and healthcare.</a:t>
            </a:r>
            <a:endParaRPr lang="en-US" sz="1698" dirty="0"/>
          </a:p>
        </p:txBody>
      </p:sp>
      <p:pic>
        <p:nvPicPr>
          <p:cNvPr id="7"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p:cNvPr>
          <p:cNvPicPr>
            <a:picLocks noChangeAspect="1"/>
          </p:cNvPicPr>
          <p:nvPr/>
        </p:nvPicPr>
        <p:blipFill>
          <a:blip r:embed="rId1"/>
          <a:stretch>
            <a:fillRect/>
          </a:stretch>
        </p:blipFill>
        <p:spPr>
          <a:xfrm>
            <a:off x="-7620" y="0"/>
            <a:ext cx="3657600" cy="8229600"/>
          </a:xfrm>
          <a:prstGeom prst="rect">
            <a:avLst/>
          </a:prstGeom>
        </p:spPr>
      </p:pic>
      <p:sp>
        <p:nvSpPr>
          <p:cNvPr id="5" name="Text 2"/>
          <p:cNvSpPr/>
          <p:nvPr/>
        </p:nvSpPr>
        <p:spPr>
          <a:xfrm>
            <a:off x="4943356" y="816650"/>
            <a:ext cx="4804648" cy="587216"/>
          </a:xfrm>
          <a:prstGeom prst="rect">
            <a:avLst/>
          </a:prstGeom>
          <a:noFill/>
          <a:ln/>
        </p:spPr>
        <p:txBody>
          <a:bodyPr wrap="none" rtlCol="0" anchor="t"/>
          <a:lstStyle/>
          <a:p>
            <a:pPr indent="0" marL="0">
              <a:lnSpc>
                <a:spcPts val="4624"/>
              </a:lnSpc>
              <a:buNone/>
            </a:pPr>
            <a:r>
              <a:rPr lang="en-US" sz="3699" dirty="0">
                <a:solidFill>
                  <a:srgbClr val="38512F"/>
                </a:solidFill>
                <a:latin typeface="Lora" pitchFamily="34" charset="0"/>
                <a:ea typeface="Lora" pitchFamily="34" charset="-122"/>
                <a:cs typeface="Lora" pitchFamily="34" charset="-120"/>
              </a:rPr>
              <a:t>Rationale of the Study</a:t>
            </a:r>
            <a:endParaRPr lang="en-US" sz="3699" dirty="0"/>
          </a:p>
        </p:txBody>
      </p:sp>
      <p:sp>
        <p:nvSpPr>
          <p:cNvPr id="6" name="Shape 3"/>
          <p:cNvSpPr/>
          <p:nvPr/>
        </p:nvSpPr>
        <p:spPr>
          <a:xfrm>
            <a:off x="5213509" y="1685687"/>
            <a:ext cx="23455" cy="5727263"/>
          </a:xfrm>
          <a:prstGeom prst="rect">
            <a:avLst/>
          </a:prstGeom>
          <a:solidFill>
            <a:srgbClr val="38512F"/>
          </a:solidFill>
          <a:ln/>
        </p:spPr>
      </p:sp>
      <p:sp>
        <p:nvSpPr>
          <p:cNvPr id="7" name="Shape 4"/>
          <p:cNvSpPr/>
          <p:nvPr/>
        </p:nvSpPr>
        <p:spPr>
          <a:xfrm>
            <a:off x="5436572" y="2032099"/>
            <a:ext cx="657701" cy="23455"/>
          </a:xfrm>
          <a:prstGeom prst="rect">
            <a:avLst/>
          </a:prstGeom>
          <a:solidFill>
            <a:srgbClr val="38512F"/>
          </a:solidFill>
          <a:ln/>
        </p:spPr>
      </p:sp>
      <p:sp>
        <p:nvSpPr>
          <p:cNvPr id="8" name="Shape 5"/>
          <p:cNvSpPr/>
          <p:nvPr/>
        </p:nvSpPr>
        <p:spPr>
          <a:xfrm>
            <a:off x="5013781" y="1832491"/>
            <a:ext cx="422791" cy="422791"/>
          </a:xfrm>
          <a:prstGeom prst="roundRect">
            <a:avLst>
              <a:gd name="adj" fmla="val 13334"/>
            </a:avLst>
          </a:prstGeom>
          <a:solidFill>
            <a:srgbClr val="F6E9D5"/>
          </a:solidFill>
          <a:ln/>
        </p:spPr>
      </p:sp>
      <p:sp>
        <p:nvSpPr>
          <p:cNvPr id="9" name="Text 6"/>
          <p:cNvSpPr/>
          <p:nvPr/>
        </p:nvSpPr>
        <p:spPr>
          <a:xfrm>
            <a:off x="5173801" y="1867614"/>
            <a:ext cx="102632" cy="352425"/>
          </a:xfrm>
          <a:prstGeom prst="rect">
            <a:avLst/>
          </a:prstGeom>
          <a:noFill/>
          <a:ln/>
        </p:spPr>
        <p:txBody>
          <a:bodyPr wrap="none" rtlCol="0" anchor="t"/>
          <a:lstStyle/>
          <a:p>
            <a:pPr algn="ctr" indent="0" marL="0">
              <a:lnSpc>
                <a:spcPts val="2774"/>
              </a:lnSpc>
              <a:buNone/>
            </a:pPr>
            <a:r>
              <a:rPr lang="en-US" sz="2220" dirty="0">
                <a:solidFill>
                  <a:srgbClr val="38512F"/>
                </a:solidFill>
                <a:latin typeface="Lora" pitchFamily="34" charset="0"/>
                <a:ea typeface="Lora" pitchFamily="34" charset="-122"/>
                <a:cs typeface="Lora" pitchFamily="34" charset="-120"/>
              </a:rPr>
              <a:t>1</a:t>
            </a:r>
            <a:endParaRPr lang="en-US" sz="2220" dirty="0"/>
          </a:p>
        </p:txBody>
      </p:sp>
      <p:sp>
        <p:nvSpPr>
          <p:cNvPr id="10" name="Text 7"/>
          <p:cNvSpPr/>
          <p:nvPr/>
        </p:nvSpPr>
        <p:spPr>
          <a:xfrm>
            <a:off x="6258639" y="1873568"/>
            <a:ext cx="3553420" cy="293608"/>
          </a:xfrm>
          <a:prstGeom prst="rect">
            <a:avLst/>
          </a:prstGeom>
          <a:noFill/>
          <a:ln/>
        </p:spPr>
        <p:txBody>
          <a:bodyPr wrap="none" rtlCol="0" anchor="t"/>
          <a:lstStyle/>
          <a:p>
            <a:pPr algn="l" indent="0" marL="0">
              <a:lnSpc>
                <a:spcPts val="2312"/>
              </a:lnSpc>
              <a:buNone/>
            </a:pPr>
            <a:r>
              <a:rPr lang="en-US" sz="1850" dirty="0">
                <a:solidFill>
                  <a:srgbClr val="38512F"/>
                </a:solidFill>
                <a:latin typeface="Lora" pitchFamily="34" charset="0"/>
                <a:ea typeface="Lora" pitchFamily="34" charset="-122"/>
                <a:cs typeface="Lora" pitchFamily="34" charset="-120"/>
              </a:rPr>
              <a:t>Emotion Recognition Challenges</a:t>
            </a:r>
            <a:endParaRPr lang="en-US" sz="1850" dirty="0"/>
          </a:p>
        </p:txBody>
      </p:sp>
      <p:sp>
        <p:nvSpPr>
          <p:cNvPr id="11" name="Text 8"/>
          <p:cNvSpPr/>
          <p:nvPr/>
        </p:nvSpPr>
        <p:spPr>
          <a:xfrm>
            <a:off x="6258639" y="2279928"/>
            <a:ext cx="7085886" cy="1202055"/>
          </a:xfrm>
          <a:prstGeom prst="rect">
            <a:avLst/>
          </a:prstGeom>
          <a:noFill/>
          <a:ln/>
        </p:spPr>
        <p:txBody>
          <a:bodyPr wrap="square" rtlCol="0" anchor="t"/>
          <a:lstStyle/>
          <a:p>
            <a:pPr algn="l" indent="0" marL="0">
              <a:lnSpc>
                <a:spcPts val="2368"/>
              </a:lnSpc>
              <a:buNone/>
            </a:pPr>
            <a:r>
              <a:rPr lang="en-US" sz="1480" dirty="0">
                <a:solidFill>
                  <a:srgbClr val="3A3630"/>
                </a:solidFill>
                <a:latin typeface="Source Sans Pro" pitchFamily="34" charset="0"/>
                <a:ea typeface="Source Sans Pro" pitchFamily="34" charset="-122"/>
                <a:cs typeface="Source Sans Pro" pitchFamily="34" charset="-120"/>
              </a:rPr>
              <a:t>While present approaches that rely on physiological signals, verbal inflections, and facial expressions are helpful, they often fall short when it comes to conveying the nuanced nuances of human emotions. The need for more comprehensive emotion detection systems has been highlighted in recent research.</a:t>
            </a:r>
            <a:endParaRPr lang="en-US" sz="1480" dirty="0"/>
          </a:p>
        </p:txBody>
      </p:sp>
      <p:sp>
        <p:nvSpPr>
          <p:cNvPr id="12" name="Shape 9"/>
          <p:cNvSpPr/>
          <p:nvPr/>
        </p:nvSpPr>
        <p:spPr>
          <a:xfrm>
            <a:off x="5436572" y="4204156"/>
            <a:ext cx="657701" cy="23455"/>
          </a:xfrm>
          <a:prstGeom prst="rect">
            <a:avLst/>
          </a:prstGeom>
          <a:solidFill>
            <a:srgbClr val="38512F"/>
          </a:solidFill>
          <a:ln/>
        </p:spPr>
      </p:sp>
      <p:sp>
        <p:nvSpPr>
          <p:cNvPr id="13" name="Shape 10"/>
          <p:cNvSpPr/>
          <p:nvPr/>
        </p:nvSpPr>
        <p:spPr>
          <a:xfrm>
            <a:off x="5013781" y="4004548"/>
            <a:ext cx="422791" cy="422791"/>
          </a:xfrm>
          <a:prstGeom prst="roundRect">
            <a:avLst>
              <a:gd name="adj" fmla="val 13334"/>
            </a:avLst>
          </a:prstGeom>
          <a:solidFill>
            <a:srgbClr val="F6E9D5"/>
          </a:solidFill>
          <a:ln/>
        </p:spPr>
      </p:sp>
      <p:sp>
        <p:nvSpPr>
          <p:cNvPr id="14" name="Text 11"/>
          <p:cNvSpPr/>
          <p:nvPr/>
        </p:nvSpPr>
        <p:spPr>
          <a:xfrm>
            <a:off x="5149394" y="4039672"/>
            <a:ext cx="151448" cy="352425"/>
          </a:xfrm>
          <a:prstGeom prst="rect">
            <a:avLst/>
          </a:prstGeom>
          <a:noFill/>
          <a:ln/>
        </p:spPr>
        <p:txBody>
          <a:bodyPr wrap="none" rtlCol="0" anchor="t"/>
          <a:lstStyle/>
          <a:p>
            <a:pPr algn="ctr" indent="0" marL="0">
              <a:lnSpc>
                <a:spcPts val="2774"/>
              </a:lnSpc>
              <a:buNone/>
            </a:pPr>
            <a:r>
              <a:rPr lang="en-US" sz="2220" dirty="0">
                <a:solidFill>
                  <a:srgbClr val="38512F"/>
                </a:solidFill>
                <a:latin typeface="Lora" pitchFamily="34" charset="0"/>
                <a:ea typeface="Lora" pitchFamily="34" charset="-122"/>
                <a:cs typeface="Lora" pitchFamily="34" charset="-120"/>
              </a:rPr>
              <a:t>2</a:t>
            </a:r>
            <a:endParaRPr lang="en-US" sz="2220" dirty="0"/>
          </a:p>
        </p:txBody>
      </p:sp>
      <p:sp>
        <p:nvSpPr>
          <p:cNvPr id="15" name="Text 12"/>
          <p:cNvSpPr/>
          <p:nvPr/>
        </p:nvSpPr>
        <p:spPr>
          <a:xfrm>
            <a:off x="6258639" y="4045625"/>
            <a:ext cx="4227909" cy="293608"/>
          </a:xfrm>
          <a:prstGeom prst="rect">
            <a:avLst/>
          </a:prstGeom>
          <a:noFill/>
          <a:ln/>
        </p:spPr>
        <p:txBody>
          <a:bodyPr wrap="none" rtlCol="0" anchor="t"/>
          <a:lstStyle/>
          <a:p>
            <a:pPr algn="l" indent="0" marL="0">
              <a:lnSpc>
                <a:spcPts val="2312"/>
              </a:lnSpc>
              <a:buNone/>
            </a:pPr>
            <a:r>
              <a:rPr lang="en-US" sz="1850" dirty="0">
                <a:solidFill>
                  <a:srgbClr val="38512F"/>
                </a:solidFill>
                <a:latin typeface="Lora" pitchFamily="34" charset="0"/>
                <a:ea typeface="Lora" pitchFamily="34" charset="-122"/>
                <a:cs typeface="Lora" pitchFamily="34" charset="-120"/>
              </a:rPr>
              <a:t>Handwriting as an Emotional Indicator</a:t>
            </a:r>
            <a:endParaRPr lang="en-US" sz="1850" dirty="0"/>
          </a:p>
        </p:txBody>
      </p:sp>
      <p:sp>
        <p:nvSpPr>
          <p:cNvPr id="16" name="Text 13"/>
          <p:cNvSpPr/>
          <p:nvPr/>
        </p:nvSpPr>
        <p:spPr>
          <a:xfrm>
            <a:off x="6258639" y="4451985"/>
            <a:ext cx="7085886" cy="901541"/>
          </a:xfrm>
          <a:prstGeom prst="rect">
            <a:avLst/>
          </a:prstGeom>
          <a:noFill/>
          <a:ln/>
        </p:spPr>
        <p:txBody>
          <a:bodyPr wrap="square" rtlCol="0" anchor="t"/>
          <a:lstStyle/>
          <a:p>
            <a:pPr algn="l" indent="0" marL="0">
              <a:lnSpc>
                <a:spcPts val="2368"/>
              </a:lnSpc>
              <a:buNone/>
            </a:pPr>
            <a:r>
              <a:rPr lang="en-US" sz="1480" dirty="0">
                <a:solidFill>
                  <a:srgbClr val="3A3630"/>
                </a:solidFill>
                <a:latin typeface="Source Sans Pro" pitchFamily="34" charset="0"/>
                <a:ea typeface="Source Sans Pro" pitchFamily="34" charset="-122"/>
                <a:cs typeface="Source Sans Pro" pitchFamily="34" charset="-120"/>
              </a:rPr>
              <a:t>An individual's emotional state is strongly related to their handwriting characteristics, providing the conceptual basis for this study. Features like font size, word spacing, slant, and pen pressure can reveal insights about the writer's emotional state.</a:t>
            </a:r>
            <a:endParaRPr lang="en-US" sz="1480" dirty="0"/>
          </a:p>
        </p:txBody>
      </p:sp>
      <p:sp>
        <p:nvSpPr>
          <p:cNvPr id="17" name="Shape 14"/>
          <p:cNvSpPr/>
          <p:nvPr/>
        </p:nvSpPr>
        <p:spPr>
          <a:xfrm>
            <a:off x="5436572" y="6075700"/>
            <a:ext cx="657701" cy="23455"/>
          </a:xfrm>
          <a:prstGeom prst="rect">
            <a:avLst/>
          </a:prstGeom>
          <a:solidFill>
            <a:srgbClr val="38512F"/>
          </a:solidFill>
          <a:ln/>
        </p:spPr>
      </p:sp>
      <p:sp>
        <p:nvSpPr>
          <p:cNvPr id="18" name="Shape 15"/>
          <p:cNvSpPr/>
          <p:nvPr/>
        </p:nvSpPr>
        <p:spPr>
          <a:xfrm>
            <a:off x="5013781" y="5876092"/>
            <a:ext cx="422791" cy="422791"/>
          </a:xfrm>
          <a:prstGeom prst="roundRect">
            <a:avLst>
              <a:gd name="adj" fmla="val 13334"/>
            </a:avLst>
          </a:prstGeom>
          <a:solidFill>
            <a:srgbClr val="F6E9D5"/>
          </a:solidFill>
          <a:ln/>
        </p:spPr>
      </p:sp>
      <p:sp>
        <p:nvSpPr>
          <p:cNvPr id="19" name="Text 16"/>
          <p:cNvSpPr/>
          <p:nvPr/>
        </p:nvSpPr>
        <p:spPr>
          <a:xfrm>
            <a:off x="5146655" y="5911215"/>
            <a:ext cx="157043" cy="352425"/>
          </a:xfrm>
          <a:prstGeom prst="rect">
            <a:avLst/>
          </a:prstGeom>
          <a:noFill/>
          <a:ln/>
        </p:spPr>
        <p:txBody>
          <a:bodyPr wrap="none" rtlCol="0" anchor="t"/>
          <a:lstStyle/>
          <a:p>
            <a:pPr algn="ctr" indent="0" marL="0">
              <a:lnSpc>
                <a:spcPts val="2774"/>
              </a:lnSpc>
              <a:buNone/>
            </a:pPr>
            <a:r>
              <a:rPr lang="en-US" sz="2220" dirty="0">
                <a:solidFill>
                  <a:srgbClr val="38512F"/>
                </a:solidFill>
                <a:latin typeface="Lora" pitchFamily="34" charset="0"/>
                <a:ea typeface="Lora" pitchFamily="34" charset="-122"/>
                <a:cs typeface="Lora" pitchFamily="34" charset="-120"/>
              </a:rPr>
              <a:t>3</a:t>
            </a:r>
            <a:endParaRPr lang="en-US" sz="2220" dirty="0"/>
          </a:p>
        </p:txBody>
      </p:sp>
      <p:sp>
        <p:nvSpPr>
          <p:cNvPr id="20" name="Text 17"/>
          <p:cNvSpPr/>
          <p:nvPr/>
        </p:nvSpPr>
        <p:spPr>
          <a:xfrm>
            <a:off x="6258639" y="5917168"/>
            <a:ext cx="2386013" cy="293608"/>
          </a:xfrm>
          <a:prstGeom prst="rect">
            <a:avLst/>
          </a:prstGeom>
          <a:noFill/>
          <a:ln/>
        </p:spPr>
        <p:txBody>
          <a:bodyPr wrap="none" rtlCol="0" anchor="t"/>
          <a:lstStyle/>
          <a:p>
            <a:pPr algn="l" indent="0" marL="0">
              <a:lnSpc>
                <a:spcPts val="2312"/>
              </a:lnSpc>
              <a:buNone/>
            </a:pPr>
            <a:r>
              <a:rPr lang="en-US" sz="1850" dirty="0">
                <a:solidFill>
                  <a:srgbClr val="38512F"/>
                </a:solidFill>
                <a:latin typeface="Lora" pitchFamily="34" charset="0"/>
                <a:ea typeface="Lora" pitchFamily="34" charset="-122"/>
                <a:cs typeface="Lora" pitchFamily="34" charset="-120"/>
              </a:rPr>
              <a:t>Potential Applications</a:t>
            </a:r>
            <a:endParaRPr lang="en-US" sz="1850" dirty="0"/>
          </a:p>
        </p:txBody>
      </p:sp>
      <p:sp>
        <p:nvSpPr>
          <p:cNvPr id="21" name="Text 18"/>
          <p:cNvSpPr/>
          <p:nvPr/>
        </p:nvSpPr>
        <p:spPr>
          <a:xfrm>
            <a:off x="6258639" y="6323528"/>
            <a:ext cx="7085886" cy="901541"/>
          </a:xfrm>
          <a:prstGeom prst="rect">
            <a:avLst/>
          </a:prstGeom>
          <a:noFill/>
          <a:ln/>
        </p:spPr>
        <p:txBody>
          <a:bodyPr wrap="square" rtlCol="0" anchor="t"/>
          <a:lstStyle/>
          <a:p>
            <a:pPr algn="l" indent="0" marL="0">
              <a:lnSpc>
                <a:spcPts val="2368"/>
              </a:lnSpc>
              <a:buNone/>
            </a:pPr>
            <a:r>
              <a:rPr lang="en-US" sz="1480" dirty="0">
                <a:solidFill>
                  <a:srgbClr val="3A3630"/>
                </a:solidFill>
                <a:latin typeface="Source Sans Pro" pitchFamily="34" charset="0"/>
                <a:ea typeface="Source Sans Pro" pitchFamily="34" charset="-122"/>
                <a:cs typeface="Source Sans Pro" pitchFamily="34" charset="-120"/>
              </a:rPr>
              <a:t>Developing an emotion recognition system from handwriting data could lead to more emotionally sensitive interfaces, adaptive systems that personalize experiences, and tools that assist individuals in understanding and managing their emotions.</a:t>
            </a:r>
            <a:endParaRPr lang="en-US" sz="1480" dirty="0"/>
          </a:p>
        </p:txBody>
      </p:sp>
      <p:pic>
        <p:nvPicPr>
          <p:cNvPr id="22"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sp>
        <p:nvSpPr>
          <p:cNvPr id="4" name="Text 2"/>
          <p:cNvSpPr/>
          <p:nvPr/>
        </p:nvSpPr>
        <p:spPr>
          <a:xfrm>
            <a:off x="2348389" y="1150501"/>
            <a:ext cx="7096125" cy="694373"/>
          </a:xfrm>
          <a:prstGeom prst="rect">
            <a:avLst/>
          </a:prstGeom>
          <a:noFill/>
          <a:ln/>
        </p:spPr>
        <p:txBody>
          <a:bodyPr wrap="none" rtlCol="0" anchor="t"/>
          <a:lstStyle/>
          <a:p>
            <a:pPr indent="0" marL="0">
              <a:lnSpc>
                <a:spcPts val="5468"/>
              </a:lnSpc>
              <a:buNone/>
            </a:pPr>
            <a:r>
              <a:rPr lang="en-US" sz="4374" dirty="0">
                <a:solidFill>
                  <a:srgbClr val="38512F"/>
                </a:solidFill>
                <a:latin typeface="Lora" pitchFamily="34" charset="0"/>
                <a:ea typeface="Lora" pitchFamily="34" charset="-122"/>
                <a:cs typeface="Lora" pitchFamily="34" charset="-120"/>
              </a:rPr>
              <a:t>Objectives and Significance</a:t>
            </a:r>
            <a:endParaRPr lang="en-US" sz="4374" dirty="0"/>
          </a:p>
        </p:txBody>
      </p:sp>
      <p:sp>
        <p:nvSpPr>
          <p:cNvPr id="5" name="Text 3"/>
          <p:cNvSpPr/>
          <p:nvPr/>
        </p:nvSpPr>
        <p:spPr>
          <a:xfrm>
            <a:off x="2348389" y="2400300"/>
            <a:ext cx="2777490" cy="347186"/>
          </a:xfrm>
          <a:prstGeom prst="rect">
            <a:avLst/>
          </a:prstGeom>
          <a:noFill/>
          <a:ln/>
        </p:spPr>
        <p:txBody>
          <a:bodyPr wrap="none" rtlCol="0" anchor="t"/>
          <a:lstStyle/>
          <a:p>
            <a:pPr indent="0" marL="0">
              <a:lnSpc>
                <a:spcPts val="2734"/>
              </a:lnSpc>
              <a:buNone/>
            </a:pPr>
            <a:r>
              <a:rPr lang="en-US" sz="2187" dirty="0">
                <a:solidFill>
                  <a:srgbClr val="38512F"/>
                </a:solidFill>
                <a:latin typeface="Lora" pitchFamily="34" charset="0"/>
                <a:ea typeface="Lora" pitchFamily="34" charset="-122"/>
                <a:cs typeface="Lora" pitchFamily="34" charset="-120"/>
              </a:rPr>
              <a:t>Research Objectives</a:t>
            </a:r>
            <a:endParaRPr lang="en-US" sz="2187" dirty="0"/>
          </a:p>
        </p:txBody>
      </p:sp>
      <p:sp>
        <p:nvSpPr>
          <p:cNvPr id="6" name="Text 4"/>
          <p:cNvSpPr/>
          <p:nvPr/>
        </p:nvSpPr>
        <p:spPr>
          <a:xfrm>
            <a:off x="2348389" y="2969657"/>
            <a:ext cx="2949416" cy="3554016"/>
          </a:xfrm>
          <a:prstGeom prst="rect">
            <a:avLst/>
          </a:prstGeom>
          <a:noFill/>
          <a:ln/>
        </p:spPr>
        <p:txBody>
          <a:bodyPr wrap="square" rtlCol="0" anchor="t"/>
          <a:lstStyle/>
          <a:p>
            <a:pPr indent="0" marL="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The general objective is to develop and evaluate a machine learning system capable of accurately classifying emotional states from handwriting samples. Specific objectives include data preprocessing, designing a CNN-HMM model, and testing the model's accuracy.</a:t>
            </a:r>
            <a:endParaRPr lang="en-US" sz="1750" dirty="0"/>
          </a:p>
        </p:txBody>
      </p:sp>
      <p:sp>
        <p:nvSpPr>
          <p:cNvPr id="7" name="Text 5"/>
          <p:cNvSpPr/>
          <p:nvPr/>
        </p:nvSpPr>
        <p:spPr>
          <a:xfrm>
            <a:off x="5847398" y="2400300"/>
            <a:ext cx="2777490" cy="347186"/>
          </a:xfrm>
          <a:prstGeom prst="rect">
            <a:avLst/>
          </a:prstGeom>
          <a:noFill/>
          <a:ln/>
        </p:spPr>
        <p:txBody>
          <a:bodyPr wrap="none" rtlCol="0" anchor="t"/>
          <a:lstStyle/>
          <a:p>
            <a:pPr indent="0" marL="0">
              <a:lnSpc>
                <a:spcPts val="2734"/>
              </a:lnSpc>
              <a:buNone/>
            </a:pPr>
            <a:r>
              <a:rPr lang="en-US" sz="2187" dirty="0">
                <a:solidFill>
                  <a:srgbClr val="38512F"/>
                </a:solidFill>
                <a:latin typeface="Lora" pitchFamily="34" charset="0"/>
                <a:ea typeface="Lora" pitchFamily="34" charset="-122"/>
                <a:cs typeface="Lora" pitchFamily="34" charset="-120"/>
              </a:rPr>
              <a:t>Potential Impact</a:t>
            </a:r>
            <a:endParaRPr lang="en-US" sz="2187" dirty="0"/>
          </a:p>
        </p:txBody>
      </p:sp>
      <p:sp>
        <p:nvSpPr>
          <p:cNvPr id="8" name="Text 6"/>
          <p:cNvSpPr/>
          <p:nvPr/>
        </p:nvSpPr>
        <p:spPr>
          <a:xfrm>
            <a:off x="5847398" y="2969657"/>
            <a:ext cx="2949416" cy="3909417"/>
          </a:xfrm>
          <a:prstGeom prst="rect">
            <a:avLst/>
          </a:prstGeom>
          <a:noFill/>
          <a:ln/>
        </p:spPr>
        <p:txBody>
          <a:bodyPr wrap="square" rtlCol="0" anchor="t"/>
          <a:lstStyle/>
          <a:p>
            <a:pPr indent="0" marL="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The outcomes of this study may benefit fields such as human-computer interaction, emotional intelligence, psychology, education, and healthcare by providing a novel emotion recognition system and expanding our understanding of the connection between handwriting and emotions.</a:t>
            </a:r>
            <a:endParaRPr lang="en-US" sz="1750" dirty="0"/>
          </a:p>
        </p:txBody>
      </p:sp>
      <p:sp>
        <p:nvSpPr>
          <p:cNvPr id="9" name="Text 7"/>
          <p:cNvSpPr/>
          <p:nvPr/>
        </p:nvSpPr>
        <p:spPr>
          <a:xfrm>
            <a:off x="9346406" y="2400300"/>
            <a:ext cx="2914531" cy="347186"/>
          </a:xfrm>
          <a:prstGeom prst="rect">
            <a:avLst/>
          </a:prstGeom>
          <a:noFill/>
          <a:ln/>
        </p:spPr>
        <p:txBody>
          <a:bodyPr wrap="none" rtlCol="0" anchor="t"/>
          <a:lstStyle/>
          <a:p>
            <a:pPr indent="0" marL="0">
              <a:lnSpc>
                <a:spcPts val="2734"/>
              </a:lnSpc>
              <a:buNone/>
            </a:pPr>
            <a:r>
              <a:rPr lang="en-US" sz="2187" dirty="0">
                <a:solidFill>
                  <a:srgbClr val="38512F"/>
                </a:solidFill>
                <a:latin typeface="Lora" pitchFamily="34" charset="0"/>
                <a:ea typeface="Lora" pitchFamily="34" charset="-122"/>
                <a:cs typeface="Lora" pitchFamily="34" charset="-120"/>
              </a:rPr>
              <a:t>Ethical Considerations</a:t>
            </a:r>
            <a:endParaRPr lang="en-US" sz="2187" dirty="0"/>
          </a:p>
        </p:txBody>
      </p:sp>
      <p:sp>
        <p:nvSpPr>
          <p:cNvPr id="10" name="Text 8"/>
          <p:cNvSpPr/>
          <p:nvPr/>
        </p:nvSpPr>
        <p:spPr>
          <a:xfrm>
            <a:off x="9346406" y="2969657"/>
            <a:ext cx="2949416" cy="2843213"/>
          </a:xfrm>
          <a:prstGeom prst="rect">
            <a:avLst/>
          </a:prstGeom>
          <a:noFill/>
          <a:ln/>
        </p:spPr>
        <p:txBody>
          <a:bodyPr wrap="square" rtlCol="0" anchor="t"/>
          <a:lstStyle/>
          <a:p>
            <a:pPr indent="0" marL="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The study will carefully address ethical issues, including data privacy, algorithmic biases, and responsible implementation, to ensure the technology is developed and used in a transparent and trustworthy manner.</a:t>
            </a:r>
            <a:endParaRPr lang="en-US" sz="1750" dirty="0"/>
          </a:p>
        </p:txBody>
      </p:sp>
      <p:pic>
        <p:nvPicPr>
          <p:cNvPr id="11" name="Image 0" descr="preencoded.png">
            <a:hlinkClick r:id="rId2" tooltip=""/>
          </p:cNvPr>
          <p:cNvPicPr>
            <a:picLocks noChangeAspect="1"/>
          </p:cNvPicPr>
          <p:nvPr/>
        </p:nvPicPr>
        <p:blipFill>
          <a:blip r:embed="rId1"/>
          <a:stretch>
            <a:fillRect/>
          </a:stretch>
        </p:blipFill>
        <p:spPr>
          <a:xfrm>
            <a:off x="12242153" y="7589520"/>
            <a:ext cx="2296807" cy="5486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32338"/>
          </a:xfrm>
          <a:prstGeom prst="rect">
            <a:avLst/>
          </a:prstGeom>
          <a:solidFill>
            <a:srgbClr val="FEF5E7"/>
          </a:solidFill>
          <a:ln/>
        </p:spPr>
      </p:sp>
      <p:sp>
        <p:nvSpPr>
          <p:cNvPr id="4" name="Text 2"/>
          <p:cNvSpPr/>
          <p:nvPr/>
        </p:nvSpPr>
        <p:spPr>
          <a:xfrm>
            <a:off x="3254573" y="499467"/>
            <a:ext cx="8121253" cy="1135142"/>
          </a:xfrm>
          <a:prstGeom prst="rect">
            <a:avLst/>
          </a:prstGeom>
          <a:noFill/>
          <a:ln/>
        </p:spPr>
        <p:txBody>
          <a:bodyPr wrap="square" rtlCol="0" anchor="t"/>
          <a:lstStyle/>
          <a:p>
            <a:pPr indent="0" marL="0">
              <a:lnSpc>
                <a:spcPts val="4470"/>
              </a:lnSpc>
              <a:buNone/>
            </a:pPr>
            <a:r>
              <a:rPr lang="en-US" sz="3576" dirty="0">
                <a:solidFill>
                  <a:srgbClr val="38512F"/>
                </a:solidFill>
                <a:latin typeface="Lora" pitchFamily="34" charset="0"/>
                <a:ea typeface="Lora" pitchFamily="34" charset="-122"/>
                <a:cs typeface="Lora" pitchFamily="34" charset="-120"/>
              </a:rPr>
              <a:t>Handwriting and Emotion Recognition</a:t>
            </a:r>
            <a:endParaRPr lang="en-US" sz="3576" dirty="0"/>
          </a:p>
        </p:txBody>
      </p:sp>
      <p:sp>
        <p:nvSpPr>
          <p:cNvPr id="5" name="Shape 3"/>
          <p:cNvSpPr/>
          <p:nvPr/>
        </p:nvSpPr>
        <p:spPr>
          <a:xfrm>
            <a:off x="3254573" y="2139791"/>
            <a:ext cx="408623" cy="408623"/>
          </a:xfrm>
          <a:prstGeom prst="roundRect">
            <a:avLst>
              <a:gd name="adj" fmla="val 13337"/>
            </a:avLst>
          </a:prstGeom>
          <a:solidFill>
            <a:srgbClr val="F6E9D5"/>
          </a:solidFill>
          <a:ln/>
        </p:spPr>
      </p:sp>
      <p:sp>
        <p:nvSpPr>
          <p:cNvPr id="6" name="Text 4"/>
          <p:cNvSpPr/>
          <p:nvPr/>
        </p:nvSpPr>
        <p:spPr>
          <a:xfrm>
            <a:off x="3409236" y="2173724"/>
            <a:ext cx="99179" cy="340638"/>
          </a:xfrm>
          <a:prstGeom prst="rect">
            <a:avLst/>
          </a:prstGeom>
          <a:noFill/>
          <a:ln/>
        </p:spPr>
        <p:txBody>
          <a:bodyPr wrap="none" rtlCol="0" anchor="t"/>
          <a:lstStyle/>
          <a:p>
            <a:pPr algn="ctr" indent="0" marL="0">
              <a:lnSpc>
                <a:spcPts val="2682"/>
              </a:lnSpc>
              <a:buNone/>
            </a:pPr>
            <a:r>
              <a:rPr lang="en-US" sz="2146" dirty="0">
                <a:solidFill>
                  <a:srgbClr val="38512F"/>
                </a:solidFill>
                <a:latin typeface="Lora" pitchFamily="34" charset="0"/>
                <a:ea typeface="Lora" pitchFamily="34" charset="-122"/>
                <a:cs typeface="Lora" pitchFamily="34" charset="-120"/>
              </a:rPr>
              <a:t>1</a:t>
            </a:r>
            <a:endParaRPr lang="en-US" sz="2146" dirty="0"/>
          </a:p>
        </p:txBody>
      </p:sp>
      <p:sp>
        <p:nvSpPr>
          <p:cNvPr id="7" name="Text 5"/>
          <p:cNvSpPr/>
          <p:nvPr/>
        </p:nvSpPr>
        <p:spPr>
          <a:xfrm>
            <a:off x="3844766" y="2202180"/>
            <a:ext cx="2270760" cy="283726"/>
          </a:xfrm>
          <a:prstGeom prst="rect">
            <a:avLst/>
          </a:prstGeom>
          <a:noFill/>
          <a:ln/>
        </p:spPr>
        <p:txBody>
          <a:bodyPr wrap="none" rtlCol="0" anchor="t"/>
          <a:lstStyle/>
          <a:p>
            <a:pPr indent="0" marL="0">
              <a:lnSpc>
                <a:spcPts val="2235"/>
              </a:lnSpc>
              <a:buNone/>
            </a:pPr>
            <a:r>
              <a:rPr lang="en-US" sz="1788" dirty="0">
                <a:solidFill>
                  <a:srgbClr val="38512F"/>
                </a:solidFill>
                <a:latin typeface="Lora" pitchFamily="34" charset="0"/>
                <a:ea typeface="Lora" pitchFamily="34" charset="-122"/>
                <a:cs typeface="Lora" pitchFamily="34" charset="-120"/>
              </a:rPr>
              <a:t>EMOTHAW Database</a:t>
            </a:r>
            <a:endParaRPr lang="en-US" sz="1788" dirty="0"/>
          </a:p>
        </p:txBody>
      </p:sp>
      <p:sp>
        <p:nvSpPr>
          <p:cNvPr id="8" name="Text 6"/>
          <p:cNvSpPr/>
          <p:nvPr/>
        </p:nvSpPr>
        <p:spPr>
          <a:xfrm>
            <a:off x="3844766" y="2594848"/>
            <a:ext cx="3379708" cy="2034421"/>
          </a:xfrm>
          <a:prstGeom prst="rect">
            <a:avLst/>
          </a:prstGeom>
          <a:noFill/>
          <a:ln/>
        </p:spPr>
        <p:txBody>
          <a:bodyPr wrap="square" rtlCol="0" anchor="t"/>
          <a:lstStyle/>
          <a:p>
            <a:pPr indent="0" marL="0">
              <a:lnSpc>
                <a:spcPts val="2289"/>
              </a:lnSpc>
              <a:buNone/>
            </a:pPr>
            <a:r>
              <a:rPr lang="en-US" sz="1430" dirty="0">
                <a:solidFill>
                  <a:srgbClr val="3A3630"/>
                </a:solidFill>
                <a:latin typeface="Source Sans Pro" pitchFamily="34" charset="0"/>
                <a:ea typeface="Source Sans Pro" pitchFamily="34" charset="-122"/>
                <a:cs typeface="Source Sans Pro" pitchFamily="34" charset="-120"/>
              </a:rPr>
              <a:t>The EMOTHAW database, developed by Likforman-Sulem et al., marked a significant step toward utilizing handwriting and drawing for emotional state recognition, examining the correlations between handwriting features and measures of anxiety, depression, and stress.</a:t>
            </a:r>
            <a:endParaRPr lang="en-US" sz="1430" dirty="0"/>
          </a:p>
        </p:txBody>
      </p:sp>
      <p:sp>
        <p:nvSpPr>
          <p:cNvPr id="9" name="Shape 7"/>
          <p:cNvSpPr/>
          <p:nvPr/>
        </p:nvSpPr>
        <p:spPr>
          <a:xfrm>
            <a:off x="7406045" y="2139791"/>
            <a:ext cx="408623" cy="408623"/>
          </a:xfrm>
          <a:prstGeom prst="roundRect">
            <a:avLst>
              <a:gd name="adj" fmla="val 13337"/>
            </a:avLst>
          </a:prstGeom>
          <a:solidFill>
            <a:srgbClr val="F6E9D5"/>
          </a:solidFill>
          <a:ln/>
        </p:spPr>
      </p:sp>
      <p:sp>
        <p:nvSpPr>
          <p:cNvPr id="10" name="Text 8"/>
          <p:cNvSpPr/>
          <p:nvPr/>
        </p:nvSpPr>
        <p:spPr>
          <a:xfrm>
            <a:off x="7537133" y="2173724"/>
            <a:ext cx="146328" cy="340638"/>
          </a:xfrm>
          <a:prstGeom prst="rect">
            <a:avLst/>
          </a:prstGeom>
          <a:noFill/>
          <a:ln/>
        </p:spPr>
        <p:txBody>
          <a:bodyPr wrap="none" rtlCol="0" anchor="t"/>
          <a:lstStyle/>
          <a:p>
            <a:pPr algn="ctr" indent="0" marL="0">
              <a:lnSpc>
                <a:spcPts val="2682"/>
              </a:lnSpc>
              <a:buNone/>
            </a:pPr>
            <a:r>
              <a:rPr lang="en-US" sz="2146" dirty="0">
                <a:solidFill>
                  <a:srgbClr val="38512F"/>
                </a:solidFill>
                <a:latin typeface="Lora" pitchFamily="34" charset="0"/>
                <a:ea typeface="Lora" pitchFamily="34" charset="-122"/>
                <a:cs typeface="Lora" pitchFamily="34" charset="-120"/>
              </a:rPr>
              <a:t>2</a:t>
            </a:r>
            <a:endParaRPr lang="en-US" sz="2146" dirty="0"/>
          </a:p>
        </p:txBody>
      </p:sp>
      <p:sp>
        <p:nvSpPr>
          <p:cNvPr id="11" name="Text 9"/>
          <p:cNvSpPr/>
          <p:nvPr/>
        </p:nvSpPr>
        <p:spPr>
          <a:xfrm>
            <a:off x="7996237" y="2202180"/>
            <a:ext cx="3379708" cy="567452"/>
          </a:xfrm>
          <a:prstGeom prst="rect">
            <a:avLst/>
          </a:prstGeom>
          <a:noFill/>
          <a:ln/>
        </p:spPr>
        <p:txBody>
          <a:bodyPr wrap="square" rtlCol="0" anchor="t"/>
          <a:lstStyle/>
          <a:p>
            <a:pPr indent="0" marL="0">
              <a:lnSpc>
                <a:spcPts val="2235"/>
              </a:lnSpc>
              <a:buNone/>
            </a:pPr>
            <a:r>
              <a:rPr lang="en-US" sz="1788" dirty="0">
                <a:solidFill>
                  <a:srgbClr val="38512F"/>
                </a:solidFill>
                <a:latin typeface="Lora" pitchFamily="34" charset="0"/>
                <a:ea typeface="Lora" pitchFamily="34" charset="-122"/>
                <a:cs typeface="Lora" pitchFamily="34" charset="-120"/>
              </a:rPr>
              <a:t>Handwriting-Emotion Connection</a:t>
            </a:r>
            <a:endParaRPr lang="en-US" sz="1788" dirty="0"/>
          </a:p>
        </p:txBody>
      </p:sp>
      <p:sp>
        <p:nvSpPr>
          <p:cNvPr id="12" name="Text 10"/>
          <p:cNvSpPr/>
          <p:nvPr/>
        </p:nvSpPr>
        <p:spPr>
          <a:xfrm>
            <a:off x="7996237" y="2878574"/>
            <a:ext cx="3379708" cy="1743789"/>
          </a:xfrm>
          <a:prstGeom prst="rect">
            <a:avLst/>
          </a:prstGeom>
          <a:noFill/>
          <a:ln/>
        </p:spPr>
        <p:txBody>
          <a:bodyPr wrap="square" rtlCol="0" anchor="t"/>
          <a:lstStyle/>
          <a:p>
            <a:pPr indent="0" marL="0">
              <a:lnSpc>
                <a:spcPts val="2289"/>
              </a:lnSpc>
              <a:buNone/>
            </a:pPr>
            <a:r>
              <a:rPr lang="en-US" sz="1430" dirty="0">
                <a:solidFill>
                  <a:srgbClr val="3A3630"/>
                </a:solidFill>
                <a:latin typeface="Source Sans Pro" pitchFamily="34" charset="0"/>
                <a:ea typeface="Source Sans Pro" pitchFamily="34" charset="-122"/>
                <a:cs typeface="Source Sans Pro" pitchFamily="34" charset="-120"/>
              </a:rPr>
              <a:t>Research has emphasized the potential connection between handwriting characteristics, such as baseline, slant, and pen pressure, and an individual's emotional state, highlighting the value of investigating subtle cues embedded within handwriting.</a:t>
            </a:r>
            <a:endParaRPr lang="en-US" sz="1430" dirty="0"/>
          </a:p>
        </p:txBody>
      </p:sp>
      <p:sp>
        <p:nvSpPr>
          <p:cNvPr id="13" name="Shape 11"/>
          <p:cNvSpPr/>
          <p:nvPr/>
        </p:nvSpPr>
        <p:spPr>
          <a:xfrm>
            <a:off x="3254573" y="4952762"/>
            <a:ext cx="408623" cy="408623"/>
          </a:xfrm>
          <a:prstGeom prst="roundRect">
            <a:avLst>
              <a:gd name="adj" fmla="val 13337"/>
            </a:avLst>
          </a:prstGeom>
          <a:solidFill>
            <a:srgbClr val="F6E9D5"/>
          </a:solidFill>
          <a:ln/>
        </p:spPr>
      </p:sp>
      <p:sp>
        <p:nvSpPr>
          <p:cNvPr id="14" name="Text 12"/>
          <p:cNvSpPr/>
          <p:nvPr/>
        </p:nvSpPr>
        <p:spPr>
          <a:xfrm>
            <a:off x="3382923" y="4986695"/>
            <a:ext cx="151805" cy="340638"/>
          </a:xfrm>
          <a:prstGeom prst="rect">
            <a:avLst/>
          </a:prstGeom>
          <a:noFill/>
          <a:ln/>
        </p:spPr>
        <p:txBody>
          <a:bodyPr wrap="none" rtlCol="0" anchor="t"/>
          <a:lstStyle/>
          <a:p>
            <a:pPr algn="ctr" indent="0" marL="0">
              <a:lnSpc>
                <a:spcPts val="2682"/>
              </a:lnSpc>
              <a:buNone/>
            </a:pPr>
            <a:r>
              <a:rPr lang="en-US" sz="2146" dirty="0">
                <a:solidFill>
                  <a:srgbClr val="38512F"/>
                </a:solidFill>
                <a:latin typeface="Lora" pitchFamily="34" charset="0"/>
                <a:ea typeface="Lora" pitchFamily="34" charset="-122"/>
                <a:cs typeface="Lora" pitchFamily="34" charset="-120"/>
              </a:rPr>
              <a:t>3</a:t>
            </a:r>
            <a:endParaRPr lang="en-US" sz="2146" dirty="0"/>
          </a:p>
        </p:txBody>
      </p:sp>
      <p:sp>
        <p:nvSpPr>
          <p:cNvPr id="15" name="Text 13"/>
          <p:cNvSpPr/>
          <p:nvPr/>
        </p:nvSpPr>
        <p:spPr>
          <a:xfrm>
            <a:off x="3844766" y="5015151"/>
            <a:ext cx="3024902" cy="283726"/>
          </a:xfrm>
          <a:prstGeom prst="rect">
            <a:avLst/>
          </a:prstGeom>
          <a:noFill/>
          <a:ln/>
        </p:spPr>
        <p:txBody>
          <a:bodyPr wrap="none" rtlCol="0" anchor="t"/>
          <a:lstStyle/>
          <a:p>
            <a:pPr indent="0" marL="0">
              <a:lnSpc>
                <a:spcPts val="2235"/>
              </a:lnSpc>
              <a:buNone/>
            </a:pPr>
            <a:r>
              <a:rPr lang="en-US" sz="1788" dirty="0">
                <a:solidFill>
                  <a:srgbClr val="38512F"/>
                </a:solidFill>
                <a:latin typeface="Lora" pitchFamily="34" charset="0"/>
                <a:ea typeface="Lora" pitchFamily="34" charset="-122"/>
                <a:cs typeface="Lora" pitchFamily="34" charset="-120"/>
              </a:rPr>
              <a:t>Personality and Handwriting</a:t>
            </a:r>
            <a:endParaRPr lang="en-US" sz="1788" dirty="0"/>
          </a:p>
        </p:txBody>
      </p:sp>
      <p:sp>
        <p:nvSpPr>
          <p:cNvPr id="16" name="Text 14"/>
          <p:cNvSpPr/>
          <p:nvPr/>
        </p:nvSpPr>
        <p:spPr>
          <a:xfrm>
            <a:off x="3844766" y="5407819"/>
            <a:ext cx="3379708" cy="1453158"/>
          </a:xfrm>
          <a:prstGeom prst="rect">
            <a:avLst/>
          </a:prstGeom>
          <a:noFill/>
          <a:ln/>
        </p:spPr>
        <p:txBody>
          <a:bodyPr wrap="square" rtlCol="0" anchor="t"/>
          <a:lstStyle/>
          <a:p>
            <a:pPr indent="0" marL="0">
              <a:lnSpc>
                <a:spcPts val="2289"/>
              </a:lnSpc>
              <a:buNone/>
            </a:pPr>
            <a:r>
              <a:rPr lang="en-US" sz="1430" dirty="0">
                <a:solidFill>
                  <a:srgbClr val="3A3630"/>
                </a:solidFill>
                <a:latin typeface="Source Sans Pro" pitchFamily="34" charset="0"/>
                <a:ea typeface="Source Sans Pro" pitchFamily="34" charset="-122"/>
                <a:cs typeface="Source Sans Pro" pitchFamily="34" charset="-120"/>
              </a:rPr>
              <a:t>Studies have also explored the use of textural features in handwriting for personality identification, suggesting a relationship between personality traits and the visual characteristics of handwriting.</a:t>
            </a:r>
            <a:endParaRPr lang="en-US" sz="1430" dirty="0"/>
          </a:p>
        </p:txBody>
      </p:sp>
      <p:sp>
        <p:nvSpPr>
          <p:cNvPr id="17" name="Shape 15"/>
          <p:cNvSpPr/>
          <p:nvPr/>
        </p:nvSpPr>
        <p:spPr>
          <a:xfrm>
            <a:off x="7406045" y="4952762"/>
            <a:ext cx="408623" cy="408623"/>
          </a:xfrm>
          <a:prstGeom prst="roundRect">
            <a:avLst>
              <a:gd name="adj" fmla="val 13337"/>
            </a:avLst>
          </a:prstGeom>
          <a:solidFill>
            <a:srgbClr val="F6E9D5"/>
          </a:solidFill>
          <a:ln/>
        </p:spPr>
      </p:sp>
      <p:sp>
        <p:nvSpPr>
          <p:cNvPr id="18" name="Text 16"/>
          <p:cNvSpPr/>
          <p:nvPr/>
        </p:nvSpPr>
        <p:spPr>
          <a:xfrm>
            <a:off x="7536418" y="4986695"/>
            <a:ext cx="147757" cy="340638"/>
          </a:xfrm>
          <a:prstGeom prst="rect">
            <a:avLst/>
          </a:prstGeom>
          <a:noFill/>
          <a:ln/>
        </p:spPr>
        <p:txBody>
          <a:bodyPr wrap="none" rtlCol="0" anchor="t"/>
          <a:lstStyle/>
          <a:p>
            <a:pPr algn="ctr" indent="0" marL="0">
              <a:lnSpc>
                <a:spcPts val="2682"/>
              </a:lnSpc>
              <a:buNone/>
            </a:pPr>
            <a:r>
              <a:rPr lang="en-US" sz="2146" dirty="0">
                <a:solidFill>
                  <a:srgbClr val="38512F"/>
                </a:solidFill>
                <a:latin typeface="Lora" pitchFamily="34" charset="0"/>
                <a:ea typeface="Lora" pitchFamily="34" charset="-122"/>
                <a:cs typeface="Lora" pitchFamily="34" charset="-120"/>
              </a:rPr>
              <a:t>4</a:t>
            </a:r>
            <a:endParaRPr lang="en-US" sz="2146" dirty="0"/>
          </a:p>
        </p:txBody>
      </p:sp>
      <p:sp>
        <p:nvSpPr>
          <p:cNvPr id="19" name="Text 17"/>
          <p:cNvSpPr/>
          <p:nvPr/>
        </p:nvSpPr>
        <p:spPr>
          <a:xfrm>
            <a:off x="7996237" y="5015151"/>
            <a:ext cx="3306128" cy="283726"/>
          </a:xfrm>
          <a:prstGeom prst="rect">
            <a:avLst/>
          </a:prstGeom>
          <a:noFill/>
          <a:ln/>
        </p:spPr>
        <p:txBody>
          <a:bodyPr wrap="none" rtlCol="0" anchor="t"/>
          <a:lstStyle/>
          <a:p>
            <a:pPr indent="0" marL="0">
              <a:lnSpc>
                <a:spcPts val="2235"/>
              </a:lnSpc>
              <a:buNone/>
            </a:pPr>
            <a:r>
              <a:rPr lang="en-US" sz="1788" dirty="0">
                <a:solidFill>
                  <a:srgbClr val="38512F"/>
                </a:solidFill>
                <a:latin typeface="Lora" pitchFamily="34" charset="0"/>
                <a:ea typeface="Lora" pitchFamily="34" charset="-122"/>
                <a:cs typeface="Lora" pitchFamily="34" charset="-120"/>
              </a:rPr>
              <a:t>Emotion Detection Approaches</a:t>
            </a:r>
            <a:endParaRPr lang="en-US" sz="1788" dirty="0"/>
          </a:p>
        </p:txBody>
      </p:sp>
      <p:sp>
        <p:nvSpPr>
          <p:cNvPr id="20" name="Text 18"/>
          <p:cNvSpPr/>
          <p:nvPr/>
        </p:nvSpPr>
        <p:spPr>
          <a:xfrm>
            <a:off x="7996237" y="5407819"/>
            <a:ext cx="3379708" cy="2325052"/>
          </a:xfrm>
          <a:prstGeom prst="rect">
            <a:avLst/>
          </a:prstGeom>
          <a:noFill/>
          <a:ln/>
        </p:spPr>
        <p:txBody>
          <a:bodyPr wrap="square" rtlCol="0" anchor="t"/>
          <a:lstStyle/>
          <a:p>
            <a:pPr indent="0" marL="0">
              <a:lnSpc>
                <a:spcPts val="2289"/>
              </a:lnSpc>
              <a:buNone/>
            </a:pPr>
            <a:r>
              <a:rPr lang="en-US" sz="1430" dirty="0">
                <a:solidFill>
                  <a:srgbClr val="3A3630"/>
                </a:solidFill>
                <a:latin typeface="Source Sans Pro" pitchFamily="34" charset="0"/>
                <a:ea typeface="Source Sans Pro" pitchFamily="34" charset="-122"/>
                <a:cs typeface="Source Sans Pro" pitchFamily="34" charset="-120"/>
              </a:rPr>
              <a:t>Researchers have explored various techniques, including Agglomerative Hierarchical Clustering and machine learning models, to detect emotions from handwritten text samples, demonstrating the potential of handwriting analysis for mental health assessment and other applications.</a:t>
            </a:r>
            <a:endParaRPr lang="en-US" sz="1430" dirty="0"/>
          </a:p>
        </p:txBody>
      </p:sp>
      <p:pic>
        <p:nvPicPr>
          <p:cNvPr id="21" name="Image 0" descr="preencoded.png">
            <a:hlinkClick r:id="rId2" tooltip=""/>
          </p:cNvPr>
          <p:cNvPicPr>
            <a:picLocks noChangeAspect="1"/>
          </p:cNvPicPr>
          <p:nvPr/>
        </p:nvPicPr>
        <p:blipFill>
          <a:blip r:embed="rId1"/>
          <a:stretch>
            <a:fillRect/>
          </a:stretch>
        </p:blipFill>
        <p:spPr>
          <a:xfrm>
            <a:off x="12242153" y="7589520"/>
            <a:ext cx="2296807" cy="548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sp>
        <p:nvSpPr>
          <p:cNvPr id="4" name="Text 2"/>
          <p:cNvSpPr/>
          <p:nvPr/>
        </p:nvSpPr>
        <p:spPr>
          <a:xfrm>
            <a:off x="2971800" y="534829"/>
            <a:ext cx="7504748" cy="607219"/>
          </a:xfrm>
          <a:prstGeom prst="rect">
            <a:avLst/>
          </a:prstGeom>
          <a:noFill/>
          <a:ln/>
        </p:spPr>
        <p:txBody>
          <a:bodyPr wrap="none" rtlCol="0" anchor="t"/>
          <a:lstStyle/>
          <a:p>
            <a:pPr indent="0" marL="0">
              <a:lnSpc>
                <a:spcPts val="4781"/>
              </a:lnSpc>
              <a:buNone/>
            </a:pPr>
            <a:r>
              <a:rPr lang="en-US" sz="3825" dirty="0">
                <a:solidFill>
                  <a:srgbClr val="38512F"/>
                </a:solidFill>
                <a:latin typeface="Lora" pitchFamily="34" charset="0"/>
                <a:ea typeface="Lora" pitchFamily="34" charset="-122"/>
                <a:cs typeface="Lora" pitchFamily="34" charset="-120"/>
              </a:rPr>
              <a:t>Handwriting Analysis Techniques</a:t>
            </a:r>
            <a:endParaRPr lang="en-US" sz="3825" dirty="0"/>
          </a:p>
        </p:txBody>
      </p:sp>
      <p:sp>
        <p:nvSpPr>
          <p:cNvPr id="5" name="Shape 3"/>
          <p:cNvSpPr/>
          <p:nvPr/>
        </p:nvSpPr>
        <p:spPr>
          <a:xfrm>
            <a:off x="2971800" y="1530668"/>
            <a:ext cx="4246245" cy="2984897"/>
          </a:xfrm>
          <a:prstGeom prst="roundRect">
            <a:avLst>
              <a:gd name="adj" fmla="val 1953"/>
            </a:avLst>
          </a:prstGeom>
          <a:solidFill>
            <a:srgbClr val="F6E9D5"/>
          </a:solidFill>
          <a:ln/>
        </p:spPr>
      </p:sp>
      <p:sp>
        <p:nvSpPr>
          <p:cNvPr id="6" name="Text 4"/>
          <p:cNvSpPr/>
          <p:nvPr/>
        </p:nvSpPr>
        <p:spPr>
          <a:xfrm>
            <a:off x="3166110" y="1724978"/>
            <a:ext cx="3700820" cy="303609"/>
          </a:xfrm>
          <a:prstGeom prst="rect">
            <a:avLst/>
          </a:prstGeom>
          <a:noFill/>
          <a:ln/>
        </p:spPr>
        <p:txBody>
          <a:bodyPr wrap="none" rtlCol="0" anchor="t"/>
          <a:lstStyle/>
          <a:p>
            <a:pPr indent="0" marL="0">
              <a:lnSpc>
                <a:spcPts val="2391"/>
              </a:lnSpc>
              <a:buNone/>
            </a:pPr>
            <a:r>
              <a:rPr lang="en-US" sz="1913" dirty="0">
                <a:solidFill>
                  <a:srgbClr val="38512F"/>
                </a:solidFill>
                <a:latin typeface="Lora" pitchFamily="34" charset="0"/>
                <a:ea typeface="Lora" pitchFamily="34" charset="-122"/>
                <a:cs typeface="Lora" pitchFamily="34" charset="-120"/>
              </a:rPr>
              <a:t>Automated Handwriting Analysis</a:t>
            </a:r>
            <a:endParaRPr lang="en-US" sz="1913" dirty="0"/>
          </a:p>
        </p:txBody>
      </p:sp>
      <p:sp>
        <p:nvSpPr>
          <p:cNvPr id="7" name="Text 5"/>
          <p:cNvSpPr/>
          <p:nvPr/>
        </p:nvSpPr>
        <p:spPr>
          <a:xfrm>
            <a:off x="3166110" y="2145149"/>
            <a:ext cx="3857625" cy="1865233"/>
          </a:xfrm>
          <a:prstGeom prst="rect">
            <a:avLst/>
          </a:prstGeom>
          <a:noFill/>
          <a:ln/>
        </p:spPr>
        <p:txBody>
          <a:bodyPr wrap="square" rtlCol="0" anchor="t"/>
          <a:lstStyle/>
          <a:p>
            <a:pPr indent="0" marL="0">
              <a:lnSpc>
                <a:spcPts val="2448"/>
              </a:lnSpc>
              <a:buNone/>
            </a:pPr>
            <a:r>
              <a:rPr lang="en-US" sz="1530" dirty="0">
                <a:solidFill>
                  <a:srgbClr val="3A3630"/>
                </a:solidFill>
                <a:latin typeface="Source Sans Pro" pitchFamily="34" charset="0"/>
                <a:ea typeface="Source Sans Pro" pitchFamily="34" charset="-122"/>
                <a:cs typeface="Source Sans Pro" pitchFamily="34" charset="-120"/>
              </a:rPr>
              <a:t>Automated handwriting analysis, utilizing pattern recognition and machine learning, has a wide range of applications, including recruitment, medical diagnosis, and psychology, supporting the work of graphologists in identifying personality traits.</a:t>
            </a:r>
            <a:endParaRPr lang="en-US" sz="1530" dirty="0"/>
          </a:p>
        </p:txBody>
      </p:sp>
      <p:sp>
        <p:nvSpPr>
          <p:cNvPr id="8" name="Shape 6"/>
          <p:cNvSpPr/>
          <p:nvPr/>
        </p:nvSpPr>
        <p:spPr>
          <a:xfrm>
            <a:off x="7412355" y="1530668"/>
            <a:ext cx="4246245" cy="2984897"/>
          </a:xfrm>
          <a:prstGeom prst="roundRect">
            <a:avLst>
              <a:gd name="adj" fmla="val 1953"/>
            </a:avLst>
          </a:prstGeom>
          <a:solidFill>
            <a:srgbClr val="F6E9D5"/>
          </a:solidFill>
          <a:ln/>
        </p:spPr>
      </p:sp>
      <p:sp>
        <p:nvSpPr>
          <p:cNvPr id="9" name="Text 7"/>
          <p:cNvSpPr/>
          <p:nvPr/>
        </p:nvSpPr>
        <p:spPr>
          <a:xfrm>
            <a:off x="7606665" y="1724978"/>
            <a:ext cx="2428875" cy="303609"/>
          </a:xfrm>
          <a:prstGeom prst="rect">
            <a:avLst/>
          </a:prstGeom>
          <a:noFill/>
          <a:ln/>
        </p:spPr>
        <p:txBody>
          <a:bodyPr wrap="none" rtlCol="0" anchor="t"/>
          <a:lstStyle/>
          <a:p>
            <a:pPr indent="0" marL="0">
              <a:lnSpc>
                <a:spcPts val="2391"/>
              </a:lnSpc>
              <a:buNone/>
            </a:pPr>
            <a:r>
              <a:rPr lang="en-US" sz="1913" dirty="0">
                <a:solidFill>
                  <a:srgbClr val="38512F"/>
                </a:solidFill>
                <a:latin typeface="Lora" pitchFamily="34" charset="0"/>
                <a:ea typeface="Lora" pitchFamily="34" charset="-122"/>
                <a:cs typeface="Lora" pitchFamily="34" charset="-120"/>
              </a:rPr>
              <a:t>Feature Extraction</a:t>
            </a:r>
            <a:endParaRPr lang="en-US" sz="1913" dirty="0"/>
          </a:p>
        </p:txBody>
      </p:sp>
      <p:sp>
        <p:nvSpPr>
          <p:cNvPr id="10" name="Text 8"/>
          <p:cNvSpPr/>
          <p:nvPr/>
        </p:nvSpPr>
        <p:spPr>
          <a:xfrm>
            <a:off x="7606665" y="2145149"/>
            <a:ext cx="3857625" cy="2176105"/>
          </a:xfrm>
          <a:prstGeom prst="rect">
            <a:avLst/>
          </a:prstGeom>
          <a:noFill/>
          <a:ln/>
        </p:spPr>
        <p:txBody>
          <a:bodyPr wrap="square" rtlCol="0" anchor="t"/>
          <a:lstStyle/>
          <a:p>
            <a:pPr indent="0" marL="0">
              <a:lnSpc>
                <a:spcPts val="2448"/>
              </a:lnSpc>
              <a:buNone/>
            </a:pPr>
            <a:r>
              <a:rPr lang="en-US" sz="1530" dirty="0">
                <a:solidFill>
                  <a:srgbClr val="3A3630"/>
                </a:solidFill>
                <a:latin typeface="Source Sans Pro" pitchFamily="34" charset="0"/>
                <a:ea typeface="Source Sans Pro" pitchFamily="34" charset="-122"/>
                <a:cs typeface="Source Sans Pro" pitchFamily="34" charset="-120"/>
              </a:rPr>
              <a:t>Researchers have explored extracting distinguishable features from handwriting samples, such as stroke patterns, pressure, speed, and spacing, and applying classification algorithms like Support Vector Machines and Random Forest Classifiers for tasks like person identification and handedness determination.</a:t>
            </a:r>
            <a:endParaRPr lang="en-US" sz="1530" dirty="0"/>
          </a:p>
        </p:txBody>
      </p:sp>
      <p:sp>
        <p:nvSpPr>
          <p:cNvPr id="11" name="Shape 9"/>
          <p:cNvSpPr/>
          <p:nvPr/>
        </p:nvSpPr>
        <p:spPr>
          <a:xfrm>
            <a:off x="2971800" y="4709874"/>
            <a:ext cx="4246245" cy="2984897"/>
          </a:xfrm>
          <a:prstGeom prst="roundRect">
            <a:avLst>
              <a:gd name="adj" fmla="val 1953"/>
            </a:avLst>
          </a:prstGeom>
          <a:solidFill>
            <a:srgbClr val="F6E9D5"/>
          </a:solidFill>
          <a:ln/>
        </p:spPr>
      </p:sp>
      <p:sp>
        <p:nvSpPr>
          <p:cNvPr id="12" name="Text 10"/>
          <p:cNvSpPr/>
          <p:nvPr/>
        </p:nvSpPr>
        <p:spPr>
          <a:xfrm>
            <a:off x="3166110" y="4904184"/>
            <a:ext cx="3234214" cy="303609"/>
          </a:xfrm>
          <a:prstGeom prst="rect">
            <a:avLst/>
          </a:prstGeom>
          <a:noFill/>
          <a:ln/>
        </p:spPr>
        <p:txBody>
          <a:bodyPr wrap="none" rtlCol="0" anchor="t"/>
          <a:lstStyle/>
          <a:p>
            <a:pPr indent="0" marL="0">
              <a:lnSpc>
                <a:spcPts val="2391"/>
              </a:lnSpc>
              <a:buNone/>
            </a:pPr>
            <a:r>
              <a:rPr lang="en-US" sz="1913" dirty="0">
                <a:solidFill>
                  <a:srgbClr val="38512F"/>
                </a:solidFill>
                <a:latin typeface="Lora" pitchFamily="34" charset="0"/>
                <a:ea typeface="Lora" pitchFamily="34" charset="-122"/>
                <a:cs typeface="Lora" pitchFamily="34" charset="-120"/>
              </a:rPr>
              <a:t>Handwriting and Personality</a:t>
            </a:r>
            <a:endParaRPr lang="en-US" sz="1913" dirty="0"/>
          </a:p>
        </p:txBody>
      </p:sp>
      <p:sp>
        <p:nvSpPr>
          <p:cNvPr id="13" name="Text 11"/>
          <p:cNvSpPr/>
          <p:nvPr/>
        </p:nvSpPr>
        <p:spPr>
          <a:xfrm>
            <a:off x="3166110" y="5324356"/>
            <a:ext cx="3857625" cy="2176105"/>
          </a:xfrm>
          <a:prstGeom prst="rect">
            <a:avLst/>
          </a:prstGeom>
          <a:noFill/>
          <a:ln/>
        </p:spPr>
        <p:txBody>
          <a:bodyPr wrap="square" rtlCol="0" anchor="t"/>
          <a:lstStyle/>
          <a:p>
            <a:pPr indent="0" marL="0">
              <a:lnSpc>
                <a:spcPts val="2448"/>
              </a:lnSpc>
              <a:buNone/>
            </a:pPr>
            <a:r>
              <a:rPr lang="en-US" sz="1530" dirty="0">
                <a:solidFill>
                  <a:srgbClr val="3A3630"/>
                </a:solidFill>
                <a:latin typeface="Source Sans Pro" pitchFamily="34" charset="0"/>
                <a:ea typeface="Source Sans Pro" pitchFamily="34" charset="-122"/>
                <a:cs typeface="Source Sans Pro" pitchFamily="34" charset="-120"/>
              </a:rPr>
              <a:t>Studies have found significant differences in handwriting features, like pressure, speed, and spacing, between individuals scoring low, typical, and high on personality trait dimensions, suggesting the potential of handwriting analysis for personality assessment.</a:t>
            </a:r>
            <a:endParaRPr lang="en-US" sz="1530" dirty="0"/>
          </a:p>
        </p:txBody>
      </p:sp>
      <p:sp>
        <p:nvSpPr>
          <p:cNvPr id="14" name="Shape 12"/>
          <p:cNvSpPr/>
          <p:nvPr/>
        </p:nvSpPr>
        <p:spPr>
          <a:xfrm>
            <a:off x="7412355" y="4709874"/>
            <a:ext cx="4246245" cy="2984897"/>
          </a:xfrm>
          <a:prstGeom prst="roundRect">
            <a:avLst>
              <a:gd name="adj" fmla="val 1953"/>
            </a:avLst>
          </a:prstGeom>
          <a:solidFill>
            <a:srgbClr val="F6E9D5"/>
          </a:solidFill>
          <a:ln/>
        </p:spPr>
      </p:sp>
      <p:sp>
        <p:nvSpPr>
          <p:cNvPr id="15" name="Text 13"/>
          <p:cNvSpPr/>
          <p:nvPr/>
        </p:nvSpPr>
        <p:spPr>
          <a:xfrm>
            <a:off x="7606665" y="4904184"/>
            <a:ext cx="2428875" cy="303609"/>
          </a:xfrm>
          <a:prstGeom prst="rect">
            <a:avLst/>
          </a:prstGeom>
          <a:noFill/>
          <a:ln/>
        </p:spPr>
        <p:txBody>
          <a:bodyPr wrap="none" rtlCol="0" anchor="t"/>
          <a:lstStyle/>
          <a:p>
            <a:pPr indent="0" marL="0">
              <a:lnSpc>
                <a:spcPts val="2391"/>
              </a:lnSpc>
              <a:buNone/>
            </a:pPr>
            <a:r>
              <a:rPr lang="en-US" sz="1913" dirty="0">
                <a:solidFill>
                  <a:srgbClr val="38512F"/>
                </a:solidFill>
                <a:latin typeface="Lora" pitchFamily="34" charset="0"/>
                <a:ea typeface="Lora" pitchFamily="34" charset="-122"/>
                <a:cs typeface="Lora" pitchFamily="34" charset="-120"/>
              </a:rPr>
              <a:t>Writer Recognition</a:t>
            </a:r>
            <a:endParaRPr lang="en-US" sz="1913" dirty="0"/>
          </a:p>
        </p:txBody>
      </p:sp>
      <p:sp>
        <p:nvSpPr>
          <p:cNvPr id="16" name="Text 14"/>
          <p:cNvSpPr/>
          <p:nvPr/>
        </p:nvSpPr>
        <p:spPr>
          <a:xfrm>
            <a:off x="7606665" y="5324356"/>
            <a:ext cx="3857625" cy="1865233"/>
          </a:xfrm>
          <a:prstGeom prst="rect">
            <a:avLst/>
          </a:prstGeom>
          <a:noFill/>
          <a:ln/>
        </p:spPr>
        <p:txBody>
          <a:bodyPr wrap="square" rtlCol="0" anchor="t"/>
          <a:lstStyle/>
          <a:p>
            <a:pPr indent="0" marL="0">
              <a:lnSpc>
                <a:spcPts val="2448"/>
              </a:lnSpc>
              <a:buNone/>
            </a:pPr>
            <a:r>
              <a:rPr lang="en-US" sz="1530" dirty="0">
                <a:solidFill>
                  <a:srgbClr val="3A3630"/>
                </a:solidFill>
                <a:latin typeface="Source Sans Pro" pitchFamily="34" charset="0"/>
                <a:ea typeface="Source Sans Pro" pitchFamily="34" charset="-122"/>
                <a:cs typeface="Source Sans Pro" pitchFamily="34" charset="-120"/>
              </a:rPr>
              <a:t>Researchers have explored the potential of online handwritten words for writer recognition, utilizing techniques like stroke categorization and dynamic time warping, achieving high identification and verification rates for individual writers.</a:t>
            </a:r>
            <a:endParaRPr lang="en-US" sz="1530" dirty="0"/>
          </a:p>
        </p:txBody>
      </p:sp>
      <p:pic>
        <p:nvPicPr>
          <p:cNvPr id="17" name="Image 0" descr="preencoded.png">
            <a:hlinkClick r:id="rId2" tooltip=""/>
          </p:cNvPr>
          <p:cNvPicPr>
            <a:picLocks noChangeAspect="1"/>
          </p:cNvPicPr>
          <p:nvPr/>
        </p:nvPicPr>
        <p:blipFill>
          <a:blip r:embed="rId1"/>
          <a:stretch>
            <a:fillRect/>
          </a:stretch>
        </p:blipFill>
        <p:spPr>
          <a:xfrm>
            <a:off x="12242153" y="7589520"/>
            <a:ext cx="2296807" cy="548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33172"/>
          </a:xfrm>
          <a:prstGeom prst="rect">
            <a:avLst/>
          </a:prstGeom>
          <a:solidFill>
            <a:srgbClr val="FEF5E7"/>
          </a:solidFill>
          <a:ln/>
        </p:spPr>
      </p:sp>
      <p:sp>
        <p:nvSpPr>
          <p:cNvPr id="4" name="Text 2"/>
          <p:cNvSpPr/>
          <p:nvPr/>
        </p:nvSpPr>
        <p:spPr>
          <a:xfrm>
            <a:off x="3068003" y="522446"/>
            <a:ext cx="8494276" cy="1187529"/>
          </a:xfrm>
          <a:prstGeom prst="rect">
            <a:avLst/>
          </a:prstGeom>
          <a:noFill/>
          <a:ln/>
        </p:spPr>
        <p:txBody>
          <a:bodyPr wrap="square" rtlCol="0" anchor="t"/>
          <a:lstStyle/>
          <a:p>
            <a:pPr indent="0" marL="0">
              <a:lnSpc>
                <a:spcPts val="4675"/>
              </a:lnSpc>
              <a:buNone/>
            </a:pPr>
            <a:r>
              <a:rPr lang="en-US" sz="3740" dirty="0">
                <a:solidFill>
                  <a:srgbClr val="38512F"/>
                </a:solidFill>
                <a:latin typeface="Lora" pitchFamily="34" charset="0"/>
                <a:ea typeface="Lora" pitchFamily="34" charset="-122"/>
                <a:cs typeface="Lora" pitchFamily="34" charset="-120"/>
              </a:rPr>
              <a:t>Machine Learning and Image Processing</a:t>
            </a:r>
            <a:endParaRPr lang="en-US" sz="3740" dirty="0"/>
          </a:p>
        </p:txBody>
      </p:sp>
      <p:pic>
        <p:nvPicPr>
          <p:cNvPr id="5" name="Image 0" descr="preencoded.png">    </p:cNvPr>
          <p:cNvPicPr>
            <a:picLocks noChangeAspect="1"/>
          </p:cNvPicPr>
          <p:nvPr/>
        </p:nvPicPr>
        <p:blipFill>
          <a:blip r:embed="rId1"/>
          <a:stretch>
            <a:fillRect/>
          </a:stretch>
        </p:blipFill>
        <p:spPr>
          <a:xfrm>
            <a:off x="3068003" y="2089904"/>
            <a:ext cx="474940" cy="474940"/>
          </a:xfrm>
          <a:prstGeom prst="rect">
            <a:avLst/>
          </a:prstGeom>
        </p:spPr>
      </p:pic>
      <p:sp>
        <p:nvSpPr>
          <p:cNvPr id="6" name="Text 3"/>
          <p:cNvSpPr/>
          <p:nvPr/>
        </p:nvSpPr>
        <p:spPr>
          <a:xfrm>
            <a:off x="3068003" y="2754749"/>
            <a:ext cx="1909882" cy="890468"/>
          </a:xfrm>
          <a:prstGeom prst="rect">
            <a:avLst/>
          </a:prstGeom>
          <a:noFill/>
          <a:ln/>
        </p:spPr>
        <p:txBody>
          <a:bodyPr wrap="square" rtlCol="0" anchor="t"/>
          <a:lstStyle/>
          <a:p>
            <a:pPr algn="l" indent="0" marL="0">
              <a:lnSpc>
                <a:spcPts val="2338"/>
              </a:lnSpc>
              <a:buNone/>
            </a:pPr>
            <a:r>
              <a:rPr lang="en-US" sz="1870" dirty="0">
                <a:solidFill>
                  <a:srgbClr val="38512F"/>
                </a:solidFill>
                <a:latin typeface="Lora" pitchFamily="34" charset="0"/>
                <a:ea typeface="Lora" pitchFamily="34" charset="-122"/>
                <a:cs typeface="Lora" pitchFamily="34" charset="-120"/>
              </a:rPr>
              <a:t>Machine Learning Techniques</a:t>
            </a:r>
            <a:endParaRPr lang="en-US" sz="1870" dirty="0"/>
          </a:p>
        </p:txBody>
      </p:sp>
      <p:sp>
        <p:nvSpPr>
          <p:cNvPr id="7" name="Text 4"/>
          <p:cNvSpPr/>
          <p:nvPr/>
        </p:nvSpPr>
        <p:spPr>
          <a:xfrm>
            <a:off x="3068003" y="3759160"/>
            <a:ext cx="1909882" cy="3647599"/>
          </a:xfrm>
          <a:prstGeom prst="rect">
            <a:avLst/>
          </a:prstGeom>
          <a:noFill/>
          <a:ln/>
        </p:spPr>
        <p:txBody>
          <a:bodyPr wrap="square" rtlCol="0" anchor="t"/>
          <a:lstStyle/>
          <a:p>
            <a:pPr algn="l" indent="0" marL="0">
              <a:lnSpc>
                <a:spcPts val="2394"/>
              </a:lnSpc>
              <a:buNone/>
            </a:pPr>
            <a:r>
              <a:rPr lang="en-US" sz="1496" dirty="0">
                <a:solidFill>
                  <a:srgbClr val="3A3630"/>
                </a:solidFill>
                <a:latin typeface="Source Sans Pro" pitchFamily="34" charset="0"/>
                <a:ea typeface="Source Sans Pro" pitchFamily="34" charset="-122"/>
                <a:cs typeface="Source Sans Pro" pitchFamily="34" charset="-120"/>
              </a:rPr>
              <a:t>Machine learning algorithms, such as Support Vector Machines, Neural Networks, and Random Forests, play a central role in training systems to recognize patterns and associations between handwriting features and emotional states.</a:t>
            </a:r>
            <a:endParaRPr lang="en-US" sz="1496" dirty="0"/>
          </a:p>
        </p:txBody>
      </p:sp>
      <p:pic>
        <p:nvPicPr>
          <p:cNvPr id="8" name="Image 1" descr="preencoded.png">    </p:cNvPr>
          <p:cNvPicPr>
            <a:picLocks noChangeAspect="1"/>
          </p:cNvPicPr>
          <p:nvPr/>
        </p:nvPicPr>
        <p:blipFill>
          <a:blip r:embed="rId2"/>
          <a:stretch>
            <a:fillRect/>
          </a:stretch>
        </p:blipFill>
        <p:spPr>
          <a:xfrm>
            <a:off x="5262801" y="2089904"/>
            <a:ext cx="474940" cy="474940"/>
          </a:xfrm>
          <a:prstGeom prst="rect">
            <a:avLst/>
          </a:prstGeom>
        </p:spPr>
      </p:pic>
      <p:sp>
        <p:nvSpPr>
          <p:cNvPr id="9" name="Text 5"/>
          <p:cNvSpPr/>
          <p:nvPr/>
        </p:nvSpPr>
        <p:spPr>
          <a:xfrm>
            <a:off x="5262801" y="2754749"/>
            <a:ext cx="1909882" cy="890468"/>
          </a:xfrm>
          <a:prstGeom prst="rect">
            <a:avLst/>
          </a:prstGeom>
          <a:noFill/>
          <a:ln/>
        </p:spPr>
        <p:txBody>
          <a:bodyPr wrap="square" rtlCol="0" anchor="t"/>
          <a:lstStyle/>
          <a:p>
            <a:pPr algn="l" indent="0" marL="0">
              <a:lnSpc>
                <a:spcPts val="2338"/>
              </a:lnSpc>
              <a:buNone/>
            </a:pPr>
            <a:r>
              <a:rPr lang="en-US" sz="1870" dirty="0">
                <a:solidFill>
                  <a:srgbClr val="38512F"/>
                </a:solidFill>
                <a:latin typeface="Lora" pitchFamily="34" charset="0"/>
                <a:ea typeface="Lora" pitchFamily="34" charset="-122"/>
                <a:cs typeface="Lora" pitchFamily="34" charset="-120"/>
              </a:rPr>
              <a:t>Image Processing Techniques</a:t>
            </a:r>
            <a:endParaRPr lang="en-US" sz="1870" dirty="0"/>
          </a:p>
        </p:txBody>
      </p:sp>
      <p:sp>
        <p:nvSpPr>
          <p:cNvPr id="10" name="Text 6"/>
          <p:cNvSpPr/>
          <p:nvPr/>
        </p:nvSpPr>
        <p:spPr>
          <a:xfrm>
            <a:off x="5262801" y="3759160"/>
            <a:ext cx="1909882" cy="3951565"/>
          </a:xfrm>
          <a:prstGeom prst="rect">
            <a:avLst/>
          </a:prstGeom>
          <a:noFill/>
          <a:ln/>
        </p:spPr>
        <p:txBody>
          <a:bodyPr wrap="square" rtlCol="0" anchor="t"/>
          <a:lstStyle/>
          <a:p>
            <a:pPr algn="l" indent="0" marL="0">
              <a:lnSpc>
                <a:spcPts val="2394"/>
              </a:lnSpc>
              <a:buNone/>
            </a:pPr>
            <a:r>
              <a:rPr lang="en-US" sz="1496" dirty="0">
                <a:solidFill>
                  <a:srgbClr val="3A3630"/>
                </a:solidFill>
                <a:latin typeface="Source Sans Pro" pitchFamily="34" charset="0"/>
                <a:ea typeface="Source Sans Pro" pitchFamily="34" charset="-122"/>
                <a:cs typeface="Source Sans Pro" pitchFamily="34" charset="-120"/>
              </a:rPr>
              <a:t>Image processing techniques, including image enhancement, segmentation, and feature extraction, are crucial for extracting and analyzing relevant features from handwritten samples, enabling the characterization of stroke patterns, pressure, and size.</a:t>
            </a:r>
            <a:endParaRPr lang="en-US" sz="1496" dirty="0"/>
          </a:p>
        </p:txBody>
      </p:sp>
      <p:pic>
        <p:nvPicPr>
          <p:cNvPr id="11" name="Image 2" descr="preencoded.png">    </p:cNvPr>
          <p:cNvPicPr>
            <a:picLocks noChangeAspect="1"/>
          </p:cNvPicPr>
          <p:nvPr/>
        </p:nvPicPr>
        <p:blipFill>
          <a:blip r:embed="rId3"/>
          <a:stretch>
            <a:fillRect/>
          </a:stretch>
        </p:blipFill>
        <p:spPr>
          <a:xfrm>
            <a:off x="7457599" y="2089904"/>
            <a:ext cx="474940" cy="474940"/>
          </a:xfrm>
          <a:prstGeom prst="rect">
            <a:avLst/>
          </a:prstGeom>
        </p:spPr>
      </p:pic>
      <p:sp>
        <p:nvSpPr>
          <p:cNvPr id="12" name="Text 7"/>
          <p:cNvSpPr/>
          <p:nvPr/>
        </p:nvSpPr>
        <p:spPr>
          <a:xfrm>
            <a:off x="7457599" y="2754749"/>
            <a:ext cx="1909882" cy="593646"/>
          </a:xfrm>
          <a:prstGeom prst="rect">
            <a:avLst/>
          </a:prstGeom>
          <a:noFill/>
          <a:ln/>
        </p:spPr>
        <p:txBody>
          <a:bodyPr wrap="square" rtlCol="0" anchor="t"/>
          <a:lstStyle/>
          <a:p>
            <a:pPr algn="l" indent="0" marL="0">
              <a:lnSpc>
                <a:spcPts val="2338"/>
              </a:lnSpc>
              <a:buNone/>
            </a:pPr>
            <a:r>
              <a:rPr lang="en-US" sz="1870" dirty="0">
                <a:solidFill>
                  <a:srgbClr val="38512F"/>
                </a:solidFill>
                <a:latin typeface="Lora" pitchFamily="34" charset="0"/>
                <a:ea typeface="Lora" pitchFamily="34" charset="-122"/>
                <a:cs typeface="Lora" pitchFamily="34" charset="-120"/>
              </a:rPr>
              <a:t>Convolutional Neural Networks</a:t>
            </a:r>
            <a:endParaRPr lang="en-US" sz="1870" dirty="0"/>
          </a:p>
        </p:txBody>
      </p:sp>
      <p:sp>
        <p:nvSpPr>
          <p:cNvPr id="13" name="Text 8"/>
          <p:cNvSpPr/>
          <p:nvPr/>
        </p:nvSpPr>
        <p:spPr>
          <a:xfrm>
            <a:off x="7457599" y="3462338"/>
            <a:ext cx="1909882" cy="3647599"/>
          </a:xfrm>
          <a:prstGeom prst="rect">
            <a:avLst/>
          </a:prstGeom>
          <a:noFill/>
          <a:ln/>
        </p:spPr>
        <p:txBody>
          <a:bodyPr wrap="square" rtlCol="0" anchor="t"/>
          <a:lstStyle/>
          <a:p>
            <a:pPr algn="l" indent="0" marL="0">
              <a:lnSpc>
                <a:spcPts val="2394"/>
              </a:lnSpc>
              <a:buNone/>
            </a:pPr>
            <a:r>
              <a:rPr lang="en-US" sz="1496" dirty="0">
                <a:solidFill>
                  <a:srgbClr val="3A3630"/>
                </a:solidFill>
                <a:latin typeface="Source Sans Pro" pitchFamily="34" charset="0"/>
                <a:ea typeface="Source Sans Pro" pitchFamily="34" charset="-122"/>
                <a:cs typeface="Source Sans Pro" pitchFamily="34" charset="-120"/>
              </a:rPr>
              <a:t>Convolutional Neural Networks (CNNs) are specifically designed for image processing and recognition tasks, automatically learning hierarchical feature representations from raw input images, making them well-suited for handwriting analysis.</a:t>
            </a:r>
            <a:endParaRPr lang="en-US" sz="1496" dirty="0"/>
          </a:p>
        </p:txBody>
      </p:sp>
      <p:pic>
        <p:nvPicPr>
          <p:cNvPr id="14" name="Image 3" descr="preencoded.png">    </p:cNvPr>
          <p:cNvPicPr>
            <a:picLocks noChangeAspect="1"/>
          </p:cNvPicPr>
          <p:nvPr/>
        </p:nvPicPr>
        <p:blipFill>
          <a:blip r:embed="rId4"/>
          <a:stretch>
            <a:fillRect/>
          </a:stretch>
        </p:blipFill>
        <p:spPr>
          <a:xfrm>
            <a:off x="9652397" y="2089904"/>
            <a:ext cx="474940" cy="474940"/>
          </a:xfrm>
          <a:prstGeom prst="rect">
            <a:avLst/>
          </a:prstGeom>
        </p:spPr>
      </p:pic>
      <p:sp>
        <p:nvSpPr>
          <p:cNvPr id="15" name="Text 9"/>
          <p:cNvSpPr/>
          <p:nvPr/>
        </p:nvSpPr>
        <p:spPr>
          <a:xfrm>
            <a:off x="9652397" y="2754749"/>
            <a:ext cx="1909882" cy="593646"/>
          </a:xfrm>
          <a:prstGeom prst="rect">
            <a:avLst/>
          </a:prstGeom>
          <a:noFill/>
          <a:ln/>
        </p:spPr>
        <p:txBody>
          <a:bodyPr wrap="square" rtlCol="0" anchor="t"/>
          <a:lstStyle/>
          <a:p>
            <a:pPr algn="l" indent="0" marL="0">
              <a:lnSpc>
                <a:spcPts val="2338"/>
              </a:lnSpc>
              <a:buNone/>
            </a:pPr>
            <a:r>
              <a:rPr lang="en-US" sz="1870" dirty="0">
                <a:solidFill>
                  <a:srgbClr val="38512F"/>
                </a:solidFill>
                <a:latin typeface="Lora" pitchFamily="34" charset="0"/>
                <a:ea typeface="Lora" pitchFamily="34" charset="-122"/>
                <a:cs typeface="Lora" pitchFamily="34" charset="-120"/>
              </a:rPr>
              <a:t>Hidden Markov Models</a:t>
            </a:r>
            <a:endParaRPr lang="en-US" sz="1870" dirty="0"/>
          </a:p>
        </p:txBody>
      </p:sp>
      <p:sp>
        <p:nvSpPr>
          <p:cNvPr id="16" name="Text 10"/>
          <p:cNvSpPr/>
          <p:nvPr/>
        </p:nvSpPr>
        <p:spPr>
          <a:xfrm>
            <a:off x="9652397" y="3462338"/>
            <a:ext cx="1909882" cy="3647599"/>
          </a:xfrm>
          <a:prstGeom prst="rect">
            <a:avLst/>
          </a:prstGeom>
          <a:noFill/>
          <a:ln/>
        </p:spPr>
        <p:txBody>
          <a:bodyPr wrap="square" rtlCol="0" anchor="t"/>
          <a:lstStyle/>
          <a:p>
            <a:pPr algn="l" indent="0" marL="0">
              <a:lnSpc>
                <a:spcPts val="2394"/>
              </a:lnSpc>
              <a:buNone/>
            </a:pPr>
            <a:r>
              <a:rPr lang="en-US" sz="1496" dirty="0">
                <a:solidFill>
                  <a:srgbClr val="3A3630"/>
                </a:solidFill>
                <a:latin typeface="Source Sans Pro" pitchFamily="34" charset="0"/>
                <a:ea typeface="Source Sans Pro" pitchFamily="34" charset="-122"/>
                <a:cs typeface="Source Sans Pro" pitchFamily="34" charset="-120"/>
              </a:rPr>
              <a:t>Hidden Markov Models (HMMs) can capture the temporal patterns and transitions in handwriting data, complementing the feature extraction capabilities of CNNs to provide a comprehensive emotion recognition system.</a:t>
            </a:r>
            <a:endParaRPr lang="en-US" sz="1496" dirty="0"/>
          </a:p>
        </p:txBody>
      </p:sp>
      <p:pic>
        <p:nvPicPr>
          <p:cNvPr id="17" name="Image 4" descr="preencoded.png">
            <a:hlinkClick r:id="rId6" tooltip=""/>
          </p:cNvPr>
          <p:cNvPicPr>
            <a:picLocks noChangeAspect="1"/>
          </p:cNvPicPr>
          <p:nvPr/>
        </p:nvPicPr>
        <p:blipFill>
          <a:blip r:embed="rId5"/>
          <a:stretch>
            <a:fillRect/>
          </a:stretch>
        </p:blipFill>
        <p:spPr>
          <a:xfrm>
            <a:off x="12242153" y="7589520"/>
            <a:ext cx="2296807" cy="548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sp>
        <p:nvSpPr>
          <p:cNvPr id="4" name="Text 2"/>
          <p:cNvSpPr/>
          <p:nvPr/>
        </p:nvSpPr>
        <p:spPr>
          <a:xfrm>
            <a:off x="3356372" y="487799"/>
            <a:ext cx="7126248" cy="553403"/>
          </a:xfrm>
          <a:prstGeom prst="rect">
            <a:avLst/>
          </a:prstGeom>
          <a:noFill/>
          <a:ln/>
        </p:spPr>
        <p:txBody>
          <a:bodyPr wrap="none" rtlCol="0" anchor="t"/>
          <a:lstStyle/>
          <a:p>
            <a:pPr indent="0" marL="0">
              <a:lnSpc>
                <a:spcPts val="4358"/>
              </a:lnSpc>
              <a:buNone/>
            </a:pPr>
            <a:r>
              <a:rPr lang="en-US" sz="3486" dirty="0">
                <a:solidFill>
                  <a:srgbClr val="38512F"/>
                </a:solidFill>
                <a:latin typeface="Lora" pitchFamily="34" charset="0"/>
                <a:ea typeface="Lora" pitchFamily="34" charset="-122"/>
                <a:cs typeface="Lora" pitchFamily="34" charset="-120"/>
              </a:rPr>
              <a:t>Research Design and Methodology</a:t>
            </a:r>
            <a:endParaRPr lang="en-US" sz="3486" dirty="0"/>
          </a:p>
        </p:txBody>
      </p:sp>
      <p:pic>
        <p:nvPicPr>
          <p:cNvPr id="5" name="Image 0" descr="preencoded.png">    </p:cNvPr>
          <p:cNvPicPr>
            <a:picLocks noChangeAspect="1"/>
          </p:cNvPicPr>
          <p:nvPr/>
        </p:nvPicPr>
        <p:blipFill>
          <a:blip r:embed="rId1"/>
          <a:stretch>
            <a:fillRect/>
          </a:stretch>
        </p:blipFill>
        <p:spPr>
          <a:xfrm>
            <a:off x="3356372" y="1395293"/>
            <a:ext cx="885468" cy="1586627"/>
          </a:xfrm>
          <a:prstGeom prst="rect">
            <a:avLst/>
          </a:prstGeom>
        </p:spPr>
      </p:pic>
      <p:sp>
        <p:nvSpPr>
          <p:cNvPr id="6" name="Text 3"/>
          <p:cNvSpPr/>
          <p:nvPr/>
        </p:nvSpPr>
        <p:spPr>
          <a:xfrm>
            <a:off x="4507468" y="1572339"/>
            <a:ext cx="2213729" cy="276582"/>
          </a:xfrm>
          <a:prstGeom prst="rect">
            <a:avLst/>
          </a:prstGeom>
          <a:noFill/>
          <a:ln/>
        </p:spPr>
        <p:txBody>
          <a:bodyPr wrap="none" rtlCol="0" anchor="t"/>
          <a:lstStyle/>
          <a:p>
            <a:pPr algn="l" indent="0" marL="0">
              <a:lnSpc>
                <a:spcPts val="2179"/>
              </a:lnSpc>
              <a:buNone/>
            </a:pPr>
            <a:r>
              <a:rPr lang="en-US" sz="1743" dirty="0">
                <a:solidFill>
                  <a:srgbClr val="38512F"/>
                </a:solidFill>
                <a:latin typeface="Lora" pitchFamily="34" charset="0"/>
                <a:ea typeface="Lora" pitchFamily="34" charset="-122"/>
                <a:cs typeface="Lora" pitchFamily="34" charset="-120"/>
              </a:rPr>
              <a:t>Data Collection</a:t>
            </a:r>
            <a:endParaRPr lang="en-US" sz="1743" dirty="0"/>
          </a:p>
        </p:txBody>
      </p:sp>
      <p:sp>
        <p:nvSpPr>
          <p:cNvPr id="7" name="Text 4"/>
          <p:cNvSpPr/>
          <p:nvPr/>
        </p:nvSpPr>
        <p:spPr>
          <a:xfrm>
            <a:off x="4507468" y="1955125"/>
            <a:ext cx="6766441" cy="849749"/>
          </a:xfrm>
          <a:prstGeom prst="rect">
            <a:avLst/>
          </a:prstGeom>
          <a:noFill/>
          <a:ln/>
        </p:spPr>
        <p:txBody>
          <a:bodyPr wrap="square" rtlCol="0" anchor="t"/>
          <a:lstStyle/>
          <a:p>
            <a:pPr algn="l" indent="0" marL="0">
              <a:lnSpc>
                <a:spcPts val="2231"/>
              </a:lnSpc>
              <a:buNone/>
            </a:pPr>
            <a:r>
              <a:rPr lang="en-US" sz="1395" dirty="0">
                <a:solidFill>
                  <a:srgbClr val="3A3630"/>
                </a:solidFill>
                <a:latin typeface="Source Sans Pro" pitchFamily="34" charset="0"/>
                <a:ea typeface="Source Sans Pro" pitchFamily="34" charset="-122"/>
                <a:cs typeface="Source Sans Pro" pitchFamily="34" charset="-120"/>
              </a:rPr>
              <a:t>The study will be conducted in a controlled environment, recruiting participants within a specific age range to capture handwriting samples and assess their emotional states using a questionnaire.</a:t>
            </a:r>
            <a:endParaRPr lang="en-US" sz="1395" dirty="0"/>
          </a:p>
        </p:txBody>
      </p:sp>
      <p:pic>
        <p:nvPicPr>
          <p:cNvPr id="8" name="Image 1" descr="preencoded.png">    </p:cNvPr>
          <p:cNvPicPr>
            <a:picLocks noChangeAspect="1"/>
          </p:cNvPicPr>
          <p:nvPr/>
        </p:nvPicPr>
        <p:blipFill>
          <a:blip r:embed="rId2"/>
          <a:stretch>
            <a:fillRect/>
          </a:stretch>
        </p:blipFill>
        <p:spPr>
          <a:xfrm>
            <a:off x="3356372" y="2981920"/>
            <a:ext cx="885468" cy="1586627"/>
          </a:xfrm>
          <a:prstGeom prst="rect">
            <a:avLst/>
          </a:prstGeom>
        </p:spPr>
      </p:pic>
      <p:sp>
        <p:nvSpPr>
          <p:cNvPr id="9" name="Text 5"/>
          <p:cNvSpPr/>
          <p:nvPr/>
        </p:nvSpPr>
        <p:spPr>
          <a:xfrm>
            <a:off x="4507468" y="3158966"/>
            <a:ext cx="2213729" cy="276582"/>
          </a:xfrm>
          <a:prstGeom prst="rect">
            <a:avLst/>
          </a:prstGeom>
          <a:noFill/>
          <a:ln/>
        </p:spPr>
        <p:txBody>
          <a:bodyPr wrap="none" rtlCol="0" anchor="t"/>
          <a:lstStyle/>
          <a:p>
            <a:pPr algn="l" indent="0" marL="0">
              <a:lnSpc>
                <a:spcPts val="2179"/>
              </a:lnSpc>
              <a:buNone/>
            </a:pPr>
            <a:r>
              <a:rPr lang="en-US" sz="1743" dirty="0">
                <a:solidFill>
                  <a:srgbClr val="38512F"/>
                </a:solidFill>
                <a:latin typeface="Lora" pitchFamily="34" charset="0"/>
                <a:ea typeface="Lora" pitchFamily="34" charset="-122"/>
                <a:cs typeface="Lora" pitchFamily="34" charset="-120"/>
              </a:rPr>
              <a:t>Data Preprocessing</a:t>
            </a:r>
            <a:endParaRPr lang="en-US" sz="1743" dirty="0"/>
          </a:p>
        </p:txBody>
      </p:sp>
      <p:sp>
        <p:nvSpPr>
          <p:cNvPr id="10" name="Text 6"/>
          <p:cNvSpPr/>
          <p:nvPr/>
        </p:nvSpPr>
        <p:spPr>
          <a:xfrm>
            <a:off x="4507468" y="3541752"/>
            <a:ext cx="6766441" cy="849749"/>
          </a:xfrm>
          <a:prstGeom prst="rect">
            <a:avLst/>
          </a:prstGeom>
          <a:noFill/>
          <a:ln/>
        </p:spPr>
        <p:txBody>
          <a:bodyPr wrap="square" rtlCol="0" anchor="t"/>
          <a:lstStyle/>
          <a:p>
            <a:pPr algn="l" indent="0" marL="0">
              <a:lnSpc>
                <a:spcPts val="2231"/>
              </a:lnSpc>
              <a:buNone/>
            </a:pPr>
            <a:r>
              <a:rPr lang="en-US" sz="1395" dirty="0">
                <a:solidFill>
                  <a:srgbClr val="3A3630"/>
                </a:solidFill>
                <a:latin typeface="Source Sans Pro" pitchFamily="34" charset="0"/>
                <a:ea typeface="Source Sans Pro" pitchFamily="34" charset="-122"/>
                <a:cs typeface="Source Sans Pro" pitchFamily="34" charset="-120"/>
              </a:rPr>
              <a:t>The handwriting data will be preprocessed, including filtering out irrelevant or erroneous data points, and relevant features will be extracted, such as timing-based and ductus-based features.</a:t>
            </a:r>
            <a:endParaRPr lang="en-US" sz="1395" dirty="0"/>
          </a:p>
        </p:txBody>
      </p:sp>
      <p:pic>
        <p:nvPicPr>
          <p:cNvPr id="11" name="Image 2" descr="preencoded.png">    </p:cNvPr>
          <p:cNvPicPr>
            <a:picLocks noChangeAspect="1"/>
          </p:cNvPicPr>
          <p:nvPr/>
        </p:nvPicPr>
        <p:blipFill>
          <a:blip r:embed="rId3"/>
          <a:stretch>
            <a:fillRect/>
          </a:stretch>
        </p:blipFill>
        <p:spPr>
          <a:xfrm>
            <a:off x="3356372" y="4568547"/>
            <a:ext cx="885468" cy="1586627"/>
          </a:xfrm>
          <a:prstGeom prst="rect">
            <a:avLst/>
          </a:prstGeom>
        </p:spPr>
      </p:pic>
      <p:sp>
        <p:nvSpPr>
          <p:cNvPr id="12" name="Text 7"/>
          <p:cNvSpPr/>
          <p:nvPr/>
        </p:nvSpPr>
        <p:spPr>
          <a:xfrm>
            <a:off x="4507468" y="4745593"/>
            <a:ext cx="2213729" cy="276582"/>
          </a:xfrm>
          <a:prstGeom prst="rect">
            <a:avLst/>
          </a:prstGeom>
          <a:noFill/>
          <a:ln/>
        </p:spPr>
        <p:txBody>
          <a:bodyPr wrap="none" rtlCol="0" anchor="t"/>
          <a:lstStyle/>
          <a:p>
            <a:pPr algn="l" indent="0" marL="0">
              <a:lnSpc>
                <a:spcPts val="2179"/>
              </a:lnSpc>
              <a:buNone/>
            </a:pPr>
            <a:r>
              <a:rPr lang="en-US" sz="1743" dirty="0">
                <a:solidFill>
                  <a:srgbClr val="38512F"/>
                </a:solidFill>
                <a:latin typeface="Lora" pitchFamily="34" charset="0"/>
                <a:ea typeface="Lora" pitchFamily="34" charset="-122"/>
                <a:cs typeface="Lora" pitchFamily="34" charset="-120"/>
              </a:rPr>
              <a:t>Model Development</a:t>
            </a:r>
            <a:endParaRPr lang="en-US" sz="1743" dirty="0"/>
          </a:p>
        </p:txBody>
      </p:sp>
      <p:sp>
        <p:nvSpPr>
          <p:cNvPr id="13" name="Text 8"/>
          <p:cNvSpPr/>
          <p:nvPr/>
        </p:nvSpPr>
        <p:spPr>
          <a:xfrm>
            <a:off x="4507468" y="5128379"/>
            <a:ext cx="6766441" cy="849749"/>
          </a:xfrm>
          <a:prstGeom prst="rect">
            <a:avLst/>
          </a:prstGeom>
          <a:noFill/>
          <a:ln/>
        </p:spPr>
        <p:txBody>
          <a:bodyPr wrap="square" rtlCol="0" anchor="t"/>
          <a:lstStyle/>
          <a:p>
            <a:pPr algn="l" indent="0" marL="0">
              <a:lnSpc>
                <a:spcPts val="2231"/>
              </a:lnSpc>
              <a:buNone/>
            </a:pPr>
            <a:r>
              <a:rPr lang="en-US" sz="1395" dirty="0">
                <a:solidFill>
                  <a:srgbClr val="3A3630"/>
                </a:solidFill>
                <a:latin typeface="Source Sans Pro" pitchFamily="34" charset="0"/>
                <a:ea typeface="Source Sans Pro" pitchFamily="34" charset="-122"/>
                <a:cs typeface="Source Sans Pro" pitchFamily="34" charset="-120"/>
              </a:rPr>
              <a:t>A hybrid CNN-HMM model will be designed to classify the handwriting data into emotional state categories, leveraging the strengths of both convolutional neural networks and hidden Markov models.</a:t>
            </a:r>
            <a:endParaRPr lang="en-US" sz="1395" dirty="0"/>
          </a:p>
        </p:txBody>
      </p:sp>
      <p:pic>
        <p:nvPicPr>
          <p:cNvPr id="14" name="Image 3" descr="preencoded.png">    </p:cNvPr>
          <p:cNvPicPr>
            <a:picLocks noChangeAspect="1"/>
          </p:cNvPicPr>
          <p:nvPr/>
        </p:nvPicPr>
        <p:blipFill>
          <a:blip r:embed="rId4"/>
          <a:stretch>
            <a:fillRect/>
          </a:stretch>
        </p:blipFill>
        <p:spPr>
          <a:xfrm>
            <a:off x="3356372" y="6155174"/>
            <a:ext cx="885468" cy="1586627"/>
          </a:xfrm>
          <a:prstGeom prst="rect">
            <a:avLst/>
          </a:prstGeom>
        </p:spPr>
      </p:pic>
      <p:sp>
        <p:nvSpPr>
          <p:cNvPr id="15" name="Text 9"/>
          <p:cNvSpPr/>
          <p:nvPr/>
        </p:nvSpPr>
        <p:spPr>
          <a:xfrm>
            <a:off x="4507468" y="6332220"/>
            <a:ext cx="2213729" cy="276582"/>
          </a:xfrm>
          <a:prstGeom prst="rect">
            <a:avLst/>
          </a:prstGeom>
          <a:noFill/>
          <a:ln/>
        </p:spPr>
        <p:txBody>
          <a:bodyPr wrap="none" rtlCol="0" anchor="t"/>
          <a:lstStyle/>
          <a:p>
            <a:pPr algn="l" indent="0" marL="0">
              <a:lnSpc>
                <a:spcPts val="2179"/>
              </a:lnSpc>
              <a:buNone/>
            </a:pPr>
            <a:r>
              <a:rPr lang="en-US" sz="1743" dirty="0">
                <a:solidFill>
                  <a:srgbClr val="38512F"/>
                </a:solidFill>
                <a:latin typeface="Lora" pitchFamily="34" charset="0"/>
                <a:ea typeface="Lora" pitchFamily="34" charset="-122"/>
                <a:cs typeface="Lora" pitchFamily="34" charset="-120"/>
              </a:rPr>
              <a:t>Model Evaluation</a:t>
            </a:r>
            <a:endParaRPr lang="en-US" sz="1743" dirty="0"/>
          </a:p>
        </p:txBody>
      </p:sp>
      <p:sp>
        <p:nvSpPr>
          <p:cNvPr id="16" name="Text 10"/>
          <p:cNvSpPr/>
          <p:nvPr/>
        </p:nvSpPr>
        <p:spPr>
          <a:xfrm>
            <a:off x="4507468" y="6715006"/>
            <a:ext cx="6766441" cy="849749"/>
          </a:xfrm>
          <a:prstGeom prst="rect">
            <a:avLst/>
          </a:prstGeom>
          <a:noFill/>
          <a:ln/>
        </p:spPr>
        <p:txBody>
          <a:bodyPr wrap="square" rtlCol="0" anchor="t"/>
          <a:lstStyle/>
          <a:p>
            <a:pPr algn="l" indent="0" marL="0">
              <a:lnSpc>
                <a:spcPts val="2231"/>
              </a:lnSpc>
              <a:buNone/>
            </a:pPr>
            <a:r>
              <a:rPr lang="en-US" sz="1395" dirty="0">
                <a:solidFill>
                  <a:srgbClr val="3A3630"/>
                </a:solidFill>
                <a:latin typeface="Source Sans Pro" pitchFamily="34" charset="0"/>
                <a:ea typeface="Source Sans Pro" pitchFamily="34" charset="-122"/>
                <a:cs typeface="Source Sans Pro" pitchFamily="34" charset="-120"/>
              </a:rPr>
              <a:t>The developed system will be thoroughly tested and validated, including unit testing, cross-validation, and comparison with existing methods, to ensure the accuracy and reliability of the emotion recognition capabilities.</a:t>
            </a:r>
            <a:endParaRPr lang="en-US" sz="1395" dirty="0"/>
          </a:p>
        </p:txBody>
      </p:sp>
      <p:pic>
        <p:nvPicPr>
          <p:cNvPr id="17" name="Image 4" descr="preencoded.png">
            <a:hlinkClick r:id="rId6" tooltip=""/>
          </p:cNvPr>
          <p:cNvPicPr>
            <a:picLocks noChangeAspect="1"/>
          </p:cNvPicPr>
          <p:nvPr/>
        </p:nvPicPr>
        <p:blipFill>
          <a:blip r:embed="rId5"/>
          <a:stretch>
            <a:fillRect/>
          </a:stretch>
        </p:blipFill>
        <p:spPr>
          <a:xfrm>
            <a:off x="12242153" y="7589520"/>
            <a:ext cx="2296807" cy="548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40673"/>
          </a:xfrm>
          <a:prstGeom prst="rect">
            <a:avLst/>
          </a:prstGeom>
          <a:solidFill>
            <a:srgbClr val="FEF5E7"/>
          </a:solidFill>
          <a:ln/>
        </p:spPr>
      </p:sp>
      <p:sp>
        <p:nvSpPr>
          <p:cNvPr id="4" name="Text 2"/>
          <p:cNvSpPr/>
          <p:nvPr/>
        </p:nvSpPr>
        <p:spPr>
          <a:xfrm>
            <a:off x="3150513" y="512326"/>
            <a:ext cx="4998839" cy="582216"/>
          </a:xfrm>
          <a:prstGeom prst="rect">
            <a:avLst/>
          </a:prstGeom>
          <a:noFill/>
          <a:ln/>
        </p:spPr>
        <p:txBody>
          <a:bodyPr wrap="none" rtlCol="0" anchor="t"/>
          <a:lstStyle/>
          <a:p>
            <a:pPr indent="0" marL="0">
              <a:lnSpc>
                <a:spcPts val="4585"/>
              </a:lnSpc>
              <a:buNone/>
            </a:pPr>
            <a:r>
              <a:rPr lang="en-US" sz="3668" dirty="0">
                <a:solidFill>
                  <a:srgbClr val="38512F"/>
                </a:solidFill>
                <a:latin typeface="Lora" pitchFamily="34" charset="0"/>
                <a:ea typeface="Lora" pitchFamily="34" charset="-122"/>
                <a:cs typeface="Lora" pitchFamily="34" charset="-120"/>
              </a:rPr>
              <a:t>Fundamental Concepts</a:t>
            </a:r>
            <a:endParaRPr lang="en-US" sz="3668" dirty="0"/>
          </a:p>
        </p:txBody>
      </p:sp>
      <p:sp>
        <p:nvSpPr>
          <p:cNvPr id="5" name="Text 3"/>
          <p:cNvSpPr/>
          <p:nvPr/>
        </p:nvSpPr>
        <p:spPr>
          <a:xfrm>
            <a:off x="3336727" y="1586389"/>
            <a:ext cx="3788450" cy="298133"/>
          </a:xfrm>
          <a:prstGeom prst="rect">
            <a:avLst/>
          </a:prstGeom>
          <a:noFill/>
          <a:ln/>
        </p:spPr>
        <p:txBody>
          <a:bodyPr wrap="none" rtlCol="0" anchor="t"/>
          <a:lstStyle/>
          <a:p>
            <a:pPr indent="0" marL="0">
              <a:lnSpc>
                <a:spcPts val="2347"/>
              </a:lnSpc>
              <a:buNone/>
            </a:pPr>
            <a:r>
              <a:rPr lang="en-US" sz="1467" dirty="0">
                <a:solidFill>
                  <a:srgbClr val="3A3630"/>
                </a:solidFill>
                <a:latin typeface="Source Sans Pro" pitchFamily="34" charset="0"/>
                <a:ea typeface="Source Sans Pro" pitchFamily="34" charset="-122"/>
                <a:cs typeface="Source Sans Pro" pitchFamily="34" charset="-120"/>
              </a:rPr>
              <a:t>Emotion Recognition</a:t>
            </a:r>
            <a:endParaRPr lang="en-US" sz="1467" dirty="0"/>
          </a:p>
        </p:txBody>
      </p:sp>
      <p:sp>
        <p:nvSpPr>
          <p:cNvPr id="6" name="Text 4"/>
          <p:cNvSpPr/>
          <p:nvPr/>
        </p:nvSpPr>
        <p:spPr>
          <a:xfrm>
            <a:off x="7505224" y="1586389"/>
            <a:ext cx="3788450" cy="894398"/>
          </a:xfrm>
          <a:prstGeom prst="rect">
            <a:avLst/>
          </a:prstGeom>
          <a:noFill/>
          <a:ln/>
        </p:spPr>
        <p:txBody>
          <a:bodyPr wrap="square" rtlCol="0" anchor="t"/>
          <a:lstStyle/>
          <a:p>
            <a:pPr indent="0" marL="0">
              <a:lnSpc>
                <a:spcPts val="2347"/>
              </a:lnSpc>
              <a:buNone/>
            </a:pPr>
            <a:r>
              <a:rPr lang="en-US" sz="1467" dirty="0">
                <a:solidFill>
                  <a:srgbClr val="3A3630"/>
                </a:solidFill>
                <a:latin typeface="Source Sans Pro" pitchFamily="34" charset="0"/>
                <a:ea typeface="Source Sans Pro" pitchFamily="34" charset="-122"/>
                <a:cs typeface="Source Sans Pro" pitchFamily="34" charset="-120"/>
              </a:rPr>
              <a:t>The identification and interpretation of human emotional states through various modalities, including handwriting analysis.</a:t>
            </a:r>
            <a:endParaRPr lang="en-US" sz="1467" dirty="0"/>
          </a:p>
        </p:txBody>
      </p:sp>
      <p:sp>
        <p:nvSpPr>
          <p:cNvPr id="7" name="Shape 5"/>
          <p:cNvSpPr/>
          <p:nvPr/>
        </p:nvSpPr>
        <p:spPr>
          <a:xfrm>
            <a:off x="3150513" y="2600087"/>
            <a:ext cx="8329374" cy="1132999"/>
          </a:xfrm>
          <a:prstGeom prst="rect">
            <a:avLst/>
          </a:prstGeom>
          <a:solidFill>
            <a:srgbClr val="F6E9D5"/>
          </a:solidFill>
          <a:ln/>
        </p:spPr>
      </p:sp>
      <p:sp>
        <p:nvSpPr>
          <p:cNvPr id="8" name="Text 6"/>
          <p:cNvSpPr/>
          <p:nvPr/>
        </p:nvSpPr>
        <p:spPr>
          <a:xfrm>
            <a:off x="3336727" y="2719388"/>
            <a:ext cx="3788450" cy="298133"/>
          </a:xfrm>
          <a:prstGeom prst="rect">
            <a:avLst/>
          </a:prstGeom>
          <a:noFill/>
          <a:ln/>
        </p:spPr>
        <p:txBody>
          <a:bodyPr wrap="none" rtlCol="0" anchor="t"/>
          <a:lstStyle/>
          <a:p>
            <a:pPr indent="0" marL="0">
              <a:lnSpc>
                <a:spcPts val="2347"/>
              </a:lnSpc>
              <a:buNone/>
            </a:pPr>
            <a:r>
              <a:rPr lang="en-US" sz="1467" dirty="0">
                <a:solidFill>
                  <a:srgbClr val="3A3630"/>
                </a:solidFill>
                <a:latin typeface="Source Sans Pro" pitchFamily="34" charset="0"/>
                <a:ea typeface="Source Sans Pro" pitchFamily="34" charset="-122"/>
                <a:cs typeface="Source Sans Pro" pitchFamily="34" charset="-120"/>
              </a:rPr>
              <a:t>Graphology</a:t>
            </a:r>
            <a:endParaRPr lang="en-US" sz="1467" dirty="0"/>
          </a:p>
        </p:txBody>
      </p:sp>
      <p:sp>
        <p:nvSpPr>
          <p:cNvPr id="9" name="Text 7"/>
          <p:cNvSpPr/>
          <p:nvPr/>
        </p:nvSpPr>
        <p:spPr>
          <a:xfrm>
            <a:off x="7505224" y="2719388"/>
            <a:ext cx="3788450" cy="894398"/>
          </a:xfrm>
          <a:prstGeom prst="rect">
            <a:avLst/>
          </a:prstGeom>
          <a:noFill/>
          <a:ln/>
        </p:spPr>
        <p:txBody>
          <a:bodyPr wrap="square" rtlCol="0" anchor="t"/>
          <a:lstStyle/>
          <a:p>
            <a:pPr indent="0" marL="0">
              <a:lnSpc>
                <a:spcPts val="2347"/>
              </a:lnSpc>
              <a:buNone/>
            </a:pPr>
            <a:r>
              <a:rPr lang="en-US" sz="1467" dirty="0">
                <a:solidFill>
                  <a:srgbClr val="3A3630"/>
                </a:solidFill>
                <a:latin typeface="Source Sans Pro" pitchFamily="34" charset="0"/>
                <a:ea typeface="Source Sans Pro" pitchFamily="34" charset="-122"/>
                <a:cs typeface="Source Sans Pro" pitchFamily="34" charset="-120"/>
              </a:rPr>
              <a:t>The study of handwriting and handwriting analysis, which is an effective and reliable indicator of personality and behavior.</a:t>
            </a:r>
            <a:endParaRPr lang="en-US" sz="1467" dirty="0"/>
          </a:p>
        </p:txBody>
      </p:sp>
      <p:sp>
        <p:nvSpPr>
          <p:cNvPr id="10" name="Text 8"/>
          <p:cNvSpPr/>
          <p:nvPr/>
        </p:nvSpPr>
        <p:spPr>
          <a:xfrm>
            <a:off x="3336727" y="3852386"/>
            <a:ext cx="3788450" cy="298133"/>
          </a:xfrm>
          <a:prstGeom prst="rect">
            <a:avLst/>
          </a:prstGeom>
          <a:noFill/>
          <a:ln/>
        </p:spPr>
        <p:txBody>
          <a:bodyPr wrap="none" rtlCol="0" anchor="t"/>
          <a:lstStyle/>
          <a:p>
            <a:pPr indent="0" marL="0">
              <a:lnSpc>
                <a:spcPts val="2347"/>
              </a:lnSpc>
              <a:buNone/>
            </a:pPr>
            <a:r>
              <a:rPr lang="en-US" sz="1467" dirty="0">
                <a:solidFill>
                  <a:srgbClr val="3A3630"/>
                </a:solidFill>
                <a:latin typeface="Source Sans Pro" pitchFamily="34" charset="0"/>
                <a:ea typeface="Source Sans Pro" pitchFamily="34" charset="-122"/>
                <a:cs typeface="Source Sans Pro" pitchFamily="34" charset="-120"/>
              </a:rPr>
              <a:t>Machine Learning</a:t>
            </a:r>
            <a:endParaRPr lang="en-US" sz="1467" dirty="0"/>
          </a:p>
        </p:txBody>
      </p:sp>
      <p:sp>
        <p:nvSpPr>
          <p:cNvPr id="11" name="Text 9"/>
          <p:cNvSpPr/>
          <p:nvPr/>
        </p:nvSpPr>
        <p:spPr>
          <a:xfrm>
            <a:off x="7505224" y="3852386"/>
            <a:ext cx="3788450" cy="894398"/>
          </a:xfrm>
          <a:prstGeom prst="rect">
            <a:avLst/>
          </a:prstGeom>
          <a:noFill/>
          <a:ln/>
        </p:spPr>
        <p:txBody>
          <a:bodyPr wrap="square" rtlCol="0" anchor="t"/>
          <a:lstStyle/>
          <a:p>
            <a:pPr indent="0" marL="0">
              <a:lnSpc>
                <a:spcPts val="2347"/>
              </a:lnSpc>
              <a:buNone/>
            </a:pPr>
            <a:r>
              <a:rPr lang="en-US" sz="1467" dirty="0">
                <a:solidFill>
                  <a:srgbClr val="3A3630"/>
                </a:solidFill>
                <a:latin typeface="Source Sans Pro" pitchFamily="34" charset="0"/>
                <a:ea typeface="Source Sans Pro" pitchFamily="34" charset="-122"/>
                <a:cs typeface="Source Sans Pro" pitchFamily="34" charset="-120"/>
              </a:rPr>
              <a:t>A branch of artificial intelligence that focuses on using data and algorithms to enable systems to learn and improve their performance over time.</a:t>
            </a:r>
            <a:endParaRPr lang="en-US" sz="1467" dirty="0"/>
          </a:p>
        </p:txBody>
      </p:sp>
      <p:sp>
        <p:nvSpPr>
          <p:cNvPr id="12" name="Shape 10"/>
          <p:cNvSpPr/>
          <p:nvPr/>
        </p:nvSpPr>
        <p:spPr>
          <a:xfrm>
            <a:off x="3150513" y="4866084"/>
            <a:ext cx="8329374" cy="1431131"/>
          </a:xfrm>
          <a:prstGeom prst="rect">
            <a:avLst/>
          </a:prstGeom>
          <a:solidFill>
            <a:srgbClr val="F6E9D5"/>
          </a:solidFill>
          <a:ln/>
        </p:spPr>
      </p:sp>
      <p:sp>
        <p:nvSpPr>
          <p:cNvPr id="13" name="Text 11"/>
          <p:cNvSpPr/>
          <p:nvPr/>
        </p:nvSpPr>
        <p:spPr>
          <a:xfrm>
            <a:off x="3336727" y="4985385"/>
            <a:ext cx="3788450" cy="298133"/>
          </a:xfrm>
          <a:prstGeom prst="rect">
            <a:avLst/>
          </a:prstGeom>
          <a:noFill/>
          <a:ln/>
        </p:spPr>
        <p:txBody>
          <a:bodyPr wrap="none" rtlCol="0" anchor="t"/>
          <a:lstStyle/>
          <a:p>
            <a:pPr indent="0" marL="0">
              <a:lnSpc>
                <a:spcPts val="2347"/>
              </a:lnSpc>
              <a:buNone/>
            </a:pPr>
            <a:r>
              <a:rPr lang="en-US" sz="1467" dirty="0">
                <a:solidFill>
                  <a:srgbClr val="3A3630"/>
                </a:solidFill>
                <a:latin typeface="Source Sans Pro" pitchFamily="34" charset="0"/>
                <a:ea typeface="Source Sans Pro" pitchFamily="34" charset="-122"/>
                <a:cs typeface="Source Sans Pro" pitchFamily="34" charset="-120"/>
              </a:rPr>
              <a:t>Convolutional Neural Network</a:t>
            </a:r>
            <a:endParaRPr lang="en-US" sz="1467" dirty="0"/>
          </a:p>
        </p:txBody>
      </p:sp>
      <p:sp>
        <p:nvSpPr>
          <p:cNvPr id="14" name="Text 12"/>
          <p:cNvSpPr/>
          <p:nvPr/>
        </p:nvSpPr>
        <p:spPr>
          <a:xfrm>
            <a:off x="7505224" y="4985385"/>
            <a:ext cx="3788450" cy="1192530"/>
          </a:xfrm>
          <a:prstGeom prst="rect">
            <a:avLst/>
          </a:prstGeom>
          <a:noFill/>
          <a:ln/>
        </p:spPr>
        <p:txBody>
          <a:bodyPr wrap="square" rtlCol="0" anchor="t"/>
          <a:lstStyle/>
          <a:p>
            <a:pPr indent="0" marL="0">
              <a:lnSpc>
                <a:spcPts val="2347"/>
              </a:lnSpc>
              <a:buNone/>
            </a:pPr>
            <a:r>
              <a:rPr lang="en-US" sz="1467" dirty="0">
                <a:solidFill>
                  <a:srgbClr val="3A3630"/>
                </a:solidFill>
                <a:latin typeface="Source Sans Pro" pitchFamily="34" charset="0"/>
                <a:ea typeface="Source Sans Pro" pitchFamily="34" charset="-122"/>
                <a:cs typeface="Source Sans Pro" pitchFamily="34" charset="-120"/>
              </a:rPr>
              <a:t>A deep learning algorithm specifically designed for image processing and recognition tasks, capable of automatically learning hierarchical feature representations.</a:t>
            </a:r>
            <a:endParaRPr lang="en-US" sz="1467" dirty="0"/>
          </a:p>
        </p:txBody>
      </p:sp>
      <p:sp>
        <p:nvSpPr>
          <p:cNvPr id="15" name="Text 13"/>
          <p:cNvSpPr/>
          <p:nvPr/>
        </p:nvSpPr>
        <p:spPr>
          <a:xfrm>
            <a:off x="3336727" y="6416516"/>
            <a:ext cx="3788450" cy="298133"/>
          </a:xfrm>
          <a:prstGeom prst="rect">
            <a:avLst/>
          </a:prstGeom>
          <a:noFill/>
          <a:ln/>
        </p:spPr>
        <p:txBody>
          <a:bodyPr wrap="none" rtlCol="0" anchor="t"/>
          <a:lstStyle/>
          <a:p>
            <a:pPr indent="0" marL="0">
              <a:lnSpc>
                <a:spcPts val="2347"/>
              </a:lnSpc>
              <a:buNone/>
            </a:pPr>
            <a:r>
              <a:rPr lang="en-US" sz="1467" dirty="0">
                <a:solidFill>
                  <a:srgbClr val="3A3630"/>
                </a:solidFill>
                <a:latin typeface="Source Sans Pro" pitchFamily="34" charset="0"/>
                <a:ea typeface="Source Sans Pro" pitchFamily="34" charset="-122"/>
                <a:cs typeface="Source Sans Pro" pitchFamily="34" charset="-120"/>
              </a:rPr>
              <a:t>Hidden Markov Model</a:t>
            </a:r>
            <a:endParaRPr lang="en-US" sz="1467" dirty="0"/>
          </a:p>
        </p:txBody>
      </p:sp>
      <p:sp>
        <p:nvSpPr>
          <p:cNvPr id="16" name="Text 14"/>
          <p:cNvSpPr/>
          <p:nvPr/>
        </p:nvSpPr>
        <p:spPr>
          <a:xfrm>
            <a:off x="7505224" y="6416516"/>
            <a:ext cx="3788450" cy="1192530"/>
          </a:xfrm>
          <a:prstGeom prst="rect">
            <a:avLst/>
          </a:prstGeom>
          <a:noFill/>
          <a:ln/>
        </p:spPr>
        <p:txBody>
          <a:bodyPr wrap="square" rtlCol="0" anchor="t"/>
          <a:lstStyle/>
          <a:p>
            <a:pPr indent="0" marL="0">
              <a:lnSpc>
                <a:spcPts val="2347"/>
              </a:lnSpc>
              <a:buNone/>
            </a:pPr>
            <a:r>
              <a:rPr lang="en-US" sz="1467" dirty="0">
                <a:solidFill>
                  <a:srgbClr val="3A3630"/>
                </a:solidFill>
                <a:latin typeface="Source Sans Pro" pitchFamily="34" charset="0"/>
                <a:ea typeface="Source Sans Pro" pitchFamily="34" charset="-122"/>
                <a:cs typeface="Source Sans Pro" pitchFamily="34" charset="-120"/>
              </a:rPr>
              <a:t>A statistical model that can capture the temporal patterns and transitions in data, such as handwriting samples, to support classification tasks.</a:t>
            </a:r>
            <a:endParaRPr lang="en-US" sz="1467" dirty="0"/>
          </a:p>
        </p:txBody>
      </p:sp>
      <p:pic>
        <p:nvPicPr>
          <p:cNvPr id="17" name="Image 0" descr="preencoded.png">
            <a:hlinkClick r:id="rId2" tooltip=""/>
          </p:cNvPr>
          <p:cNvPicPr>
            <a:picLocks noChangeAspect="1"/>
          </p:cNvPicPr>
          <p:nvPr/>
        </p:nvPicPr>
        <p:blipFill>
          <a:blip r:embed="rId1"/>
          <a:stretch>
            <a:fillRect/>
          </a:stretch>
        </p:blipFill>
        <p:spPr>
          <a:xfrm>
            <a:off x="12242153" y="7589520"/>
            <a:ext cx="2296807" cy="548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p:cNvPr>
          <p:cNvPicPr>
            <a:picLocks noChangeAspect="1"/>
          </p:cNvPicPr>
          <p:nvPr/>
        </p:nvPicPr>
        <p:blipFill>
          <a:blip r:embed="rId1"/>
          <a:stretch>
            <a:fillRect/>
          </a:stretch>
        </p:blipFill>
        <p:spPr>
          <a:xfrm>
            <a:off x="-7620" y="0"/>
            <a:ext cx="3657600" cy="8229600"/>
          </a:xfrm>
          <a:prstGeom prst="rect">
            <a:avLst/>
          </a:prstGeom>
        </p:spPr>
      </p:pic>
      <p:sp>
        <p:nvSpPr>
          <p:cNvPr id="5" name="Text 2"/>
          <p:cNvSpPr/>
          <p:nvPr/>
        </p:nvSpPr>
        <p:spPr>
          <a:xfrm>
            <a:off x="4477107" y="776645"/>
            <a:ext cx="5734169" cy="682943"/>
          </a:xfrm>
          <a:prstGeom prst="rect">
            <a:avLst/>
          </a:prstGeom>
          <a:noFill/>
          <a:ln/>
        </p:spPr>
        <p:txBody>
          <a:bodyPr wrap="none" rtlCol="0" anchor="t"/>
          <a:lstStyle/>
          <a:p>
            <a:pPr indent="0" marL="0">
              <a:lnSpc>
                <a:spcPts val="5378"/>
              </a:lnSpc>
              <a:buNone/>
            </a:pPr>
            <a:r>
              <a:rPr lang="en-US" sz="4302" dirty="0">
                <a:solidFill>
                  <a:srgbClr val="38512F"/>
                </a:solidFill>
                <a:latin typeface="Lora" pitchFamily="34" charset="0"/>
                <a:ea typeface="Lora" pitchFamily="34" charset="-122"/>
                <a:cs typeface="Lora" pitchFamily="34" charset="-120"/>
              </a:rPr>
              <a:t>Ethical Considerations</a:t>
            </a:r>
            <a:endParaRPr lang="en-US" sz="4302" dirty="0"/>
          </a:p>
        </p:txBody>
      </p:sp>
      <p:pic>
        <p:nvPicPr>
          <p:cNvPr id="6" name="Image 1" descr="preencoded.png">    </p:cNvPr>
          <p:cNvPicPr>
            <a:picLocks noChangeAspect="1"/>
          </p:cNvPicPr>
          <p:nvPr/>
        </p:nvPicPr>
        <p:blipFill>
          <a:blip r:embed="rId2"/>
          <a:stretch>
            <a:fillRect/>
          </a:stretch>
        </p:blipFill>
        <p:spPr>
          <a:xfrm>
            <a:off x="4477107" y="1787366"/>
            <a:ext cx="1092756" cy="1748433"/>
          </a:xfrm>
          <a:prstGeom prst="rect">
            <a:avLst/>
          </a:prstGeom>
        </p:spPr>
      </p:pic>
      <p:sp>
        <p:nvSpPr>
          <p:cNvPr id="7" name="Text 3"/>
          <p:cNvSpPr/>
          <p:nvPr/>
        </p:nvSpPr>
        <p:spPr>
          <a:xfrm>
            <a:off x="5897642" y="2005846"/>
            <a:ext cx="2731889" cy="341471"/>
          </a:xfrm>
          <a:prstGeom prst="rect">
            <a:avLst/>
          </a:prstGeom>
          <a:noFill/>
          <a:ln/>
        </p:spPr>
        <p:txBody>
          <a:bodyPr wrap="none" rtlCol="0" anchor="t"/>
          <a:lstStyle/>
          <a:p>
            <a:pPr algn="l" indent="0" marL="0">
              <a:lnSpc>
                <a:spcPts val="2689"/>
              </a:lnSpc>
              <a:buNone/>
            </a:pPr>
            <a:r>
              <a:rPr lang="en-US" sz="2151" dirty="0">
                <a:solidFill>
                  <a:srgbClr val="38512F"/>
                </a:solidFill>
                <a:latin typeface="Lora" pitchFamily="34" charset="0"/>
                <a:ea typeface="Lora" pitchFamily="34" charset="-122"/>
                <a:cs typeface="Lora" pitchFamily="34" charset="-120"/>
              </a:rPr>
              <a:t>Data Privacy</a:t>
            </a:r>
            <a:endParaRPr lang="en-US" sz="2151" dirty="0"/>
          </a:p>
        </p:txBody>
      </p:sp>
      <p:sp>
        <p:nvSpPr>
          <p:cNvPr id="8" name="Text 4"/>
          <p:cNvSpPr/>
          <p:nvPr/>
        </p:nvSpPr>
        <p:spPr>
          <a:xfrm>
            <a:off x="5897642" y="2478405"/>
            <a:ext cx="7913251" cy="699373"/>
          </a:xfrm>
          <a:prstGeom prst="rect">
            <a:avLst/>
          </a:prstGeom>
          <a:noFill/>
          <a:ln/>
        </p:spPr>
        <p:txBody>
          <a:bodyPr wrap="square" rtlCol="0" anchor="t"/>
          <a:lstStyle/>
          <a:p>
            <a:pPr algn="l" indent="0" marL="0">
              <a:lnSpc>
                <a:spcPts val="2753"/>
              </a:lnSpc>
              <a:buNone/>
            </a:pPr>
            <a:r>
              <a:rPr lang="en-US" sz="1721" dirty="0">
                <a:solidFill>
                  <a:srgbClr val="3A3630"/>
                </a:solidFill>
                <a:latin typeface="Source Sans Pro" pitchFamily="34" charset="0"/>
                <a:ea typeface="Source Sans Pro" pitchFamily="34" charset="-122"/>
                <a:cs typeface="Source Sans Pro" pitchFamily="34" charset="-120"/>
              </a:rPr>
              <a:t>The study will implement robust measures to protect participant data and ensure their privacy, including secure data storage and anonymization techniques.</a:t>
            </a:r>
            <a:endParaRPr lang="en-US" sz="1721" dirty="0"/>
          </a:p>
        </p:txBody>
      </p:sp>
      <p:pic>
        <p:nvPicPr>
          <p:cNvPr id="9" name="Image 2" descr="preencoded.png">    </p:cNvPr>
          <p:cNvPicPr>
            <a:picLocks noChangeAspect="1"/>
          </p:cNvPicPr>
          <p:nvPr/>
        </p:nvPicPr>
        <p:blipFill>
          <a:blip r:embed="rId3"/>
          <a:stretch>
            <a:fillRect/>
          </a:stretch>
        </p:blipFill>
        <p:spPr>
          <a:xfrm>
            <a:off x="4477107" y="3535799"/>
            <a:ext cx="1092756" cy="1958578"/>
          </a:xfrm>
          <a:prstGeom prst="rect">
            <a:avLst/>
          </a:prstGeom>
        </p:spPr>
      </p:pic>
      <p:sp>
        <p:nvSpPr>
          <p:cNvPr id="10" name="Text 5"/>
          <p:cNvSpPr/>
          <p:nvPr/>
        </p:nvSpPr>
        <p:spPr>
          <a:xfrm>
            <a:off x="5897642" y="3754279"/>
            <a:ext cx="2731889" cy="341471"/>
          </a:xfrm>
          <a:prstGeom prst="rect">
            <a:avLst/>
          </a:prstGeom>
          <a:noFill/>
          <a:ln/>
        </p:spPr>
        <p:txBody>
          <a:bodyPr wrap="none" rtlCol="0" anchor="t"/>
          <a:lstStyle/>
          <a:p>
            <a:pPr algn="l" indent="0" marL="0">
              <a:lnSpc>
                <a:spcPts val="2689"/>
              </a:lnSpc>
              <a:buNone/>
            </a:pPr>
            <a:r>
              <a:rPr lang="en-US" sz="2151" dirty="0">
                <a:solidFill>
                  <a:srgbClr val="38512F"/>
                </a:solidFill>
                <a:latin typeface="Lora" pitchFamily="34" charset="0"/>
                <a:ea typeface="Lora" pitchFamily="34" charset="-122"/>
                <a:cs typeface="Lora" pitchFamily="34" charset="-120"/>
              </a:rPr>
              <a:t>Algorithmic Bias</a:t>
            </a:r>
            <a:endParaRPr lang="en-US" sz="2151" dirty="0"/>
          </a:p>
        </p:txBody>
      </p:sp>
      <p:sp>
        <p:nvSpPr>
          <p:cNvPr id="11" name="Text 6"/>
          <p:cNvSpPr/>
          <p:nvPr/>
        </p:nvSpPr>
        <p:spPr>
          <a:xfrm>
            <a:off x="5897642" y="4226838"/>
            <a:ext cx="7913251" cy="1049060"/>
          </a:xfrm>
          <a:prstGeom prst="rect">
            <a:avLst/>
          </a:prstGeom>
          <a:noFill/>
          <a:ln/>
        </p:spPr>
        <p:txBody>
          <a:bodyPr wrap="square" rtlCol="0" anchor="t"/>
          <a:lstStyle/>
          <a:p>
            <a:pPr algn="l" indent="0" marL="0">
              <a:lnSpc>
                <a:spcPts val="2753"/>
              </a:lnSpc>
              <a:buNone/>
            </a:pPr>
            <a:r>
              <a:rPr lang="en-US" sz="1721" dirty="0">
                <a:solidFill>
                  <a:srgbClr val="3A3630"/>
                </a:solidFill>
                <a:latin typeface="Source Sans Pro" pitchFamily="34" charset="0"/>
                <a:ea typeface="Source Sans Pro" pitchFamily="34" charset="-122"/>
                <a:cs typeface="Source Sans Pro" pitchFamily="34" charset="-120"/>
              </a:rPr>
              <a:t>With the help of a psychologist, will carefully examine the potential for algorithmic biases in the emotion recognition system and take steps to mitigate them, such as using diverse training data and implementing fairness-aware techniques.</a:t>
            </a:r>
            <a:endParaRPr lang="en-US" sz="1721" dirty="0"/>
          </a:p>
        </p:txBody>
      </p:sp>
      <p:pic>
        <p:nvPicPr>
          <p:cNvPr id="12" name="Image 3" descr="preencoded.png">    </p:cNvPr>
          <p:cNvPicPr>
            <a:picLocks noChangeAspect="1"/>
          </p:cNvPicPr>
          <p:nvPr/>
        </p:nvPicPr>
        <p:blipFill>
          <a:blip r:embed="rId4"/>
          <a:stretch>
            <a:fillRect/>
          </a:stretch>
        </p:blipFill>
        <p:spPr>
          <a:xfrm>
            <a:off x="4477107" y="5494377"/>
            <a:ext cx="1092756" cy="1958578"/>
          </a:xfrm>
          <a:prstGeom prst="rect">
            <a:avLst/>
          </a:prstGeom>
        </p:spPr>
      </p:pic>
      <p:sp>
        <p:nvSpPr>
          <p:cNvPr id="13" name="Text 7"/>
          <p:cNvSpPr/>
          <p:nvPr/>
        </p:nvSpPr>
        <p:spPr>
          <a:xfrm>
            <a:off x="5897642" y="5712857"/>
            <a:ext cx="3616285" cy="341471"/>
          </a:xfrm>
          <a:prstGeom prst="rect">
            <a:avLst/>
          </a:prstGeom>
          <a:noFill/>
          <a:ln/>
        </p:spPr>
        <p:txBody>
          <a:bodyPr wrap="none" rtlCol="0" anchor="t"/>
          <a:lstStyle/>
          <a:p>
            <a:pPr algn="l" indent="0" marL="0">
              <a:lnSpc>
                <a:spcPts val="2689"/>
              </a:lnSpc>
              <a:buNone/>
            </a:pPr>
            <a:r>
              <a:rPr lang="en-US" sz="2151" dirty="0">
                <a:solidFill>
                  <a:srgbClr val="38512F"/>
                </a:solidFill>
                <a:latin typeface="Lora" pitchFamily="34" charset="0"/>
                <a:ea typeface="Lora" pitchFamily="34" charset="-122"/>
                <a:cs typeface="Lora" pitchFamily="34" charset="-120"/>
              </a:rPr>
              <a:t>Responsible Implementation</a:t>
            </a:r>
            <a:endParaRPr lang="en-US" sz="2151" dirty="0"/>
          </a:p>
        </p:txBody>
      </p:sp>
      <p:sp>
        <p:nvSpPr>
          <p:cNvPr id="14" name="Text 8"/>
          <p:cNvSpPr/>
          <p:nvPr/>
        </p:nvSpPr>
        <p:spPr>
          <a:xfrm>
            <a:off x="5897642" y="6185416"/>
            <a:ext cx="7913251" cy="1049060"/>
          </a:xfrm>
          <a:prstGeom prst="rect">
            <a:avLst/>
          </a:prstGeom>
          <a:noFill/>
          <a:ln/>
        </p:spPr>
        <p:txBody>
          <a:bodyPr wrap="square" rtlCol="0" anchor="t"/>
          <a:lstStyle/>
          <a:p>
            <a:pPr algn="l" indent="0" marL="0">
              <a:lnSpc>
                <a:spcPts val="2753"/>
              </a:lnSpc>
              <a:buNone/>
            </a:pPr>
            <a:r>
              <a:rPr lang="en-US" sz="1721" dirty="0">
                <a:solidFill>
                  <a:srgbClr val="3A3630"/>
                </a:solidFill>
                <a:latin typeface="Source Sans Pro" pitchFamily="34" charset="0"/>
                <a:ea typeface="Source Sans Pro" pitchFamily="34" charset="-122"/>
                <a:cs typeface="Source Sans Pro" pitchFamily="34" charset="-120"/>
              </a:rPr>
              <a:t>The study will thoroughly investigate the potential drawbacks and risks of interpreting handwritten data as representing emotional states, and provide clear disclaimers about the limitations of the technology to avoid misunderstandings or misuse.</a:t>
            </a:r>
            <a:endParaRPr lang="en-US" sz="1721" dirty="0"/>
          </a:p>
        </p:txBody>
      </p:sp>
      <p:pic>
        <p:nvPicPr>
          <p:cNvPr id="15" name="Image 4" descr="preencoded.png">
            <a:hlinkClick r:id="rId6" tooltip=""/>
          </p:cNvPr>
          <p:cNvPicPr>
            <a:picLocks noChangeAspect="1"/>
          </p:cNvPicPr>
          <p:nvPr/>
        </p:nvPicPr>
        <p:blipFill>
          <a:blip r:embed="rId5"/>
          <a:stretch>
            <a:fillRect/>
          </a:stretch>
        </p:blipFill>
        <p:spPr>
          <a:xfrm>
            <a:off x="12242153" y="7589520"/>
            <a:ext cx="2296807" cy="548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p:cNvPr>
          <p:cNvPicPr>
            <a:picLocks noChangeAspect="1"/>
          </p:cNvPicPr>
          <p:nvPr/>
        </p:nvPicPr>
        <p:blipFill>
          <a:blip r:embed="rId1"/>
          <a:stretch>
            <a:fillRect/>
          </a:stretch>
        </p:blipFill>
        <p:spPr>
          <a:xfrm>
            <a:off x="-7620" y="0"/>
            <a:ext cx="3657600" cy="8229600"/>
          </a:xfrm>
          <a:prstGeom prst="rect">
            <a:avLst/>
          </a:prstGeom>
        </p:spPr>
      </p:pic>
      <p:sp>
        <p:nvSpPr>
          <p:cNvPr id="5" name="Text 2"/>
          <p:cNvSpPr/>
          <p:nvPr/>
        </p:nvSpPr>
        <p:spPr>
          <a:xfrm>
            <a:off x="4490799" y="627102"/>
            <a:ext cx="5554980" cy="694373"/>
          </a:xfrm>
          <a:prstGeom prst="rect">
            <a:avLst/>
          </a:prstGeom>
          <a:noFill/>
          <a:ln/>
        </p:spPr>
        <p:txBody>
          <a:bodyPr wrap="none" rtlCol="0" anchor="t"/>
          <a:lstStyle/>
          <a:p>
            <a:pPr indent="0" marL="0">
              <a:lnSpc>
                <a:spcPts val="5468"/>
              </a:lnSpc>
              <a:buNone/>
            </a:pPr>
            <a:r>
              <a:rPr lang="en-US" sz="4374" dirty="0">
                <a:solidFill>
                  <a:srgbClr val="38512F"/>
                </a:solidFill>
                <a:latin typeface="Lora" pitchFamily="34" charset="0"/>
                <a:ea typeface="Lora" pitchFamily="34" charset="-122"/>
                <a:cs typeface="Lora" pitchFamily="34" charset="-120"/>
              </a:rPr>
              <a:t>Conclusion</a:t>
            </a:r>
            <a:endParaRPr lang="en-US" sz="4374" dirty="0"/>
          </a:p>
        </p:txBody>
      </p:sp>
      <p:sp>
        <p:nvSpPr>
          <p:cNvPr id="6" name="Shape 3"/>
          <p:cNvSpPr/>
          <p:nvPr/>
        </p:nvSpPr>
        <p:spPr>
          <a:xfrm>
            <a:off x="4490799" y="1828324"/>
            <a:ext cx="499943" cy="499943"/>
          </a:xfrm>
          <a:prstGeom prst="roundRect">
            <a:avLst>
              <a:gd name="adj" fmla="val 13333"/>
            </a:avLst>
          </a:prstGeom>
          <a:solidFill>
            <a:srgbClr val="F6E9D5"/>
          </a:solidFill>
          <a:ln/>
        </p:spPr>
      </p:sp>
      <p:sp>
        <p:nvSpPr>
          <p:cNvPr id="7" name="Text 4"/>
          <p:cNvSpPr/>
          <p:nvPr/>
        </p:nvSpPr>
        <p:spPr>
          <a:xfrm>
            <a:off x="4680109" y="1869996"/>
            <a:ext cx="121325" cy="416481"/>
          </a:xfrm>
          <a:prstGeom prst="rect">
            <a:avLst/>
          </a:prstGeom>
          <a:noFill/>
          <a:ln/>
        </p:spPr>
        <p:txBody>
          <a:bodyPr wrap="none" rtlCol="0" anchor="t"/>
          <a:lstStyle/>
          <a:p>
            <a:pPr algn="ctr" indent="0" marL="0">
              <a:lnSpc>
                <a:spcPts val="3281"/>
              </a:lnSpc>
              <a:buNone/>
            </a:pPr>
            <a:r>
              <a:rPr lang="en-US" sz="2624" dirty="0">
                <a:solidFill>
                  <a:srgbClr val="38512F"/>
                </a:solidFill>
                <a:latin typeface="Lora" pitchFamily="34" charset="0"/>
                <a:ea typeface="Lora" pitchFamily="34" charset="-122"/>
                <a:cs typeface="Lora" pitchFamily="34" charset="-120"/>
              </a:rPr>
              <a:t>1</a:t>
            </a:r>
            <a:endParaRPr lang="en-US" sz="2624" dirty="0"/>
          </a:p>
        </p:txBody>
      </p:sp>
      <p:sp>
        <p:nvSpPr>
          <p:cNvPr id="8" name="Text 5"/>
          <p:cNvSpPr/>
          <p:nvPr/>
        </p:nvSpPr>
        <p:spPr>
          <a:xfrm>
            <a:off x="5212913" y="1904643"/>
            <a:ext cx="2777490" cy="347186"/>
          </a:xfrm>
          <a:prstGeom prst="rect">
            <a:avLst/>
          </a:prstGeom>
          <a:noFill/>
          <a:ln/>
        </p:spPr>
        <p:txBody>
          <a:bodyPr wrap="none" rtlCol="0" anchor="t"/>
          <a:lstStyle/>
          <a:p>
            <a:pPr indent="0" marL="0">
              <a:lnSpc>
                <a:spcPts val="2734"/>
              </a:lnSpc>
              <a:buNone/>
            </a:pPr>
            <a:r>
              <a:rPr lang="en-US" sz="2187" dirty="0">
                <a:solidFill>
                  <a:srgbClr val="38512F"/>
                </a:solidFill>
                <a:latin typeface="Lora" pitchFamily="34" charset="0"/>
                <a:ea typeface="Lora" pitchFamily="34" charset="-122"/>
                <a:cs typeface="Lora" pitchFamily="34" charset="-120"/>
              </a:rPr>
              <a:t>Innovative Approach</a:t>
            </a:r>
            <a:endParaRPr lang="en-US" sz="2187" dirty="0"/>
          </a:p>
        </p:txBody>
      </p:sp>
      <p:sp>
        <p:nvSpPr>
          <p:cNvPr id="9" name="Text 6"/>
          <p:cNvSpPr/>
          <p:nvPr/>
        </p:nvSpPr>
        <p:spPr>
          <a:xfrm>
            <a:off x="5212913" y="2385060"/>
            <a:ext cx="3820001" cy="2487811"/>
          </a:xfrm>
          <a:prstGeom prst="rect">
            <a:avLst/>
          </a:prstGeom>
          <a:noFill/>
          <a:ln/>
        </p:spPr>
        <p:txBody>
          <a:bodyPr wrap="square" rtlCol="0" anchor="t"/>
          <a:lstStyle/>
          <a:p>
            <a:pPr indent="0" marL="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This study presents an innovative approach to emotion recognition by leveraging handwriting analysis and integrating advanced image processing and machine learning techniques, including Convolutional Neural Networks and Hidden Markov Models.</a:t>
            </a:r>
            <a:endParaRPr lang="en-US" sz="1750" dirty="0"/>
          </a:p>
        </p:txBody>
      </p:sp>
      <p:sp>
        <p:nvSpPr>
          <p:cNvPr id="10" name="Shape 7"/>
          <p:cNvSpPr/>
          <p:nvPr/>
        </p:nvSpPr>
        <p:spPr>
          <a:xfrm>
            <a:off x="9255085" y="1828324"/>
            <a:ext cx="499943" cy="499943"/>
          </a:xfrm>
          <a:prstGeom prst="roundRect">
            <a:avLst>
              <a:gd name="adj" fmla="val 13333"/>
            </a:avLst>
          </a:prstGeom>
          <a:solidFill>
            <a:srgbClr val="F6E9D5"/>
          </a:solidFill>
          <a:ln/>
        </p:spPr>
      </p:sp>
      <p:sp>
        <p:nvSpPr>
          <p:cNvPr id="11" name="Text 8"/>
          <p:cNvSpPr/>
          <p:nvPr/>
        </p:nvSpPr>
        <p:spPr>
          <a:xfrm>
            <a:off x="9415463" y="1869996"/>
            <a:ext cx="179070" cy="416481"/>
          </a:xfrm>
          <a:prstGeom prst="rect">
            <a:avLst/>
          </a:prstGeom>
          <a:noFill/>
          <a:ln/>
        </p:spPr>
        <p:txBody>
          <a:bodyPr wrap="none" rtlCol="0" anchor="t"/>
          <a:lstStyle/>
          <a:p>
            <a:pPr algn="ctr" indent="0" marL="0">
              <a:lnSpc>
                <a:spcPts val="3281"/>
              </a:lnSpc>
              <a:buNone/>
            </a:pPr>
            <a:r>
              <a:rPr lang="en-US" sz="2624" dirty="0">
                <a:solidFill>
                  <a:srgbClr val="38512F"/>
                </a:solidFill>
                <a:latin typeface="Lora" pitchFamily="34" charset="0"/>
                <a:ea typeface="Lora" pitchFamily="34" charset="-122"/>
                <a:cs typeface="Lora" pitchFamily="34" charset="-120"/>
              </a:rPr>
              <a:t>2</a:t>
            </a:r>
            <a:endParaRPr lang="en-US" sz="2624" dirty="0"/>
          </a:p>
        </p:txBody>
      </p:sp>
      <p:sp>
        <p:nvSpPr>
          <p:cNvPr id="12" name="Text 9"/>
          <p:cNvSpPr/>
          <p:nvPr/>
        </p:nvSpPr>
        <p:spPr>
          <a:xfrm>
            <a:off x="9977199" y="1904643"/>
            <a:ext cx="2777490" cy="347186"/>
          </a:xfrm>
          <a:prstGeom prst="rect">
            <a:avLst/>
          </a:prstGeom>
          <a:noFill/>
          <a:ln/>
        </p:spPr>
        <p:txBody>
          <a:bodyPr wrap="none" rtlCol="0" anchor="t"/>
          <a:lstStyle/>
          <a:p>
            <a:pPr indent="0" marL="0">
              <a:lnSpc>
                <a:spcPts val="2734"/>
              </a:lnSpc>
              <a:buNone/>
            </a:pPr>
            <a:r>
              <a:rPr lang="en-US" sz="2187" dirty="0">
                <a:solidFill>
                  <a:srgbClr val="38512F"/>
                </a:solidFill>
                <a:latin typeface="Lora" pitchFamily="34" charset="0"/>
                <a:ea typeface="Lora" pitchFamily="34" charset="-122"/>
                <a:cs typeface="Lora" pitchFamily="34" charset="-120"/>
              </a:rPr>
              <a:t>Potential Impact</a:t>
            </a:r>
            <a:endParaRPr lang="en-US" sz="2187" dirty="0"/>
          </a:p>
        </p:txBody>
      </p:sp>
      <p:sp>
        <p:nvSpPr>
          <p:cNvPr id="13" name="Text 10"/>
          <p:cNvSpPr/>
          <p:nvPr/>
        </p:nvSpPr>
        <p:spPr>
          <a:xfrm>
            <a:off x="9977199" y="2385060"/>
            <a:ext cx="3820001" cy="3198614"/>
          </a:xfrm>
          <a:prstGeom prst="rect">
            <a:avLst/>
          </a:prstGeom>
          <a:noFill/>
          <a:ln/>
        </p:spPr>
        <p:txBody>
          <a:bodyPr wrap="square" rtlCol="0" anchor="t"/>
          <a:lstStyle/>
          <a:p>
            <a:pPr indent="0" marL="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The outcomes of this research could have significant implications for fields such as human-computer interaction, emotional intelligence, psychology, education, and healthcare, by providing a novel emotion recognition system and expanding our understanding of the connection between handwriting and emotions.</a:t>
            </a:r>
            <a:endParaRPr lang="en-US" sz="1750" dirty="0"/>
          </a:p>
        </p:txBody>
      </p:sp>
      <p:sp>
        <p:nvSpPr>
          <p:cNvPr id="14" name="Shape 11"/>
          <p:cNvSpPr/>
          <p:nvPr/>
        </p:nvSpPr>
        <p:spPr>
          <a:xfrm>
            <a:off x="4490799" y="5979438"/>
            <a:ext cx="499943" cy="499943"/>
          </a:xfrm>
          <a:prstGeom prst="roundRect">
            <a:avLst>
              <a:gd name="adj" fmla="val 13333"/>
            </a:avLst>
          </a:prstGeom>
          <a:solidFill>
            <a:srgbClr val="F6E9D5"/>
          </a:solidFill>
          <a:ln/>
        </p:spPr>
      </p:sp>
      <p:sp>
        <p:nvSpPr>
          <p:cNvPr id="15" name="Text 12"/>
          <p:cNvSpPr/>
          <p:nvPr/>
        </p:nvSpPr>
        <p:spPr>
          <a:xfrm>
            <a:off x="4647843" y="6021110"/>
            <a:ext cx="185738" cy="416481"/>
          </a:xfrm>
          <a:prstGeom prst="rect">
            <a:avLst/>
          </a:prstGeom>
          <a:noFill/>
          <a:ln/>
        </p:spPr>
        <p:txBody>
          <a:bodyPr wrap="none" rtlCol="0" anchor="t"/>
          <a:lstStyle/>
          <a:p>
            <a:pPr algn="ctr" indent="0" marL="0">
              <a:lnSpc>
                <a:spcPts val="3281"/>
              </a:lnSpc>
              <a:buNone/>
            </a:pPr>
            <a:r>
              <a:rPr lang="en-US" sz="2624" dirty="0">
                <a:solidFill>
                  <a:srgbClr val="38512F"/>
                </a:solidFill>
                <a:latin typeface="Lora" pitchFamily="34" charset="0"/>
                <a:ea typeface="Lora" pitchFamily="34" charset="-122"/>
                <a:cs typeface="Lora" pitchFamily="34" charset="-120"/>
              </a:rPr>
              <a:t>3</a:t>
            </a:r>
            <a:endParaRPr lang="en-US" sz="2624" dirty="0"/>
          </a:p>
        </p:txBody>
      </p:sp>
      <p:sp>
        <p:nvSpPr>
          <p:cNvPr id="16" name="Text 13"/>
          <p:cNvSpPr/>
          <p:nvPr/>
        </p:nvSpPr>
        <p:spPr>
          <a:xfrm>
            <a:off x="5212913" y="6055757"/>
            <a:ext cx="2914531" cy="347186"/>
          </a:xfrm>
          <a:prstGeom prst="rect">
            <a:avLst/>
          </a:prstGeom>
          <a:noFill/>
          <a:ln/>
        </p:spPr>
        <p:txBody>
          <a:bodyPr wrap="none" rtlCol="0" anchor="t"/>
          <a:lstStyle/>
          <a:p>
            <a:pPr indent="0" marL="0">
              <a:lnSpc>
                <a:spcPts val="2734"/>
              </a:lnSpc>
              <a:buNone/>
            </a:pPr>
            <a:r>
              <a:rPr lang="en-US" sz="2187" dirty="0">
                <a:solidFill>
                  <a:srgbClr val="38512F"/>
                </a:solidFill>
                <a:latin typeface="Lora" pitchFamily="34" charset="0"/>
                <a:ea typeface="Lora" pitchFamily="34" charset="-122"/>
                <a:cs typeface="Lora" pitchFamily="34" charset="-120"/>
              </a:rPr>
              <a:t>Ethical Considerations</a:t>
            </a:r>
            <a:endParaRPr lang="en-US" sz="2187" dirty="0"/>
          </a:p>
        </p:txBody>
      </p:sp>
      <p:sp>
        <p:nvSpPr>
          <p:cNvPr id="17" name="Text 14"/>
          <p:cNvSpPr/>
          <p:nvPr/>
        </p:nvSpPr>
        <p:spPr>
          <a:xfrm>
            <a:off x="5212913" y="6536174"/>
            <a:ext cx="8584287" cy="1066205"/>
          </a:xfrm>
          <a:prstGeom prst="rect">
            <a:avLst/>
          </a:prstGeom>
          <a:noFill/>
          <a:ln/>
        </p:spPr>
        <p:txBody>
          <a:bodyPr wrap="square" rtlCol="0" anchor="t"/>
          <a:lstStyle/>
          <a:p>
            <a:pPr indent="0" marL="0">
              <a:lnSpc>
                <a:spcPts val="2799"/>
              </a:lnSpc>
              <a:buNone/>
            </a:pPr>
            <a:r>
              <a:rPr lang="en-US" sz="1750" dirty="0">
                <a:solidFill>
                  <a:srgbClr val="3A3630"/>
                </a:solidFill>
                <a:latin typeface="Source Sans Pro" pitchFamily="34" charset="0"/>
                <a:ea typeface="Source Sans Pro" pitchFamily="34" charset="-122"/>
                <a:cs typeface="Source Sans Pro" pitchFamily="34" charset="-120"/>
              </a:rPr>
              <a:t>The study will carefully address ethical concerns, including data privacy, algorithmic biases, and responsible implementation, to ensure the technology is developed and used in a transparent and trustworthy manner, promoting its ethical and beneficial application.</a:t>
            </a:r>
            <a:endParaRPr lang="en-US" sz="1750" dirty="0"/>
          </a:p>
        </p:txBody>
      </p:sp>
      <p:pic>
        <p:nvPicPr>
          <p:cNvPr id="18" name="Image 1" descr="preencoded.png">
            <a:hlinkClick r:id="rId3" tooltip=""/>
          </p:cNvPr>
          <p:cNvPicPr>
            <a:picLocks noChangeAspect="1"/>
          </p:cNvPicPr>
          <p:nvPr/>
        </p:nvPicPr>
        <p:blipFill>
          <a:blip r:embed="rId2"/>
          <a:stretch>
            <a:fillRect/>
          </a:stretch>
        </p:blipFill>
        <p:spPr>
          <a:xfrm>
            <a:off x="12242153" y="7589520"/>
            <a:ext cx="2296807" cy="548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2024-05-18T19:20:06Z</dcterms:created>
  <dcterms:modified xsi:type="dcterms:W3CDTF">2024-05-18T19:20:06Z</dcterms:modified>
</cp:coreProperties>
</file>